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9" r:id="rId26"/>
    <p:sldId id="29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>
        <p:guide orient="horz" pos="2137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02  Contents /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Navigation / chapter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840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2272B"/>
                </a:solidFill>
                <a:latin typeface="Arial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Short message or section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2588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2272B"/>
                </a:solidFill>
                <a:latin typeface="Arial"/>
              </a:rPr>
              <a:t>01  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78308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22272B"/>
                </a:solidFill>
                <a:latin typeface="Arial"/>
              </a:rPr>
              <a:t>02 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74320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324612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2272B"/>
                </a:solidFill>
                <a:latin typeface="Arial"/>
              </a:rPr>
              <a:t>03  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370332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420624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22272B"/>
                </a:solidFill>
                <a:latin typeface="Arial"/>
              </a:rPr>
              <a:t>04  Product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663440"/>
            <a:ext cx="5212080" cy="13716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03  Hero / Key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Single idea + strong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669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22272B"/>
                </a:solidFill>
                <a:latin typeface="Arial"/>
              </a:rPr>
              <a:t>ONE STRONG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5233"/>
            <a:ext cx="512064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697178"/>
                </a:solidFill>
                <a:latin typeface="Arial"/>
              </a:rPr>
              <a:t>A short supporting statement that frames the business, technology, or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45082"/>
            <a:ext cx="4892040" cy="44805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390802"/>
            <a:ext cx="480060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HERO VISUAL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12064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4663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605E"/>
                </a:solidFill>
                <a:latin typeface="Arial"/>
              </a:rPr>
              <a:t>KEY TAKEAWAY / PROOF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60"/>
            <a:ext cx="4663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Optional supporting number or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03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66E7286A-0321-4455-A867-4106EB336781}"/>
              </a:ext>
            </a:extLst>
          </p:cNvPr>
          <p:cNvSpPr/>
          <p:nvPr/>
        </p:nvSpPr>
        <p:spPr>
          <a:xfrm>
            <a:off x="731520" y="2697481"/>
            <a:ext cx="5120640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FD7249-FEC4-CC09-B887-133E6D5756B1}"/>
              </a:ext>
            </a:extLst>
          </p:cNvPr>
          <p:cNvSpPr txBox="1"/>
          <p:nvPr/>
        </p:nvSpPr>
        <p:spPr>
          <a:xfrm>
            <a:off x="960120" y="2926081"/>
            <a:ext cx="4663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605E"/>
                </a:solidFill>
                <a:latin typeface="Arial"/>
              </a:rPr>
              <a:t>KEY TAKEAWAY / PROOF POINT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66CE08-DD7B-178F-86A6-0E4BC15E7161}"/>
              </a:ext>
            </a:extLst>
          </p:cNvPr>
          <p:cNvSpPr txBox="1"/>
          <p:nvPr/>
        </p:nvSpPr>
        <p:spPr>
          <a:xfrm>
            <a:off x="960120" y="3337561"/>
            <a:ext cx="4663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Optional supporting number or sentence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8">
            <a:extLst>
              <a:ext uri="{FF2B5EF4-FFF2-40B4-BE49-F238E27FC236}">
                <a16:creationId xmlns:a16="http://schemas.microsoft.com/office/drawing/2014/main" id="{1DE26B01-93BA-8155-A677-C1B6CF0B2A23}"/>
              </a:ext>
            </a:extLst>
          </p:cNvPr>
          <p:cNvSpPr/>
          <p:nvPr/>
        </p:nvSpPr>
        <p:spPr>
          <a:xfrm>
            <a:off x="761999" y="4855463"/>
            <a:ext cx="10698481" cy="13258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04 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Headline + 3–4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07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22272B"/>
                </a:solidFill>
                <a:latin typeface="Arial"/>
              </a:rPr>
              <a:t>CORE PERFORMANCE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1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057400"/>
            <a:ext cx="2423160" cy="2331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23317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KPI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43200"/>
            <a:ext cx="2103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2D605E"/>
                </a:solidFill>
                <a:latin typeface="Arial"/>
              </a:rPr>
              <a:t>00.0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401568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Unit /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822191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10515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Supporting note / source / 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05  Category /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3–4 equal business or product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89738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4310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4330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62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09778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14350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89738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39" y="194310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4330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40462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509778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514350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738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194310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4330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462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09778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514350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1897380"/>
            <a:ext cx="242316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1943100"/>
            <a:ext cx="233172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ICON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3543300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CATEGORY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404622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Key items
or short description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39" y="5097780"/>
            <a:ext cx="1600200" cy="43891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39" y="514350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KEY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06  Image +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Facility / product / technology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6490252" cy="4846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473380"/>
            <a:ext cx="5715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LARGE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2588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22272B"/>
                </a:solidFill>
                <a:latin typeface="Arial"/>
              </a:rPr>
              <a:t>CONTENT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74519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Short introduction / core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6517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615184"/>
            <a:ext cx="3703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Feature / fact /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520439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483863"/>
            <a:ext cx="3703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72B"/>
                </a:solidFill>
                <a:latin typeface="Arial"/>
              </a:rPr>
              <a:t>Feature / fact /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38912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352544"/>
            <a:ext cx="3703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2272B"/>
                </a:solidFill>
                <a:latin typeface="Arial"/>
              </a:rPr>
              <a:t>Feature / fact /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07  Market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Market evidence + issue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89092"/>
            <a:ext cx="5120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MARKET / INDUSTRY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74892"/>
            <a:ext cx="5486400" cy="35661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20611"/>
            <a:ext cx="5394960" cy="3474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MARKET CHART / SIZE / 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71972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WHY THIS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212052"/>
            <a:ext cx="438912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9712" y="2330923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ISSUE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285204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Problem / growth driver / unmet need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3263612"/>
            <a:ext cx="438912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9712" y="3382483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ISSUE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36764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Problem / growth driver / unmet need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4315171"/>
            <a:ext cx="438912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4434044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ISSUE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388323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Problem / growth driver / unmet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32492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Source / market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08  Problem →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Pain points directly mapped to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2272B"/>
                </a:solidFill>
                <a:latin typeface="Arial"/>
              </a:rPr>
              <a:t>CURRENT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23444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2D605E"/>
                </a:solidFill>
                <a:latin typeface="Arial"/>
              </a:rPr>
              <a:t>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452628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3055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Problem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103120"/>
            <a:ext cx="685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965960"/>
            <a:ext cx="45262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13055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Solution / Benefit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63239"/>
            <a:ext cx="452628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Problem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200399"/>
            <a:ext cx="685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063239"/>
            <a:ext cx="45262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322783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Solution / Benefit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60520"/>
            <a:ext cx="4526280" cy="7315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32511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Problem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297680"/>
            <a:ext cx="685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160520"/>
            <a:ext cx="4526280" cy="7315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4325112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605E"/>
                </a:solidFill>
                <a:latin typeface="Arial"/>
              </a:rPr>
              <a:t>Solution / Benefit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486400"/>
            <a:ext cx="557784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5532120"/>
            <a:ext cx="5577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RESULT: Digitalization / Performance / Cost / Size /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09  Technology /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Mechanism / architecture / operating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36192"/>
            <a:ext cx="6675120" cy="44805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658368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TECHNOLOGY DIAGRAM /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673352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313432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276856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06324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3026664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813048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3776472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562856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526280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Mechanism / component / technical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5468112"/>
            <a:ext cx="347472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5568696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CORE TECHNICAL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10 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Company vs competitor / existing vs new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2272B"/>
                </a:solidFill>
                <a:latin typeface="Arial"/>
              </a:rPr>
              <a:t>COMPARISON TOPIC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983480" cy="4069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83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2272B"/>
                </a:solidFill>
                <a:latin typeface="Arial"/>
              </a:rPr>
              <a:t>EXISTING / COMPETITOR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514600"/>
            <a:ext cx="425196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416052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PRINCIPLE /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 dirty="0">
                <a:solidFill>
                  <a:srgbClr val="22272B"/>
                </a:solidFill>
                <a:latin typeface="Arial"/>
              </a:rPr>
              <a:t>• Comparison criterion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177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749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4983480" cy="4069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83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D605E"/>
                </a:solidFill>
                <a:latin typeface="Arial"/>
              </a:rPr>
              <a:t>OUR PRODUCT / TECHNOLOGY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14600"/>
            <a:ext cx="425196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2560320"/>
            <a:ext cx="416052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IMAGE / PRINCIPLE /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1605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• Comparison criterion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6177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07492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• Comparison criterion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11  Product /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Portfolio +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886200" cy="4526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794760" cy="4434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MAIN PRODUCT /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2272B"/>
                </a:solidFill>
                <a:latin typeface="Arial"/>
              </a:rPr>
              <a:t>PRODUCT /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41732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8346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20040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65760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70332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07492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44068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657600"/>
            <a:ext cx="2834640" cy="12344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703320"/>
            <a:ext cx="2743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APPLICATION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2272B"/>
                </a:solidFill>
                <a:latin typeface="Arial"/>
              </a:rPr>
              <a:t>USE CASE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44068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7178"/>
                </a:solidFill>
                <a:latin typeface="Arial"/>
              </a:rPr>
              <a:t>Industry / customer /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12  Process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Flow / components / system linkage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SYSTEM / PROCESS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2123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23160" y="2120451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3723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19483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782123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827842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dirty="0">
                <a:solidFill>
                  <a:srgbClr val="697178"/>
                </a:solidFill>
                <a:latin typeface="Arial"/>
              </a:rPr>
              <a:t>COMPONENT
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20451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53723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519483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782123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827842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120451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153723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519483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1782123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1827842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20451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605E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153723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519483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782123"/>
            <a:ext cx="169164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0" y="1827842"/>
            <a:ext cx="16002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COMPONENT
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153723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2272B"/>
                </a:solidFill>
                <a:latin typeface="Arial"/>
              </a:rPr>
              <a:t>Function /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519483"/>
            <a:ext cx="1691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351A0A-0403-CBD1-6FC5-7D762080EA4F}"/>
              </a:ext>
            </a:extLst>
          </p:cNvPr>
          <p:cNvSpPr txBox="1"/>
          <p:nvPr/>
        </p:nvSpPr>
        <p:spPr>
          <a:xfrm>
            <a:off x="716280" y="2192263"/>
            <a:ext cx="16154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AC7007B-0A7A-C166-BEB6-36D1CF7F44CE}"/>
              </a:ext>
            </a:extLst>
          </p:cNvPr>
          <p:cNvGrpSpPr/>
          <p:nvPr/>
        </p:nvGrpSpPr>
        <p:grpSpPr>
          <a:xfrm>
            <a:off x="560567" y="4194726"/>
            <a:ext cx="3576326" cy="402196"/>
            <a:chOff x="396240" y="1363244"/>
            <a:chExt cx="4433654" cy="513708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6926BFE-078D-4A10-53CE-F76D518BA93E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36" name="사각형: 둥근 모서리 41">
                <a:extLst>
                  <a:ext uri="{FF2B5EF4-FFF2-40B4-BE49-F238E27FC236}">
                    <a16:creationId xmlns:a16="http://schemas.microsoft.com/office/drawing/2014/main" id="{68370201-819D-A077-191D-98B54DA0E539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39" name="직사각형">
                  <a:extLst>
                    <a:ext uri="{FF2B5EF4-FFF2-40B4-BE49-F238E27FC236}">
                      <a16:creationId xmlns:a16="http://schemas.microsoft.com/office/drawing/2014/main" id="{9461AF9C-4180-F919-7695-1F7C725AFF1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40" name="2023년 글로벌 전기차 1406.1만대 판매…">
                  <a:extLst>
                    <a:ext uri="{FF2B5EF4-FFF2-40B4-BE49-F238E27FC236}">
                      <a16:creationId xmlns:a16="http://schemas.microsoft.com/office/drawing/2014/main" id="{88C01131-7ED3-1CF0-49CB-D50717FF5441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37" name="직선 연결선 43">
                <a:extLst>
                  <a:ext uri="{FF2B5EF4-FFF2-40B4-BE49-F238E27FC236}">
                    <a16:creationId xmlns:a16="http://schemas.microsoft.com/office/drawing/2014/main" id="{C33502CC-DCDF-ECD1-3BB0-A496EFCE83F1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38" name="직선 연결선 44">
                <a:extLst>
                  <a:ext uri="{FF2B5EF4-FFF2-40B4-BE49-F238E27FC236}">
                    <a16:creationId xmlns:a16="http://schemas.microsoft.com/office/drawing/2014/main" id="{1B0AD6C4-D770-F0F8-4BBC-09052CE254AF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35" name="양극재 배터리 수요">
              <a:extLst>
                <a:ext uri="{FF2B5EF4-FFF2-40B4-BE49-F238E27FC236}">
                  <a16:creationId xmlns:a16="http://schemas.microsoft.com/office/drawing/2014/main" id="{79523EFF-EF02-D98E-40D6-1A9C37311658}"/>
                </a:ext>
              </a:extLst>
            </p:cNvPr>
            <p:cNvSpPr txBox="1"/>
            <p:nvPr/>
          </p:nvSpPr>
          <p:spPr>
            <a:xfrm>
              <a:off x="517210" y="1363244"/>
              <a:ext cx="4191712" cy="51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2000" dirty="0"/>
                <a:t>contents</a:t>
              </a:r>
              <a:endParaRPr lang="ko-KR" altLang="en-US" sz="20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43676D8-19F5-13F6-87AB-7755FF72D4A1}"/>
              </a:ext>
            </a:extLst>
          </p:cNvPr>
          <p:cNvSpPr txBox="1"/>
          <p:nvPr/>
        </p:nvSpPr>
        <p:spPr>
          <a:xfrm>
            <a:off x="907904" y="4837807"/>
            <a:ext cx="2881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Contents</a:t>
            </a:r>
          </a:p>
          <a:p>
            <a:pPr algn="ctr"/>
            <a:r>
              <a:rPr lang="en-US" altLang="ko-KR" dirty="0"/>
              <a:t>contents</a:t>
            </a:r>
            <a:endParaRPr lang="ko-KR" altLang="en-US" dirty="0"/>
          </a:p>
          <a:p>
            <a:pPr algn="ctr"/>
            <a:r>
              <a:rPr lang="en-US" altLang="ko-KR" dirty="0"/>
              <a:t>contents</a:t>
            </a:r>
            <a:endParaRPr lang="ko-KR" altLang="en-US" dirty="0"/>
          </a:p>
          <a:p>
            <a:pPr algn="ctr"/>
            <a:r>
              <a:rPr lang="en-US" altLang="ko-KR" dirty="0"/>
              <a:t>contents</a:t>
            </a:r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2200B90-1CE8-2CFD-14E8-EE0DF17B3A1E}"/>
              </a:ext>
            </a:extLst>
          </p:cNvPr>
          <p:cNvGrpSpPr/>
          <p:nvPr/>
        </p:nvGrpSpPr>
        <p:grpSpPr>
          <a:xfrm>
            <a:off x="4204850" y="4198068"/>
            <a:ext cx="3576326" cy="402196"/>
            <a:chOff x="396240" y="1363244"/>
            <a:chExt cx="4433654" cy="513708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67A46772-D833-710B-BF5F-91D245BE1446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45" name="사각형: 둥근 모서리 41">
                <a:extLst>
                  <a:ext uri="{FF2B5EF4-FFF2-40B4-BE49-F238E27FC236}">
                    <a16:creationId xmlns:a16="http://schemas.microsoft.com/office/drawing/2014/main" id="{DE299C23-658F-7D51-A5E1-0F783EE46CCF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48" name="직사각형">
                  <a:extLst>
                    <a:ext uri="{FF2B5EF4-FFF2-40B4-BE49-F238E27FC236}">
                      <a16:creationId xmlns:a16="http://schemas.microsoft.com/office/drawing/2014/main" id="{E8F714AA-0957-2BC0-77DC-36C5031E4AB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49" name="2023년 글로벌 전기차 1406.1만대 판매…">
                  <a:extLst>
                    <a:ext uri="{FF2B5EF4-FFF2-40B4-BE49-F238E27FC236}">
                      <a16:creationId xmlns:a16="http://schemas.microsoft.com/office/drawing/2014/main" id="{72752D39-AADF-B7AF-59FB-97E458E9E3D3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46" name="직선 연결선 43">
                <a:extLst>
                  <a:ext uri="{FF2B5EF4-FFF2-40B4-BE49-F238E27FC236}">
                    <a16:creationId xmlns:a16="http://schemas.microsoft.com/office/drawing/2014/main" id="{E5BAA032-3339-E27F-3D8F-217B625D80FC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47" name="직선 연결선 44">
                <a:extLst>
                  <a:ext uri="{FF2B5EF4-FFF2-40B4-BE49-F238E27FC236}">
                    <a16:creationId xmlns:a16="http://schemas.microsoft.com/office/drawing/2014/main" id="{D3236B6E-4071-F018-CB21-04BF32C922A0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44" name="양극재 배터리 수요">
              <a:extLst>
                <a:ext uri="{FF2B5EF4-FFF2-40B4-BE49-F238E27FC236}">
                  <a16:creationId xmlns:a16="http://schemas.microsoft.com/office/drawing/2014/main" id="{26F2FDC4-F8CA-1EA9-08FA-99DA978F52ED}"/>
                </a:ext>
              </a:extLst>
            </p:cNvPr>
            <p:cNvSpPr txBox="1"/>
            <p:nvPr/>
          </p:nvSpPr>
          <p:spPr>
            <a:xfrm>
              <a:off x="517210" y="1363244"/>
              <a:ext cx="4191712" cy="51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2000" dirty="0"/>
                <a:t>contents</a:t>
              </a:r>
              <a:endParaRPr lang="ko-KR" altLang="en-US" sz="2000" dirty="0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20D332C9-3287-9B07-1021-DBD8EA7A1BFF}"/>
              </a:ext>
            </a:extLst>
          </p:cNvPr>
          <p:cNvSpPr txBox="1"/>
          <p:nvPr/>
        </p:nvSpPr>
        <p:spPr>
          <a:xfrm>
            <a:off x="4552187" y="4841149"/>
            <a:ext cx="2881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Contents</a:t>
            </a:r>
          </a:p>
          <a:p>
            <a:pPr algn="ctr"/>
            <a:r>
              <a:rPr lang="en-US" altLang="ko-KR" dirty="0"/>
              <a:t>contents</a:t>
            </a:r>
            <a:endParaRPr lang="ko-KR" altLang="en-US" dirty="0"/>
          </a:p>
          <a:p>
            <a:pPr algn="ctr"/>
            <a:r>
              <a:rPr lang="en-US" altLang="ko-KR" dirty="0"/>
              <a:t>contents</a:t>
            </a:r>
            <a:endParaRPr lang="ko-KR" altLang="en-US" dirty="0"/>
          </a:p>
          <a:p>
            <a:pPr algn="ctr"/>
            <a:r>
              <a:rPr lang="en-US" altLang="ko-KR" dirty="0"/>
              <a:t>contents</a:t>
            </a:r>
            <a:endParaRPr lang="ko-KR" altLang="en-US" dirty="0"/>
          </a:p>
        </p:txBody>
      </p:sp>
      <p:grpSp>
        <p:nvGrpSpPr>
          <p:cNvPr id="60" name="그룹 43">
            <a:extLst>
              <a:ext uri="{FF2B5EF4-FFF2-40B4-BE49-F238E27FC236}">
                <a16:creationId xmlns:a16="http://schemas.microsoft.com/office/drawing/2014/main" id="{369E584E-1044-A483-606C-2E1FE68C5E04}"/>
              </a:ext>
            </a:extLst>
          </p:cNvPr>
          <p:cNvGrpSpPr/>
          <p:nvPr/>
        </p:nvGrpSpPr>
        <p:grpSpPr>
          <a:xfrm>
            <a:off x="7900060" y="5016407"/>
            <a:ext cx="979119" cy="843127"/>
            <a:chOff x="-546276" y="341002"/>
            <a:chExt cx="729712" cy="726108"/>
          </a:xfrm>
        </p:grpSpPr>
        <p:pic>
          <p:nvPicPr>
            <p:cNvPr id="61" name="그래픽 38" descr="그래픽 38">
              <a:extLst>
                <a:ext uri="{FF2B5EF4-FFF2-40B4-BE49-F238E27FC236}">
                  <a16:creationId xmlns:a16="http://schemas.microsoft.com/office/drawing/2014/main" id="{10E16FFC-AA66-3878-191C-0AA5509B6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25210" y="341002"/>
              <a:ext cx="508646" cy="726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" name="그래픽 39" descr="그래픽 39">
              <a:extLst>
                <a:ext uri="{FF2B5EF4-FFF2-40B4-BE49-F238E27FC236}">
                  <a16:creationId xmlns:a16="http://schemas.microsoft.com/office/drawing/2014/main" id="{D2F10F2A-A1B3-86A1-8A21-E1E3E5A78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46276" y="388474"/>
              <a:ext cx="442134" cy="6311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13ABDA6-FE4D-EAF0-CD92-80ED3E2C9FD8}"/>
              </a:ext>
            </a:extLst>
          </p:cNvPr>
          <p:cNvSpPr txBox="1"/>
          <p:nvPr/>
        </p:nvSpPr>
        <p:spPr>
          <a:xfrm>
            <a:off x="9281160" y="5115061"/>
            <a:ext cx="25929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contents</a:t>
            </a:r>
            <a:r>
              <a:rPr lang="ko-KR" altLang="en-US" sz="28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 </a:t>
            </a:r>
            <a:endParaRPr lang="en-US" altLang="ko-KR" sz="2800" dirty="0">
              <a:solidFill>
                <a:srgbClr val="03444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retendard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13  Validation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Test condition → evidence →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TEST / VALIDATION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2834640" cy="36118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72B"/>
                </a:solidFill>
                <a:latin typeface="Arial"/>
              </a:rPr>
              <a:t>TEST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331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Condition / spec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1783080"/>
            <a:ext cx="4572000" cy="3611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1828800"/>
            <a:ext cx="4480560" cy="3520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RESULT IMAGE /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783080"/>
            <a:ext cx="2514600" cy="3611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99339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605E"/>
                </a:solidFill>
                <a:latin typeface="Arial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06040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2D605E"/>
                </a:solidFill>
                <a:latin typeface="Arial"/>
              </a:rPr>
              <a:t>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291840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Key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794760"/>
            <a:ext cx="20574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Interpretation /
comparison /
implication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5623560"/>
            <a:ext cx="79095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48840" y="5669280"/>
            <a:ext cx="7909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CONCLUSION / VALIDATED PERFORMANCE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14  Timeline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History / development / commercialization /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ROADMAP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75185"/>
            <a:ext cx="10149840" cy="22860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3392305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706505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9502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2926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3392305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3986665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5242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71818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3392305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2706505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29502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92926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3392305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3986665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5242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71818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0" y="3392305"/>
            <a:ext cx="384048" cy="384048"/>
          </a:xfrm>
          <a:prstGeom prst="ellipse">
            <a:avLst/>
          </a:prstGeom>
          <a:solidFill>
            <a:srgbClr val="2D605E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44200" y="2706505"/>
            <a:ext cx="822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20XX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229502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929265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15  Financial /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Revenue forecast / investment / growth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3662"/>
            <a:ext cx="6583680" cy="443484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59382"/>
            <a:ext cx="6492240" cy="4343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REVENUE / GROWTH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550822"/>
            <a:ext cx="3566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GROWTH DRIVERS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145182"/>
            <a:ext cx="3611880" cy="6858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45552" y="2282342"/>
            <a:ext cx="365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236622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Driver / assumption / milestone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105302"/>
            <a:ext cx="3611880" cy="6858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45552" y="3242461"/>
            <a:ext cx="365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196742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Driver / assumption / milestone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065422"/>
            <a:ext cx="3611880" cy="6858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4202582"/>
            <a:ext cx="365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D605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156861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Driver / assumption / milestone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162702"/>
            <a:ext cx="3611880" cy="65836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5281574"/>
            <a:ext cx="3611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FUNDING / TARGET /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16  Company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Company facts + organization / key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3657600" cy="46634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22272B"/>
                </a:solidFill>
                <a:latin typeface="Arial"/>
              </a:rPr>
              <a:t>COMPANY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Founded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377440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94436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1129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511296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4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Facilities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078224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97178"/>
                </a:solidFill>
                <a:latin typeface="Arial"/>
              </a:rPr>
              <a:t>Certifications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645152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2272B"/>
                </a:solidFill>
                <a:latin typeface="Arial"/>
              </a:rPr>
              <a:t>Value /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554480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2272B"/>
                </a:solidFill>
                <a:latin typeface="Arial"/>
              </a:rPr>
              <a:t>KEY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103119"/>
            <a:ext cx="169164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148839"/>
            <a:ext cx="16002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70332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NAME /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690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Career / expertise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103119"/>
            <a:ext cx="169164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59" y="2148839"/>
            <a:ext cx="16002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0332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NAME /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690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Career / 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103119"/>
            <a:ext cx="1691640" cy="141732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2148839"/>
            <a:ext cx="16002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PHOTO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70332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NAME /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06908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Career / expertise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5120640"/>
            <a:ext cx="5989320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600" y="5239512"/>
            <a:ext cx="5989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ORGANIZATION / TEAM STRENGTH / IP /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17  Table /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Specs / structured comparison / detailed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2272B"/>
                </a:solidFill>
                <a:latin typeface="Arial"/>
              </a:rPr>
              <a:t>TABLE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8648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0055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488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41463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8895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62872" y="1783080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0303" y="1819656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HEADER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96312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79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0055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41463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68895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62872" y="2496312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0303" y="2532888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209544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79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0055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47488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41463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68895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62872" y="3209544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90303" y="3246120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922776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98648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26079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0055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47488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41463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68895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2872" y="3922776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90303" y="3959352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636008"/>
            <a:ext cx="2121408" cy="713232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98648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79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055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47488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41463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68895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62872" y="4636008"/>
            <a:ext cx="2121408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90303" y="4672584"/>
            <a:ext cx="2066543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Highlight / conclusion / footnote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18  Two-Column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Executive summary / overview /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074920" cy="47091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4617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D605E"/>
                </a:solidFill>
                <a:latin typeface="Arial"/>
              </a:rPr>
              <a:t>COLUMN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572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Short lead sentence / category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65176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6148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2491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520439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63016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593591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38912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9884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46227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074920" cy="47091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481328"/>
            <a:ext cx="4617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D605E"/>
                </a:solidFill>
                <a:latin typeface="Arial"/>
              </a:rPr>
              <a:t>COLUMN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4572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Short lead sentence / category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65176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6148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2491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520439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63016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593591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389120"/>
            <a:ext cx="457200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498848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D605E"/>
                </a:solidFill>
                <a:latin typeface="Arial"/>
              </a:rPr>
              <a:t>KEY POINT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462272"/>
            <a:ext cx="31546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Summary item / fact /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19  Claim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Strength / differentiator supported by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CORE CLAIM / DIFFERENTIATOR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7183"/>
            <a:ext cx="10698480" cy="15087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25783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D605E"/>
                </a:solidFill>
                <a:latin typeface="Arial"/>
              </a:rPr>
              <a:t>OUR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2983"/>
            <a:ext cx="5760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2272B"/>
                </a:solidFill>
                <a:latin typeface="Arial"/>
              </a:rPr>
              <a:t>Short explanation of the advantage or 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398351"/>
            <a:ext cx="3611880" cy="10972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2444071"/>
            <a:ext cx="3520440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PROOF IMAGE / CERTIFICATE /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5983"/>
            <a:ext cx="1069848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54583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BASELINE / EXISTING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57503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Evidence / proof point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7754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Evidence / proof 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97583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Evidence / proof 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54583"/>
            <a:ext cx="1920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D605E"/>
                </a:solidFill>
                <a:latin typeface="Arial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11783"/>
            <a:ext cx="4389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2272B"/>
                </a:solidFill>
                <a:latin typeface="Arial"/>
              </a:rPr>
              <a:t>Business impact / customer value / measurable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20  Product Spec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Single product / model / solution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0" cy="42519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480560" cy="4160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PRODUCT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28016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PRODUCT / MODEL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47088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97178"/>
                </a:solidFill>
                <a:latin typeface="Arial"/>
              </a:rPr>
              <a:t>One-line positioning / key benefit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251460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9592" y="262432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90779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251460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31352" y="262432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90779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361188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372160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400507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611880"/>
            <a:ext cx="2331720" cy="8229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1352" y="3721608"/>
            <a:ext cx="20116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SPEC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4005072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605E"/>
                </a:solidFill>
                <a:latin typeface="Arial"/>
              </a:rPr>
              <a:t>VALUE / UNIT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4892040"/>
            <a:ext cx="4983480" cy="59436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5010912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APPLICATION / CERTIFICATION / KEY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21  Customer References /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Customers / partners / PoC / certifications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TRUST &amp; MARKET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02996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1168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59152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202996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01168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59152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2996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07568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01168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59152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3756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53872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8444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52044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867911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3756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53872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358444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52044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867911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337560"/>
            <a:ext cx="3246120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538728"/>
            <a:ext cx="96012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3584448"/>
            <a:ext cx="868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LOGO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520440"/>
            <a:ext cx="1691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CUSTOMER / PARTNER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867911"/>
            <a:ext cx="1691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697178"/>
                </a:solidFill>
                <a:latin typeface="Arial"/>
              </a:rPr>
              <a:t>PoC / supply / project
or certification proof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5074920"/>
            <a:ext cx="7726679" cy="6400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40280" y="5193792"/>
            <a:ext cx="7726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REFERENCE SUMMARY / TOTAL CUSTOMERS / CONTRACT VALUE / KEY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22  Closing /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Final message + contact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6692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22272B"/>
                </a:solidFill>
                <a:latin typeface="Arial"/>
              </a:rPr>
              <a:t>FINAL BRAND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212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97178"/>
                </a:solidFill>
                <a:latin typeface="Arial"/>
              </a:rPr>
              <a:t>Short closing statement / call to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34440"/>
            <a:ext cx="4709160" cy="4297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280160"/>
            <a:ext cx="4617720" cy="4206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697178"/>
                </a:solidFill>
                <a:latin typeface="Arial"/>
              </a:rPr>
              <a:t>BRAND / PRODUCT VISUAL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03320"/>
            <a:ext cx="5120640" cy="16002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913632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224528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35424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35424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846320"/>
            <a:ext cx="3520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2272B"/>
                </a:solidFill>
                <a:latin typeface="Arial"/>
              </a:rPr>
              <a:t>Contact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23  Concept Icon Trio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3 concepts / values / business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CONCEPT / VALUE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Short lead sentence explaining the three concepts</a:t>
            </a:r>
          </a:p>
        </p:txBody>
      </p:sp>
      <p:sp>
        <p:nvSpPr>
          <p:cNvPr id="7" name="Oval 6"/>
          <p:cNvSpPr/>
          <p:nvPr/>
        </p:nvSpPr>
        <p:spPr>
          <a:xfrm>
            <a:off x="2103120" y="2331720"/>
            <a:ext cx="960120" cy="960120"/>
          </a:xfrm>
          <a:prstGeom prst="ellipse">
            <a:avLst/>
          </a:prstGeom>
          <a:solidFill>
            <a:srgbClr val="E7EAED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2578608"/>
            <a:ext cx="960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CONCEPT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69080"/>
            <a:ext cx="2880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One-line keyword / core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617720"/>
            <a:ext cx="2423160" cy="5943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470916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description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2331720"/>
            <a:ext cx="960120" cy="960120"/>
          </a:xfrm>
          <a:prstGeom prst="ellipse">
            <a:avLst/>
          </a:prstGeom>
          <a:solidFill>
            <a:srgbClr val="E7EAED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2578608"/>
            <a:ext cx="960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1188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CONCEPT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069080"/>
            <a:ext cx="2880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One-line keyword / core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617720"/>
            <a:ext cx="2423160" cy="5943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59" y="470916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description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0" y="2331720"/>
            <a:ext cx="960120" cy="960120"/>
          </a:xfrm>
          <a:prstGeom prst="ellipse">
            <a:avLst/>
          </a:prstGeom>
          <a:solidFill>
            <a:srgbClr val="E7EAED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2578608"/>
            <a:ext cx="960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D605E"/>
                </a:solidFill>
                <a:latin typeface="Arial"/>
              </a:rPr>
              <a:t>ICON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11880"/>
            <a:ext cx="3246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2272B"/>
                </a:solidFill>
                <a:latin typeface="Arial"/>
              </a:rPr>
              <a:t>CONCEPT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880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One-line keyword / core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617720"/>
            <a:ext cx="2423160" cy="59436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4709160"/>
            <a:ext cx="2240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Use for: core values / business areas / benefits / key concepts / strategic pillars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24  Message +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Conclusion block + 3 supporting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234440"/>
            <a:ext cx="4009445" cy="480060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D605E"/>
                </a:solidFill>
                <a:latin typeface="Arial"/>
              </a:rPr>
              <a:t>CORE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108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2272B"/>
                </a:solidFill>
                <a:latin typeface="Arial"/>
              </a:rPr>
              <a:t>2–3 line conclusion / claim
that frames the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178"/>
                </a:solidFill>
                <a:latin typeface="Arial"/>
              </a:rPr>
              <a:t>• Evidence 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rial"/>
              </a:rPr>
              <a:t>• Evidence point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259" y="1563624"/>
            <a:ext cx="150876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54979" y="1609344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2339" y="1636776"/>
            <a:ext cx="4297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CASE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2339" y="2002536"/>
            <a:ext cx="4297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supporting example / proof /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9259" y="3072384"/>
            <a:ext cx="150876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4979" y="3118104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2339" y="3145536"/>
            <a:ext cx="4297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CASE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2339" y="3511296"/>
            <a:ext cx="4297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supporting example / proof / 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9259" y="4581144"/>
            <a:ext cx="1508760" cy="114300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4979" y="4626864"/>
            <a:ext cx="1417319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2339" y="4654296"/>
            <a:ext cx="4297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2272B"/>
                </a:solidFill>
                <a:latin typeface="Arial"/>
              </a:rPr>
              <a:t>CASE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2339" y="5020056"/>
            <a:ext cx="4297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Short supporting example / proof / description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25  Symmetric Two-Split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Two topics with equal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2272B"/>
                </a:solidFill>
                <a:latin typeface="Arial"/>
              </a:rPr>
              <a:t>ONE-LINE LEAD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617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TOPIC 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606040"/>
            <a:ext cx="4434840" cy="1874519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343400" cy="17830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09160"/>
            <a:ext cx="4434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Key number /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66360"/>
            <a:ext cx="4434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Source /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93392"/>
            <a:ext cx="4617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TOPIC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79" y="2606040"/>
            <a:ext cx="4434840" cy="1874519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399" y="2651760"/>
            <a:ext cx="4343400" cy="17830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709160"/>
            <a:ext cx="4434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72B"/>
                </a:solidFill>
                <a:latin typeface="Arial"/>
              </a:rPr>
              <a:t>Key number /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5166360"/>
            <a:ext cx="4434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Source / note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99AD-942A-88F7-304D-44EDA8B2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E98AB-6368-71B8-4A94-2170DF48990C}"/>
              </a:ext>
            </a:extLst>
          </p:cNvPr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25  Symmetric Two-Split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FB236-C2F0-4955-4025-A4AA2850FD2B}"/>
              </a:ext>
            </a:extLst>
          </p:cNvPr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Two topics with equal hierarchy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4D9705-C3CD-3BFA-5613-F2E5ECFBEC1E}"/>
              </a:ext>
            </a:extLst>
          </p:cNvPr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C03A-F1AD-E770-0249-59616E9639F4}"/>
              </a:ext>
            </a:extLst>
          </p:cNvPr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25</a:t>
            </a:r>
          </a:p>
        </p:txBody>
      </p:sp>
      <p:sp>
        <p:nvSpPr>
          <p:cNvPr id="7" name="모서리가 둥근 직사각형 12">
            <a:extLst>
              <a:ext uri="{FF2B5EF4-FFF2-40B4-BE49-F238E27FC236}">
                <a16:creationId xmlns:a16="http://schemas.microsoft.com/office/drawing/2014/main" id="{7727B920-C9EF-5871-80D0-C9623384ABBD}"/>
              </a:ext>
            </a:extLst>
          </p:cNvPr>
          <p:cNvSpPr/>
          <p:nvPr/>
        </p:nvSpPr>
        <p:spPr>
          <a:xfrm>
            <a:off x="3030547" y="2092604"/>
            <a:ext cx="1346192" cy="648000"/>
          </a:xfrm>
          <a:prstGeom prst="roundRect">
            <a:avLst>
              <a:gd name="adj" fmla="val 11716"/>
            </a:avLst>
          </a:prstGeom>
          <a:solidFill>
            <a:srgbClr val="C00000"/>
          </a:solidFill>
          <a:ln w="3175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contents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B4AF573-2817-5FF9-2F60-01E428D9B5AA}"/>
              </a:ext>
            </a:extLst>
          </p:cNvPr>
          <p:cNvCxnSpPr>
            <a:cxnSpLocks/>
          </p:cNvCxnSpPr>
          <p:nvPr/>
        </p:nvCxnSpPr>
        <p:spPr>
          <a:xfrm>
            <a:off x="6285878" y="6301355"/>
            <a:ext cx="366506" cy="0"/>
          </a:xfrm>
          <a:prstGeom prst="straightConnector1">
            <a:avLst/>
          </a:prstGeom>
          <a:ln w="381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95A920-51AD-0908-092C-F69614E6235B}"/>
              </a:ext>
            </a:extLst>
          </p:cNvPr>
          <p:cNvCxnSpPr>
            <a:cxnSpLocks/>
          </p:cNvCxnSpPr>
          <p:nvPr/>
        </p:nvCxnSpPr>
        <p:spPr>
          <a:xfrm flipV="1">
            <a:off x="6293283" y="4710802"/>
            <a:ext cx="0" cy="1598873"/>
          </a:xfrm>
          <a:prstGeom prst="line">
            <a:avLst/>
          </a:prstGeom>
          <a:ln w="38100">
            <a:solidFill>
              <a:srgbClr val="073E4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A501C37-69EF-F240-8810-6A314DCBAD30}"/>
              </a:ext>
            </a:extLst>
          </p:cNvPr>
          <p:cNvCxnSpPr>
            <a:cxnSpLocks/>
          </p:cNvCxnSpPr>
          <p:nvPr/>
        </p:nvCxnSpPr>
        <p:spPr>
          <a:xfrm>
            <a:off x="4524102" y="5596605"/>
            <a:ext cx="1761870" cy="0"/>
          </a:xfrm>
          <a:prstGeom prst="straightConnector1">
            <a:avLst/>
          </a:prstGeom>
          <a:ln w="381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3726436-0FA1-44C8-42B0-ABA4A7054FF6}"/>
              </a:ext>
            </a:extLst>
          </p:cNvPr>
          <p:cNvCxnSpPr>
            <a:cxnSpLocks/>
          </p:cNvCxnSpPr>
          <p:nvPr/>
        </p:nvCxnSpPr>
        <p:spPr>
          <a:xfrm>
            <a:off x="8205953" y="6301355"/>
            <a:ext cx="817589" cy="0"/>
          </a:xfrm>
          <a:prstGeom prst="straightConnector1">
            <a:avLst/>
          </a:prstGeom>
          <a:ln w="381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E3B606C-FBBB-F9C7-2C80-E2B869D11458}"/>
              </a:ext>
            </a:extLst>
          </p:cNvPr>
          <p:cNvCxnSpPr>
            <a:cxnSpLocks/>
          </p:cNvCxnSpPr>
          <p:nvPr/>
        </p:nvCxnSpPr>
        <p:spPr>
          <a:xfrm>
            <a:off x="8168702" y="4741984"/>
            <a:ext cx="817589" cy="0"/>
          </a:xfrm>
          <a:prstGeom prst="straightConnector1">
            <a:avLst/>
          </a:prstGeom>
          <a:ln w="381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050CDD9-69B7-2A52-EE9D-55B7CB80B588}"/>
              </a:ext>
            </a:extLst>
          </p:cNvPr>
          <p:cNvCxnSpPr>
            <a:cxnSpLocks/>
          </p:cNvCxnSpPr>
          <p:nvPr/>
        </p:nvCxnSpPr>
        <p:spPr>
          <a:xfrm>
            <a:off x="6293284" y="4722232"/>
            <a:ext cx="366506" cy="0"/>
          </a:xfrm>
          <a:prstGeom prst="straightConnector1">
            <a:avLst/>
          </a:prstGeom>
          <a:ln w="381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26E93BB-2BBB-F659-5571-8915C5B4A03B}"/>
              </a:ext>
            </a:extLst>
          </p:cNvPr>
          <p:cNvCxnSpPr>
            <a:cxnSpLocks/>
          </p:cNvCxnSpPr>
          <p:nvPr/>
        </p:nvCxnSpPr>
        <p:spPr>
          <a:xfrm flipV="1">
            <a:off x="4524102" y="2275780"/>
            <a:ext cx="0" cy="1474808"/>
          </a:xfrm>
          <a:prstGeom prst="line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D20B9D8-B3FC-BFE2-E8D5-A1ED664B8C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349322" y="3556101"/>
            <a:ext cx="0" cy="360000"/>
          </a:xfrm>
          <a:prstGeom prst="line">
            <a:avLst/>
          </a:prstGeom>
          <a:ln w="38100">
            <a:solidFill>
              <a:srgbClr val="03444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7D0946A-189A-2A6E-CC7F-32C1E6C1BA6A}"/>
              </a:ext>
            </a:extLst>
          </p:cNvPr>
          <p:cNvCxnSpPr>
            <a:cxnSpLocks/>
          </p:cNvCxnSpPr>
          <p:nvPr/>
        </p:nvCxnSpPr>
        <p:spPr>
          <a:xfrm>
            <a:off x="1836677" y="3732444"/>
            <a:ext cx="807921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6BE4D49-2080-4813-C1CD-ACE792E80F26}"/>
              </a:ext>
            </a:extLst>
          </p:cNvPr>
          <p:cNvCxnSpPr>
            <a:cxnSpLocks/>
          </p:cNvCxnSpPr>
          <p:nvPr/>
        </p:nvCxnSpPr>
        <p:spPr>
          <a:xfrm flipV="1">
            <a:off x="4524102" y="3732444"/>
            <a:ext cx="0" cy="1872000"/>
          </a:xfrm>
          <a:prstGeom prst="line">
            <a:avLst/>
          </a:prstGeom>
          <a:ln w="38100">
            <a:solidFill>
              <a:srgbClr val="03444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2BE57623-3216-D145-D4FE-5CABC7B6652A}"/>
              </a:ext>
            </a:extLst>
          </p:cNvPr>
          <p:cNvSpPr/>
          <p:nvPr/>
        </p:nvSpPr>
        <p:spPr>
          <a:xfrm>
            <a:off x="3030547" y="4641791"/>
            <a:ext cx="1346192" cy="648000"/>
          </a:xfrm>
          <a:prstGeom prst="roundRect">
            <a:avLst>
              <a:gd name="adj" fmla="val 11716"/>
            </a:avLst>
          </a:prstGeom>
          <a:solidFill>
            <a:srgbClr val="034443"/>
          </a:solidFill>
          <a:ln w="3175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COSOLUS</a:t>
            </a:r>
          </a:p>
          <a:p>
            <a:pPr algn="ctr">
              <a:spcAft>
                <a:spcPts val="400"/>
              </a:spcAft>
            </a:pPr>
            <a:r>
              <a:rPr kumimoji="1" lang="en-US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(2</a:t>
            </a:r>
            <a:r>
              <a:rPr kumimoji="1"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</a:t>
            </a:r>
            <a:r>
              <a:rPr kumimoji="1"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kumimoji="1" lang="ko-Kore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192ECC1-ED15-CDFD-5090-F347E45ED5BE}"/>
              </a:ext>
            </a:extLst>
          </p:cNvPr>
          <p:cNvCxnSpPr>
            <a:cxnSpLocks/>
          </p:cNvCxnSpPr>
          <p:nvPr/>
        </p:nvCxnSpPr>
        <p:spPr>
          <a:xfrm>
            <a:off x="4518190" y="2263477"/>
            <a:ext cx="446810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317385D-BE6E-E2D7-3B33-E9FDF263BB6C}"/>
              </a:ext>
            </a:extLst>
          </p:cNvPr>
          <p:cNvCxnSpPr>
            <a:cxnSpLocks/>
          </p:cNvCxnSpPr>
          <p:nvPr/>
        </p:nvCxnSpPr>
        <p:spPr>
          <a:xfrm flipH="1">
            <a:off x="4859600" y="3745499"/>
            <a:ext cx="5618425" cy="0"/>
          </a:xfrm>
          <a:prstGeom prst="line">
            <a:avLst/>
          </a:prstGeom>
          <a:noFill/>
          <a:ln w="28575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1E36150-00E6-15D4-7B60-D9F2F74735B3}"/>
              </a:ext>
            </a:extLst>
          </p:cNvPr>
          <p:cNvCxnSpPr>
            <a:cxnSpLocks/>
          </p:cNvCxnSpPr>
          <p:nvPr/>
        </p:nvCxnSpPr>
        <p:spPr>
          <a:xfrm flipV="1">
            <a:off x="8285427" y="2255340"/>
            <a:ext cx="0" cy="1026975"/>
          </a:xfrm>
          <a:prstGeom prst="line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2239256-1188-2E46-0EEC-1D05A4D90BBC}"/>
              </a:ext>
            </a:extLst>
          </p:cNvPr>
          <p:cNvCxnSpPr>
            <a:cxnSpLocks/>
          </p:cNvCxnSpPr>
          <p:nvPr/>
        </p:nvCxnSpPr>
        <p:spPr>
          <a:xfrm>
            <a:off x="8285427" y="3282315"/>
            <a:ext cx="73678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86B6419-6ACB-1D73-3630-A6B895E381F7}"/>
              </a:ext>
            </a:extLst>
          </p:cNvPr>
          <p:cNvSpPr txBox="1"/>
          <p:nvPr/>
        </p:nvSpPr>
        <p:spPr>
          <a:xfrm>
            <a:off x="594360" y="926295"/>
            <a:ext cx="1558119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 title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733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8682-4874-6C5A-8F9C-8D90B21B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84C6B-D1D9-7EED-32B3-1AF99035147C}"/>
              </a:ext>
            </a:extLst>
          </p:cNvPr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25  Symmetric Two-Split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F01BC-461E-234B-2211-75FD79A3A36E}"/>
              </a:ext>
            </a:extLst>
          </p:cNvPr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Two topics with equal hierarchy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74580D-24D3-F6EF-2E96-254D4C78BE88}"/>
              </a:ext>
            </a:extLst>
          </p:cNvPr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D9E82-2C2B-79CB-D5FC-87EDB932FABA}"/>
              </a:ext>
            </a:extLst>
          </p:cNvPr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25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5716F01-6600-103B-EB61-2DB04AD0BC7C}"/>
              </a:ext>
            </a:extLst>
          </p:cNvPr>
          <p:cNvCxnSpPr>
            <a:cxnSpLocks/>
          </p:cNvCxnSpPr>
          <p:nvPr/>
        </p:nvCxnSpPr>
        <p:spPr>
          <a:xfrm>
            <a:off x="6340371" y="3524386"/>
            <a:ext cx="468000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1BF8748-0C66-6864-40FE-F8C044E0D5AD}"/>
              </a:ext>
            </a:extLst>
          </p:cNvPr>
          <p:cNvCxnSpPr>
            <a:cxnSpLocks/>
          </p:cNvCxnSpPr>
          <p:nvPr/>
        </p:nvCxnSpPr>
        <p:spPr>
          <a:xfrm>
            <a:off x="6340371" y="5395938"/>
            <a:ext cx="468000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9B0DBAC-067B-D513-EDD3-6D192097E220}"/>
              </a:ext>
            </a:extLst>
          </p:cNvPr>
          <p:cNvCxnSpPr>
            <a:cxnSpLocks/>
          </p:cNvCxnSpPr>
          <p:nvPr/>
        </p:nvCxnSpPr>
        <p:spPr>
          <a:xfrm flipH="1" flipV="1">
            <a:off x="6342911" y="3514476"/>
            <a:ext cx="0" cy="1892445"/>
          </a:xfrm>
          <a:prstGeom prst="line">
            <a:avLst/>
          </a:prstGeom>
          <a:ln w="25400">
            <a:solidFill>
              <a:srgbClr val="073E4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F7E3217-A9F3-ACB4-F325-606361743AAE}"/>
              </a:ext>
            </a:extLst>
          </p:cNvPr>
          <p:cNvCxnSpPr>
            <a:cxnSpLocks/>
          </p:cNvCxnSpPr>
          <p:nvPr/>
        </p:nvCxnSpPr>
        <p:spPr>
          <a:xfrm>
            <a:off x="653018" y="4502446"/>
            <a:ext cx="1908000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E580985-AE2F-419B-30D3-6A8E263ACA16}"/>
              </a:ext>
            </a:extLst>
          </p:cNvPr>
          <p:cNvCxnSpPr>
            <a:cxnSpLocks/>
          </p:cNvCxnSpPr>
          <p:nvPr/>
        </p:nvCxnSpPr>
        <p:spPr>
          <a:xfrm>
            <a:off x="4090596" y="4502446"/>
            <a:ext cx="2249775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0752D49-AEA2-0F13-AE0B-59CB7F230C4B}"/>
              </a:ext>
            </a:extLst>
          </p:cNvPr>
          <p:cNvCxnSpPr>
            <a:cxnSpLocks/>
          </p:cNvCxnSpPr>
          <p:nvPr/>
        </p:nvCxnSpPr>
        <p:spPr>
          <a:xfrm>
            <a:off x="8889133" y="5381966"/>
            <a:ext cx="1044000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F68A6ED-47DB-8427-642E-6948057267CC}"/>
              </a:ext>
            </a:extLst>
          </p:cNvPr>
          <p:cNvCxnSpPr>
            <a:cxnSpLocks/>
          </p:cNvCxnSpPr>
          <p:nvPr/>
        </p:nvCxnSpPr>
        <p:spPr>
          <a:xfrm>
            <a:off x="8768691" y="3524386"/>
            <a:ext cx="713066" cy="0"/>
          </a:xfrm>
          <a:prstGeom prst="straightConnector1">
            <a:avLst/>
          </a:prstGeom>
          <a:ln w="25400">
            <a:solidFill>
              <a:srgbClr val="073E4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849124-CD96-93A1-BF77-0ED8513A45A3}"/>
              </a:ext>
            </a:extLst>
          </p:cNvPr>
          <p:cNvSpPr txBox="1"/>
          <p:nvPr/>
        </p:nvSpPr>
        <p:spPr>
          <a:xfrm>
            <a:off x="594360" y="926295"/>
            <a:ext cx="1558119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 title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3843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26  Three-Column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Repeated card structure for parallel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246120" cy="4617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CARD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1305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163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794760"/>
            <a:ext cx="260604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251460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30352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234440"/>
            <a:ext cx="3246120" cy="4617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50876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CARD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488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1305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8346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28163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3794760"/>
            <a:ext cx="260604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599" y="3840480"/>
            <a:ext cx="251460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30352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note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234440"/>
            <a:ext cx="3246120" cy="461772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50876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605E"/>
                </a:solidFill>
                <a:latin typeface="Arial"/>
              </a:rPr>
              <a:t>CARD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488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1305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97178"/>
                </a:solidFill>
                <a:latin typeface="Arial"/>
              </a:rPr>
              <a:t>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816352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22272B"/>
                </a:solidFill>
                <a:latin typeface="Arial"/>
              </a:rPr>
              <a:t>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3794760"/>
            <a:ext cx="2606040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840480"/>
            <a:ext cx="2514600" cy="1234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 / 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30352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Short supporting note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27  Gantt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Tasks × time periods + progress bars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2272B"/>
                </a:solidFill>
                <a:latin typeface="Arial"/>
              </a:rPr>
              <a:t>ROADMAP / IMPLEMENTATION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256032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92807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39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783080"/>
            <a:ext cx="19659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1892807"/>
            <a:ext cx="1965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2029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50008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53288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57800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23760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235000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127248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31012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39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57800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23760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89720" y="3127248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3904487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08736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39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257800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23760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390448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1520" y="4681727"/>
            <a:ext cx="2560320" cy="777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864607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2272B"/>
                </a:solidFill>
                <a:latin typeface="Arial"/>
              </a:rPr>
              <a:t>TASK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39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257800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23760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89720" y="4681727"/>
            <a:ext cx="1965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91840" y="2542032"/>
            <a:ext cx="2743200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0" y="2569463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PHASE 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3319272"/>
            <a:ext cx="3749039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63440" y="3346703"/>
            <a:ext cx="374903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PHASE 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096512"/>
            <a:ext cx="2560320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4123944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EXECUTE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873752"/>
            <a:ext cx="1828800" cy="384048"/>
          </a:xfrm>
          <a:prstGeom prst="rect">
            <a:avLst/>
          </a:prstGeom>
          <a:solidFill>
            <a:srgbClr val="E7EAED"/>
          </a:solidFill>
          <a:ln w="12700"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4901184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D605E"/>
                </a:solidFill>
                <a:latin typeface="Arial"/>
              </a:rPr>
              <a:t>PLANNED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28  Before / After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Current vs improved process in two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28</a:t>
            </a:r>
          </a:p>
        </p:txBody>
      </p:sp>
      <p:sp>
        <p:nvSpPr>
          <p:cNvPr id="40" name="슬라이드 번호 개체 틀 5">
            <a:extLst>
              <a:ext uri="{FF2B5EF4-FFF2-40B4-BE49-F238E27FC236}">
                <a16:creationId xmlns:a16="http://schemas.microsoft.com/office/drawing/2014/main" id="{572E725D-720D-818D-1E23-CFDBD567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3982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29</a:t>
            </a:fld>
            <a:endParaRPr lang="ko-KR" altLang="en-US"/>
          </a:p>
        </p:txBody>
      </p:sp>
      <p:grpSp>
        <p:nvGrpSpPr>
          <p:cNvPr id="41" name="그룹 43">
            <a:extLst>
              <a:ext uri="{FF2B5EF4-FFF2-40B4-BE49-F238E27FC236}">
                <a16:creationId xmlns:a16="http://schemas.microsoft.com/office/drawing/2014/main" id="{232DE802-04DE-0654-2FD1-1ED708B57ED5}"/>
              </a:ext>
            </a:extLst>
          </p:cNvPr>
          <p:cNvGrpSpPr/>
          <p:nvPr/>
        </p:nvGrpSpPr>
        <p:grpSpPr>
          <a:xfrm>
            <a:off x="5731144" y="3475898"/>
            <a:ext cx="729713" cy="628362"/>
            <a:chOff x="0" y="0"/>
            <a:chExt cx="729711" cy="726108"/>
          </a:xfrm>
        </p:grpSpPr>
        <p:pic>
          <p:nvPicPr>
            <p:cNvPr id="42" name="그래픽 38" descr="그래픽 38">
              <a:extLst>
                <a:ext uri="{FF2B5EF4-FFF2-40B4-BE49-F238E27FC236}">
                  <a16:creationId xmlns:a16="http://schemas.microsoft.com/office/drawing/2014/main" id="{2AE81109-8CFD-25F4-EC2D-364D8BBA9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066" y="0"/>
              <a:ext cx="508646" cy="7261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" name="그래픽 39" descr="그래픽 39">
              <a:extLst>
                <a:ext uri="{FF2B5EF4-FFF2-40B4-BE49-F238E27FC236}">
                  <a16:creationId xmlns:a16="http://schemas.microsoft.com/office/drawing/2014/main" id="{C48CA2A4-1DF7-DF2D-F8BA-E77DFC69E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7473"/>
              <a:ext cx="442134" cy="6311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A77F7D0-86B9-BBA9-1C49-73275C4CE5CB}"/>
              </a:ext>
            </a:extLst>
          </p:cNvPr>
          <p:cNvGrpSpPr/>
          <p:nvPr/>
        </p:nvGrpSpPr>
        <p:grpSpPr>
          <a:xfrm>
            <a:off x="341875" y="1484441"/>
            <a:ext cx="5157893" cy="512690"/>
            <a:chOff x="946573" y="1709220"/>
            <a:chExt cx="4818437" cy="512690"/>
          </a:xfrm>
        </p:grpSpPr>
        <p:sp>
          <p:nvSpPr>
            <p:cNvPr id="45" name="사각형: 둥근 모서리 85">
              <a:extLst>
                <a:ext uri="{FF2B5EF4-FFF2-40B4-BE49-F238E27FC236}">
                  <a16:creationId xmlns:a16="http://schemas.microsoft.com/office/drawing/2014/main" id="{B24F2BF6-5252-4A0A-5148-6A7A3C919077}"/>
                </a:ext>
              </a:extLst>
            </p:cNvPr>
            <p:cNvSpPr/>
            <p:nvPr/>
          </p:nvSpPr>
          <p:spPr>
            <a:xfrm>
              <a:off x="946573" y="1709220"/>
              <a:ext cx="4818436" cy="5126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ctr">
                <a:defRPr sz="1200">
                  <a:solidFill>
                    <a:srgbClr val="0F1E1F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endParaRPr/>
            </a:p>
          </p:txBody>
        </p:sp>
        <p:grpSp>
          <p:nvGrpSpPr>
            <p:cNvPr id="46" name="그룹 92">
              <a:extLst>
                <a:ext uri="{FF2B5EF4-FFF2-40B4-BE49-F238E27FC236}">
                  <a16:creationId xmlns:a16="http://schemas.microsoft.com/office/drawing/2014/main" id="{4469D6F3-6FD6-822A-4860-53F24323DD44}"/>
                </a:ext>
              </a:extLst>
            </p:cNvPr>
            <p:cNvGrpSpPr/>
            <p:nvPr/>
          </p:nvGrpSpPr>
          <p:grpSpPr>
            <a:xfrm>
              <a:off x="946573" y="1711649"/>
              <a:ext cx="4818437" cy="507832"/>
              <a:chOff x="0" y="0"/>
              <a:chExt cx="3726893" cy="507831"/>
            </a:xfrm>
          </p:grpSpPr>
          <p:sp>
            <p:nvSpPr>
              <p:cNvPr id="48" name="직선 연결선 86">
                <a:extLst>
                  <a:ext uri="{FF2B5EF4-FFF2-40B4-BE49-F238E27FC236}">
                    <a16:creationId xmlns:a16="http://schemas.microsoft.com/office/drawing/2014/main" id="{D41D3ADE-DE87-C4EF-370D-3A1D2DBA1A31}"/>
                  </a:ext>
                </a:extLst>
              </p:cNvPr>
              <p:cNvSpPr/>
              <p:nvPr/>
            </p:nvSpPr>
            <p:spPr>
              <a:xfrm>
                <a:off x="-1" y="0"/>
                <a:ext cx="3726895" cy="1"/>
              </a:xfrm>
              <a:prstGeom prst="line">
                <a:avLst/>
              </a:prstGeom>
              <a:noFill/>
              <a:ln w="9525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9" name="직선 연결선 87">
                <a:extLst>
                  <a:ext uri="{FF2B5EF4-FFF2-40B4-BE49-F238E27FC236}">
                    <a16:creationId xmlns:a16="http://schemas.microsoft.com/office/drawing/2014/main" id="{7E703AA3-D7B1-86E0-A28D-9BCBB8B5313F}"/>
                  </a:ext>
                </a:extLst>
              </p:cNvPr>
              <p:cNvSpPr/>
              <p:nvPr/>
            </p:nvSpPr>
            <p:spPr>
              <a:xfrm>
                <a:off x="-1" y="507831"/>
                <a:ext cx="3726895" cy="1"/>
              </a:xfrm>
              <a:prstGeom prst="line">
                <a:avLst/>
              </a:prstGeom>
              <a:noFill/>
              <a:ln w="635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47" name="TextBox 35">
              <a:extLst>
                <a:ext uri="{FF2B5EF4-FFF2-40B4-BE49-F238E27FC236}">
                  <a16:creationId xmlns:a16="http://schemas.microsoft.com/office/drawing/2014/main" id="{BFEDBB61-8DA2-BA01-FA04-FCD86CC216E0}"/>
                </a:ext>
              </a:extLst>
            </p:cNvPr>
            <p:cNvSpPr txBox="1"/>
            <p:nvPr/>
          </p:nvSpPr>
          <p:spPr>
            <a:xfrm>
              <a:off x="1913825" y="1811677"/>
              <a:ext cx="2883932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sz="2000" spc="-3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dirty="0"/>
                <a:t>contents</a:t>
              </a:r>
              <a:endParaRPr lang="ko-KR" altLang="en-US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62C8784-2519-C6EC-95AA-56635C8A76E6}"/>
              </a:ext>
            </a:extLst>
          </p:cNvPr>
          <p:cNvGrpSpPr/>
          <p:nvPr/>
        </p:nvGrpSpPr>
        <p:grpSpPr>
          <a:xfrm>
            <a:off x="6621887" y="1484441"/>
            <a:ext cx="5306971" cy="512690"/>
            <a:chOff x="7016419" y="1709220"/>
            <a:chExt cx="4957704" cy="512690"/>
          </a:xfrm>
        </p:grpSpPr>
        <p:sp>
          <p:nvSpPr>
            <p:cNvPr id="51" name="사각형: 둥근 모서리 85">
              <a:extLst>
                <a:ext uri="{FF2B5EF4-FFF2-40B4-BE49-F238E27FC236}">
                  <a16:creationId xmlns:a16="http://schemas.microsoft.com/office/drawing/2014/main" id="{1797AFFA-53FD-2061-899A-16FC4CFCA38A}"/>
                </a:ext>
              </a:extLst>
            </p:cNvPr>
            <p:cNvSpPr/>
            <p:nvPr/>
          </p:nvSpPr>
          <p:spPr>
            <a:xfrm>
              <a:off x="7086053" y="1709220"/>
              <a:ext cx="4818436" cy="512690"/>
            </a:xfrm>
            <a:prstGeom prst="roundRect">
              <a:avLst>
                <a:gd name="adj" fmla="val 0"/>
              </a:avLst>
            </a:prstGeom>
            <a:solidFill>
              <a:srgbClr val="F4FAFA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ctr">
                <a:defRPr sz="1200">
                  <a:solidFill>
                    <a:srgbClr val="0F1E1F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endParaRPr/>
            </a:p>
          </p:txBody>
        </p:sp>
        <p:grpSp>
          <p:nvGrpSpPr>
            <p:cNvPr id="52" name="그룹 92">
              <a:extLst>
                <a:ext uri="{FF2B5EF4-FFF2-40B4-BE49-F238E27FC236}">
                  <a16:creationId xmlns:a16="http://schemas.microsoft.com/office/drawing/2014/main" id="{DCBF5B4A-DC36-E2E9-963B-4516163BF780}"/>
                </a:ext>
              </a:extLst>
            </p:cNvPr>
            <p:cNvGrpSpPr/>
            <p:nvPr/>
          </p:nvGrpSpPr>
          <p:grpSpPr>
            <a:xfrm>
              <a:off x="7086053" y="1711649"/>
              <a:ext cx="4818437" cy="507832"/>
              <a:chOff x="0" y="0"/>
              <a:chExt cx="3726893" cy="507831"/>
            </a:xfrm>
          </p:grpSpPr>
          <p:sp>
            <p:nvSpPr>
              <p:cNvPr id="54" name="직선 연결선 86">
                <a:extLst>
                  <a:ext uri="{FF2B5EF4-FFF2-40B4-BE49-F238E27FC236}">
                    <a16:creationId xmlns:a16="http://schemas.microsoft.com/office/drawing/2014/main" id="{12FAB564-DAFC-55D1-7C5C-5EC8C2B9F369}"/>
                  </a:ext>
                </a:extLst>
              </p:cNvPr>
              <p:cNvSpPr/>
              <p:nvPr/>
            </p:nvSpPr>
            <p:spPr>
              <a:xfrm>
                <a:off x="-1" y="0"/>
                <a:ext cx="3726895" cy="1"/>
              </a:xfrm>
              <a:prstGeom prst="line">
                <a:avLst/>
              </a:prstGeom>
              <a:noFill/>
              <a:ln w="9525" cap="flat">
                <a:solidFill>
                  <a:srgbClr val="47868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5" name="직선 연결선 87">
                <a:extLst>
                  <a:ext uri="{FF2B5EF4-FFF2-40B4-BE49-F238E27FC236}">
                    <a16:creationId xmlns:a16="http://schemas.microsoft.com/office/drawing/2014/main" id="{062AA317-7806-525F-3BCA-C6737B204342}"/>
                  </a:ext>
                </a:extLst>
              </p:cNvPr>
              <p:cNvSpPr/>
              <p:nvPr/>
            </p:nvSpPr>
            <p:spPr>
              <a:xfrm>
                <a:off x="-1" y="507831"/>
                <a:ext cx="3726895" cy="1"/>
              </a:xfrm>
              <a:prstGeom prst="line">
                <a:avLst/>
              </a:prstGeom>
              <a:noFill/>
              <a:ln w="6350" cap="flat">
                <a:solidFill>
                  <a:srgbClr val="47868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53" name="TextBox 35">
              <a:extLst>
                <a:ext uri="{FF2B5EF4-FFF2-40B4-BE49-F238E27FC236}">
                  <a16:creationId xmlns:a16="http://schemas.microsoft.com/office/drawing/2014/main" id="{181C6E8E-E533-73FA-807A-FE64251C5D87}"/>
                </a:ext>
              </a:extLst>
            </p:cNvPr>
            <p:cNvSpPr txBox="1"/>
            <p:nvPr/>
          </p:nvSpPr>
          <p:spPr>
            <a:xfrm>
              <a:off x="7016419" y="1813604"/>
              <a:ext cx="4957704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sz="2000" spc="-3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dirty="0"/>
                <a:t>contents</a:t>
              </a:r>
              <a:endParaRPr lang="ko-KR" altLang="en-US" dirty="0"/>
            </a:p>
          </p:txBody>
        </p:sp>
      </p:grpSp>
      <p:sp>
        <p:nvSpPr>
          <p:cNvPr id="56" name="Text 5">
            <a:extLst>
              <a:ext uri="{FF2B5EF4-FFF2-40B4-BE49-F238E27FC236}">
                <a16:creationId xmlns:a16="http://schemas.microsoft.com/office/drawing/2014/main" id="{9F1D798A-5013-9870-76A3-1CFD7FD1795D}"/>
              </a:ext>
            </a:extLst>
          </p:cNvPr>
          <p:cNvSpPr/>
          <p:nvPr/>
        </p:nvSpPr>
        <p:spPr>
          <a:xfrm>
            <a:off x="2078765" y="2008244"/>
            <a:ext cx="1616667" cy="55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NCM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스크랩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4AE4ED02-7264-4D60-FF8C-4985F748FF97}"/>
              </a:ext>
            </a:extLst>
          </p:cNvPr>
          <p:cNvSpPr/>
          <p:nvPr/>
        </p:nvSpPr>
        <p:spPr>
          <a:xfrm>
            <a:off x="2891330" y="2537012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8F4D9B1E-C703-4882-A371-5ED43F1B389C}"/>
              </a:ext>
            </a:extLst>
          </p:cNvPr>
          <p:cNvSpPr/>
          <p:nvPr/>
        </p:nvSpPr>
        <p:spPr>
          <a:xfrm>
            <a:off x="2082997" y="2693464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5AED00DC-3627-402E-C427-20A94BC9413C}"/>
              </a:ext>
            </a:extLst>
          </p:cNvPr>
          <p:cNvSpPr/>
          <p:nvPr/>
        </p:nvSpPr>
        <p:spPr>
          <a:xfrm>
            <a:off x="2082997" y="2693464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671C9C0-F97D-E209-B9E9-10009AF47033}"/>
              </a:ext>
            </a:extLst>
          </p:cNvPr>
          <p:cNvSpPr/>
          <p:nvPr/>
        </p:nvSpPr>
        <p:spPr>
          <a:xfrm>
            <a:off x="2891330" y="3068948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7BA04D19-ADE6-534A-DF48-4C5F474491A4}"/>
              </a:ext>
            </a:extLst>
          </p:cNvPr>
          <p:cNvSpPr/>
          <p:nvPr/>
        </p:nvSpPr>
        <p:spPr>
          <a:xfrm>
            <a:off x="2082997" y="3225400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endParaRPr lang="ko-KR" alt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9DDCEF40-05CC-3DA0-CA57-84D6D2007D12}"/>
              </a:ext>
            </a:extLst>
          </p:cNvPr>
          <p:cNvSpPr/>
          <p:nvPr/>
        </p:nvSpPr>
        <p:spPr>
          <a:xfrm>
            <a:off x="2082997" y="3225400"/>
            <a:ext cx="1750738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C6658170-3719-6B50-6707-91EA71267F59}"/>
              </a:ext>
            </a:extLst>
          </p:cNvPr>
          <p:cNvSpPr/>
          <p:nvPr/>
        </p:nvSpPr>
        <p:spPr>
          <a:xfrm>
            <a:off x="2891330" y="3600884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BF3BBD36-3ABD-324D-0701-5562C59FCDF9}"/>
              </a:ext>
            </a:extLst>
          </p:cNvPr>
          <p:cNvSpPr/>
          <p:nvPr/>
        </p:nvSpPr>
        <p:spPr>
          <a:xfrm>
            <a:off x="1811814" y="3840776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1EF83776-CD41-3C74-76EF-A13CF601B8B4}"/>
              </a:ext>
            </a:extLst>
          </p:cNvPr>
          <p:cNvSpPr/>
          <p:nvPr/>
        </p:nvSpPr>
        <p:spPr>
          <a:xfrm>
            <a:off x="1811814" y="3840776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9233EE53-2C07-ED93-422E-B96ABC8569F0}"/>
              </a:ext>
            </a:extLst>
          </p:cNvPr>
          <p:cNvSpPr/>
          <p:nvPr/>
        </p:nvSpPr>
        <p:spPr>
          <a:xfrm>
            <a:off x="2073597" y="3780598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EB4093A1-F6EF-3E1E-F5B3-FB3E7512CD6D}"/>
              </a:ext>
            </a:extLst>
          </p:cNvPr>
          <p:cNvSpPr/>
          <p:nvPr/>
        </p:nvSpPr>
        <p:spPr>
          <a:xfrm>
            <a:off x="2082997" y="3757335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B4AFFCD9-38C4-F993-B990-597F166E4F80}"/>
              </a:ext>
            </a:extLst>
          </p:cNvPr>
          <p:cNvSpPr/>
          <p:nvPr/>
        </p:nvSpPr>
        <p:spPr>
          <a:xfrm>
            <a:off x="2891330" y="4132819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C1366C4D-A89D-8AC7-CCDD-185B50FF3EF7}"/>
              </a:ext>
            </a:extLst>
          </p:cNvPr>
          <p:cNvSpPr/>
          <p:nvPr/>
        </p:nvSpPr>
        <p:spPr>
          <a:xfrm>
            <a:off x="1811814" y="4372712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E082B3DB-8777-3281-CC7B-5A07056FC144}"/>
              </a:ext>
            </a:extLst>
          </p:cNvPr>
          <p:cNvSpPr/>
          <p:nvPr/>
        </p:nvSpPr>
        <p:spPr>
          <a:xfrm>
            <a:off x="1811814" y="4372712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1" name="Shape 36">
            <a:extLst>
              <a:ext uri="{FF2B5EF4-FFF2-40B4-BE49-F238E27FC236}">
                <a16:creationId xmlns:a16="http://schemas.microsoft.com/office/drawing/2014/main" id="{E9C53F47-4799-C9A7-DF62-8227378669CC}"/>
              </a:ext>
            </a:extLst>
          </p:cNvPr>
          <p:cNvSpPr/>
          <p:nvPr/>
        </p:nvSpPr>
        <p:spPr>
          <a:xfrm>
            <a:off x="2082997" y="4289271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5722B1C4-F1F1-3996-16A9-8CB24BD58DCF}"/>
              </a:ext>
            </a:extLst>
          </p:cNvPr>
          <p:cNvSpPr/>
          <p:nvPr/>
        </p:nvSpPr>
        <p:spPr>
          <a:xfrm>
            <a:off x="2082997" y="4289271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73" name="Shape 40">
            <a:extLst>
              <a:ext uri="{FF2B5EF4-FFF2-40B4-BE49-F238E27FC236}">
                <a16:creationId xmlns:a16="http://schemas.microsoft.com/office/drawing/2014/main" id="{467B8384-8443-F0EE-A7BD-19C5017D8332}"/>
              </a:ext>
            </a:extLst>
          </p:cNvPr>
          <p:cNvSpPr/>
          <p:nvPr/>
        </p:nvSpPr>
        <p:spPr>
          <a:xfrm>
            <a:off x="2891330" y="4664755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4" name="Shape 41">
            <a:extLst>
              <a:ext uri="{FF2B5EF4-FFF2-40B4-BE49-F238E27FC236}">
                <a16:creationId xmlns:a16="http://schemas.microsoft.com/office/drawing/2014/main" id="{74DDB7EF-9D09-1CEF-E837-EADB54240B20}"/>
              </a:ext>
            </a:extLst>
          </p:cNvPr>
          <p:cNvSpPr/>
          <p:nvPr/>
        </p:nvSpPr>
        <p:spPr>
          <a:xfrm>
            <a:off x="1811814" y="4904647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D5DD4F04-8322-080A-0656-84844E515695}"/>
              </a:ext>
            </a:extLst>
          </p:cNvPr>
          <p:cNvSpPr/>
          <p:nvPr/>
        </p:nvSpPr>
        <p:spPr>
          <a:xfrm>
            <a:off x="1811814" y="4904647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6" name="Shape 43">
            <a:extLst>
              <a:ext uri="{FF2B5EF4-FFF2-40B4-BE49-F238E27FC236}">
                <a16:creationId xmlns:a16="http://schemas.microsoft.com/office/drawing/2014/main" id="{4A417145-84B2-389A-76F4-ACA099040F6E}"/>
              </a:ext>
            </a:extLst>
          </p:cNvPr>
          <p:cNvSpPr/>
          <p:nvPr/>
        </p:nvSpPr>
        <p:spPr>
          <a:xfrm>
            <a:off x="2082997" y="4821206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7" name="Text 44">
            <a:extLst>
              <a:ext uri="{FF2B5EF4-FFF2-40B4-BE49-F238E27FC236}">
                <a16:creationId xmlns:a16="http://schemas.microsoft.com/office/drawing/2014/main" id="{C2620068-E971-9436-4B61-F5086090FDD7}"/>
              </a:ext>
            </a:extLst>
          </p:cNvPr>
          <p:cNvSpPr/>
          <p:nvPr/>
        </p:nvSpPr>
        <p:spPr>
          <a:xfrm>
            <a:off x="2082997" y="4821206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78" name="Shape 47">
            <a:extLst>
              <a:ext uri="{FF2B5EF4-FFF2-40B4-BE49-F238E27FC236}">
                <a16:creationId xmlns:a16="http://schemas.microsoft.com/office/drawing/2014/main" id="{CD239836-15C5-2FC4-3572-C03C6E4F922B}"/>
              </a:ext>
            </a:extLst>
          </p:cNvPr>
          <p:cNvSpPr/>
          <p:nvPr/>
        </p:nvSpPr>
        <p:spPr>
          <a:xfrm>
            <a:off x="2891330" y="5196690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9" name="Shape 48">
            <a:extLst>
              <a:ext uri="{FF2B5EF4-FFF2-40B4-BE49-F238E27FC236}">
                <a16:creationId xmlns:a16="http://schemas.microsoft.com/office/drawing/2014/main" id="{61730312-F5BE-A809-1FBA-3E4FB5FB0A7F}"/>
              </a:ext>
            </a:extLst>
          </p:cNvPr>
          <p:cNvSpPr/>
          <p:nvPr/>
        </p:nvSpPr>
        <p:spPr>
          <a:xfrm>
            <a:off x="1811814" y="5436583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0" name="Text 49">
            <a:extLst>
              <a:ext uri="{FF2B5EF4-FFF2-40B4-BE49-F238E27FC236}">
                <a16:creationId xmlns:a16="http://schemas.microsoft.com/office/drawing/2014/main" id="{BE6E1249-284B-6943-2DF6-E78658BCBD6A}"/>
              </a:ext>
            </a:extLst>
          </p:cNvPr>
          <p:cNvSpPr/>
          <p:nvPr/>
        </p:nvSpPr>
        <p:spPr>
          <a:xfrm>
            <a:off x="1811814" y="5436583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1" name="Shape 50">
            <a:extLst>
              <a:ext uri="{FF2B5EF4-FFF2-40B4-BE49-F238E27FC236}">
                <a16:creationId xmlns:a16="http://schemas.microsoft.com/office/drawing/2014/main" id="{02595CBF-4941-0DD1-1846-B32E26CFFE5E}"/>
              </a:ext>
            </a:extLst>
          </p:cNvPr>
          <p:cNvSpPr/>
          <p:nvPr/>
        </p:nvSpPr>
        <p:spPr>
          <a:xfrm>
            <a:off x="2082997" y="5353142"/>
            <a:ext cx="1750738" cy="3754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82" name="Text 53">
            <a:extLst>
              <a:ext uri="{FF2B5EF4-FFF2-40B4-BE49-F238E27FC236}">
                <a16:creationId xmlns:a16="http://schemas.microsoft.com/office/drawing/2014/main" id="{7E0AC7EB-C18E-4488-A612-FBCF644A11F3}"/>
              </a:ext>
            </a:extLst>
          </p:cNvPr>
          <p:cNvSpPr/>
          <p:nvPr/>
        </p:nvSpPr>
        <p:spPr>
          <a:xfrm>
            <a:off x="645929" y="4625478"/>
            <a:ext cx="907728" cy="2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sp>
        <p:nvSpPr>
          <p:cNvPr id="83" name="Shape 52">
            <a:extLst>
              <a:ext uri="{FF2B5EF4-FFF2-40B4-BE49-F238E27FC236}">
                <a16:creationId xmlns:a16="http://schemas.microsoft.com/office/drawing/2014/main" id="{E4F9352D-D205-F981-8343-2302F8CC16CE}"/>
              </a:ext>
            </a:extLst>
          </p:cNvPr>
          <p:cNvSpPr/>
          <p:nvPr/>
        </p:nvSpPr>
        <p:spPr>
          <a:xfrm flipH="1">
            <a:off x="1616238" y="3812938"/>
            <a:ext cx="87009" cy="19213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ko-KR" altLang="en-US" sz="2053" dirty="0"/>
          </a:p>
        </p:txBody>
      </p:sp>
      <p:sp>
        <p:nvSpPr>
          <p:cNvPr id="84" name="Shape 47">
            <a:extLst>
              <a:ext uri="{FF2B5EF4-FFF2-40B4-BE49-F238E27FC236}">
                <a16:creationId xmlns:a16="http://schemas.microsoft.com/office/drawing/2014/main" id="{6F7ADECD-EFFE-65B2-B30D-858C23D3CE20}"/>
              </a:ext>
            </a:extLst>
          </p:cNvPr>
          <p:cNvSpPr/>
          <p:nvPr/>
        </p:nvSpPr>
        <p:spPr>
          <a:xfrm>
            <a:off x="2884980" y="5734279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5" name="Shape 50">
            <a:extLst>
              <a:ext uri="{FF2B5EF4-FFF2-40B4-BE49-F238E27FC236}">
                <a16:creationId xmlns:a16="http://schemas.microsoft.com/office/drawing/2014/main" id="{662AB15F-A714-3700-CDFC-437B7B4E1E7F}"/>
              </a:ext>
            </a:extLst>
          </p:cNvPr>
          <p:cNvSpPr/>
          <p:nvPr/>
        </p:nvSpPr>
        <p:spPr>
          <a:xfrm>
            <a:off x="2078765" y="5884382"/>
            <a:ext cx="1616667" cy="7066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US" altLang="ko-KR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</a:p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C0B40004-0CAE-53A7-D21F-A8FB2C3FB4DF}"/>
              </a:ext>
            </a:extLst>
          </p:cNvPr>
          <p:cNvGrpSpPr/>
          <p:nvPr/>
        </p:nvGrpSpPr>
        <p:grpSpPr>
          <a:xfrm>
            <a:off x="7144777" y="2135654"/>
            <a:ext cx="3865525" cy="2281037"/>
            <a:chOff x="7144777" y="2316629"/>
            <a:chExt cx="3865525" cy="2281037"/>
          </a:xfrm>
        </p:grpSpPr>
        <p:sp>
          <p:nvSpPr>
            <p:cNvPr id="87" name="Text 5">
              <a:extLst>
                <a:ext uri="{FF2B5EF4-FFF2-40B4-BE49-F238E27FC236}">
                  <a16:creationId xmlns:a16="http://schemas.microsoft.com/office/drawing/2014/main" id="{137FA87E-9D06-5351-D16D-85BD34E18921}"/>
                </a:ext>
              </a:extLst>
            </p:cNvPr>
            <p:cNvSpPr/>
            <p:nvPr/>
          </p:nvSpPr>
          <p:spPr>
            <a:xfrm>
              <a:off x="7674757" y="2316629"/>
              <a:ext cx="2413730" cy="552727"/>
            </a:xfrm>
            <a:prstGeom prst="rect">
              <a:avLst/>
            </a:prstGeom>
            <a:noFill/>
            <a:ln>
              <a:solidFill>
                <a:srgbClr val="034443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600" dirty="0"/>
                <a:t>contents</a:t>
              </a:r>
              <a:endParaRPr lang="ko-KR" altLang="en-US" sz="1600" dirty="0"/>
            </a:p>
          </p:txBody>
        </p:sp>
        <p:sp>
          <p:nvSpPr>
            <p:cNvPr id="88" name="Shape 6">
              <a:extLst>
                <a:ext uri="{FF2B5EF4-FFF2-40B4-BE49-F238E27FC236}">
                  <a16:creationId xmlns:a16="http://schemas.microsoft.com/office/drawing/2014/main" id="{238F1E34-37A9-A00A-ACFA-E01218A6B843}"/>
                </a:ext>
              </a:extLst>
            </p:cNvPr>
            <p:cNvSpPr/>
            <p:nvPr/>
          </p:nvSpPr>
          <p:spPr>
            <a:xfrm>
              <a:off x="9824026" y="2934395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89" name="Shape 9">
              <a:extLst>
                <a:ext uri="{FF2B5EF4-FFF2-40B4-BE49-F238E27FC236}">
                  <a16:creationId xmlns:a16="http://schemas.microsoft.com/office/drawing/2014/main" id="{A23107CE-21B5-07AB-9EBB-CA05B9070144}"/>
                </a:ext>
              </a:extLst>
            </p:cNvPr>
            <p:cNvSpPr/>
            <p:nvPr/>
          </p:nvSpPr>
          <p:spPr>
            <a:xfrm>
              <a:off x="9015693" y="3146997"/>
              <a:ext cx="1736845" cy="3754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0" name="Text 10">
              <a:extLst>
                <a:ext uri="{FF2B5EF4-FFF2-40B4-BE49-F238E27FC236}">
                  <a16:creationId xmlns:a16="http://schemas.microsoft.com/office/drawing/2014/main" id="{4C89BFB2-DBB3-17D5-AC25-AE0F98F322AA}"/>
                </a:ext>
              </a:extLst>
            </p:cNvPr>
            <p:cNvSpPr/>
            <p:nvPr/>
          </p:nvSpPr>
          <p:spPr>
            <a:xfrm>
              <a:off x="9015693" y="3146997"/>
              <a:ext cx="1736844" cy="375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600" dirty="0"/>
                <a:t>contents</a:t>
              </a:r>
              <a:endParaRPr lang="ko-KR" altLang="en-US" sz="1600" dirty="0"/>
            </a:p>
          </p:txBody>
        </p:sp>
        <p:sp>
          <p:nvSpPr>
            <p:cNvPr id="91" name="Shape 16">
              <a:extLst>
                <a:ext uri="{FF2B5EF4-FFF2-40B4-BE49-F238E27FC236}">
                  <a16:creationId xmlns:a16="http://schemas.microsoft.com/office/drawing/2014/main" id="{4C5E168F-F801-8753-4A4B-8AF8EFA7147D}"/>
                </a:ext>
              </a:extLst>
            </p:cNvPr>
            <p:cNvSpPr/>
            <p:nvPr/>
          </p:nvSpPr>
          <p:spPr>
            <a:xfrm>
              <a:off x="9824026" y="3522481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2" name="Shape 19">
              <a:extLst>
                <a:ext uri="{FF2B5EF4-FFF2-40B4-BE49-F238E27FC236}">
                  <a16:creationId xmlns:a16="http://schemas.microsoft.com/office/drawing/2014/main" id="{CFC6405C-F7D8-3559-0ACF-55013E66F22D}"/>
                </a:ext>
              </a:extLst>
            </p:cNvPr>
            <p:cNvSpPr/>
            <p:nvPr/>
          </p:nvSpPr>
          <p:spPr>
            <a:xfrm>
              <a:off x="9015693" y="3678933"/>
              <a:ext cx="1736845" cy="3754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3" name="Text 20">
              <a:extLst>
                <a:ext uri="{FF2B5EF4-FFF2-40B4-BE49-F238E27FC236}">
                  <a16:creationId xmlns:a16="http://schemas.microsoft.com/office/drawing/2014/main" id="{FDDDC6A1-73F5-3779-EFA7-E0756A170F04}"/>
                </a:ext>
              </a:extLst>
            </p:cNvPr>
            <p:cNvSpPr/>
            <p:nvPr/>
          </p:nvSpPr>
          <p:spPr>
            <a:xfrm>
              <a:off x="9015693" y="3678933"/>
              <a:ext cx="1736845" cy="375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600" dirty="0"/>
                <a:t>contents</a:t>
              </a:r>
              <a:endParaRPr lang="ko-KR" altLang="en-US" sz="1600" dirty="0"/>
            </a:p>
          </p:txBody>
        </p:sp>
        <p:sp>
          <p:nvSpPr>
            <p:cNvPr id="94" name="Shape 26">
              <a:extLst>
                <a:ext uri="{FF2B5EF4-FFF2-40B4-BE49-F238E27FC236}">
                  <a16:creationId xmlns:a16="http://schemas.microsoft.com/office/drawing/2014/main" id="{9BA392EE-8196-5475-9348-887128E9C93C}"/>
                </a:ext>
              </a:extLst>
            </p:cNvPr>
            <p:cNvSpPr/>
            <p:nvPr/>
          </p:nvSpPr>
          <p:spPr>
            <a:xfrm>
              <a:off x="9824026" y="4054417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5" name="Text 28">
              <a:extLst>
                <a:ext uri="{FF2B5EF4-FFF2-40B4-BE49-F238E27FC236}">
                  <a16:creationId xmlns:a16="http://schemas.microsoft.com/office/drawing/2014/main" id="{C97C6536-38A5-0CF3-32D2-44805028B349}"/>
                </a:ext>
              </a:extLst>
            </p:cNvPr>
            <p:cNvSpPr/>
            <p:nvPr/>
          </p:nvSpPr>
          <p:spPr>
            <a:xfrm>
              <a:off x="10801700" y="4294309"/>
              <a:ext cx="208602" cy="2086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13" b="1" dirty="0">
                  <a:solidFill>
                    <a:srgbClr val="FFFFFF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endParaRPr lang="en-US" sz="913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6" name="Shape 50">
              <a:extLst>
                <a:ext uri="{FF2B5EF4-FFF2-40B4-BE49-F238E27FC236}">
                  <a16:creationId xmlns:a16="http://schemas.microsoft.com/office/drawing/2014/main" id="{C00870FF-77C3-410F-422E-AA06687DEAD9}"/>
                </a:ext>
              </a:extLst>
            </p:cNvPr>
            <p:cNvSpPr/>
            <p:nvPr/>
          </p:nvSpPr>
          <p:spPr>
            <a:xfrm>
              <a:off x="9015693" y="4222182"/>
              <a:ext cx="1736845" cy="375484"/>
            </a:xfrm>
            <a:prstGeom prst="rect">
              <a:avLst/>
            </a:prstGeom>
            <a:solidFill>
              <a:srgbClr val="AFE2E3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ko-KR" sz="1600" dirty="0"/>
                <a:t>contents</a:t>
              </a:r>
              <a:endParaRPr lang="ko-KR" altLang="en-US" sz="1600" dirty="0"/>
            </a:p>
          </p:txBody>
        </p:sp>
        <p:sp>
          <p:nvSpPr>
            <p:cNvPr id="97" name="Shape 50">
              <a:extLst>
                <a:ext uri="{FF2B5EF4-FFF2-40B4-BE49-F238E27FC236}">
                  <a16:creationId xmlns:a16="http://schemas.microsoft.com/office/drawing/2014/main" id="{9CC541BF-56B2-0E70-80D8-914AFC9259E8}"/>
                </a:ext>
              </a:extLst>
            </p:cNvPr>
            <p:cNvSpPr/>
            <p:nvPr/>
          </p:nvSpPr>
          <p:spPr>
            <a:xfrm>
              <a:off x="7151793" y="3146997"/>
              <a:ext cx="1736845" cy="375484"/>
            </a:xfrm>
            <a:prstGeom prst="rect">
              <a:avLst/>
            </a:prstGeom>
            <a:solidFill>
              <a:srgbClr val="AFE2E3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ko-KR" sz="1600" dirty="0"/>
                <a:t>contents</a:t>
              </a:r>
              <a:endParaRPr lang="ko-KR" altLang="en-US" sz="1600" dirty="0"/>
            </a:p>
          </p:txBody>
        </p:sp>
        <p:sp>
          <p:nvSpPr>
            <p:cNvPr id="98" name="Shape 26">
              <a:extLst>
                <a:ext uri="{FF2B5EF4-FFF2-40B4-BE49-F238E27FC236}">
                  <a16:creationId xmlns:a16="http://schemas.microsoft.com/office/drawing/2014/main" id="{DDB24ABD-363B-066E-46BC-51BD901A60E4}"/>
                </a:ext>
              </a:extLst>
            </p:cNvPr>
            <p:cNvSpPr/>
            <p:nvPr/>
          </p:nvSpPr>
          <p:spPr>
            <a:xfrm>
              <a:off x="8020215" y="2934395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9" name="Shape 6">
              <a:extLst>
                <a:ext uri="{FF2B5EF4-FFF2-40B4-BE49-F238E27FC236}">
                  <a16:creationId xmlns:a16="http://schemas.microsoft.com/office/drawing/2014/main" id="{8923DF5F-5BC3-51F2-389B-21A197741F30}"/>
                </a:ext>
              </a:extLst>
            </p:cNvPr>
            <p:cNvSpPr/>
            <p:nvPr/>
          </p:nvSpPr>
          <p:spPr>
            <a:xfrm>
              <a:off x="8020215" y="3540366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100" name="Shape 9">
              <a:extLst>
                <a:ext uri="{FF2B5EF4-FFF2-40B4-BE49-F238E27FC236}">
                  <a16:creationId xmlns:a16="http://schemas.microsoft.com/office/drawing/2014/main" id="{5E4E3B33-63F7-E102-D5C7-8C046530C887}"/>
                </a:ext>
              </a:extLst>
            </p:cNvPr>
            <p:cNvSpPr/>
            <p:nvPr/>
          </p:nvSpPr>
          <p:spPr>
            <a:xfrm>
              <a:off x="7144777" y="3678933"/>
              <a:ext cx="1736845" cy="3754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101" name="Text 10">
              <a:extLst>
                <a:ext uri="{FF2B5EF4-FFF2-40B4-BE49-F238E27FC236}">
                  <a16:creationId xmlns:a16="http://schemas.microsoft.com/office/drawing/2014/main" id="{628DF02B-DA3D-F385-D89E-8B0862955A5F}"/>
                </a:ext>
              </a:extLst>
            </p:cNvPr>
            <p:cNvSpPr/>
            <p:nvPr/>
          </p:nvSpPr>
          <p:spPr>
            <a:xfrm>
              <a:off x="7151793" y="3696818"/>
              <a:ext cx="1736844" cy="375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600" dirty="0"/>
                <a:t>contents</a:t>
              </a:r>
              <a:endParaRPr lang="ko-KR" altLang="en-US" sz="1600" dirty="0"/>
            </a:p>
          </p:txBody>
        </p:sp>
      </p:grpSp>
      <p:sp>
        <p:nvSpPr>
          <p:cNvPr id="103" name="Shape 50">
            <a:extLst>
              <a:ext uri="{FF2B5EF4-FFF2-40B4-BE49-F238E27FC236}">
                <a16:creationId xmlns:a16="http://schemas.microsoft.com/office/drawing/2014/main" id="{EAC5987D-F28C-DBC2-220A-0982FC184F68}"/>
              </a:ext>
            </a:extLst>
          </p:cNvPr>
          <p:cNvSpPr/>
          <p:nvPr/>
        </p:nvSpPr>
        <p:spPr>
          <a:xfrm>
            <a:off x="8576182" y="6403385"/>
            <a:ext cx="1616667" cy="405049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105" name="Shape 19">
            <a:extLst>
              <a:ext uri="{FF2B5EF4-FFF2-40B4-BE49-F238E27FC236}">
                <a16:creationId xmlns:a16="http://schemas.microsoft.com/office/drawing/2014/main" id="{DD0FEEFF-DACB-D3FE-4F62-EF93D6D6DE17}"/>
              </a:ext>
            </a:extLst>
          </p:cNvPr>
          <p:cNvSpPr/>
          <p:nvPr/>
        </p:nvSpPr>
        <p:spPr>
          <a:xfrm>
            <a:off x="9039299" y="4583487"/>
            <a:ext cx="1736845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US" altLang="ko-KR" sz="1600" dirty="0"/>
              <a:t>contents</a:t>
            </a:r>
            <a:endParaRPr lang="ko-KR" altLang="en-US" sz="1600" dirty="0"/>
          </a:p>
        </p:txBody>
      </p:sp>
      <p:sp>
        <p:nvSpPr>
          <p:cNvPr id="106" name="Shape 26">
            <a:extLst>
              <a:ext uri="{FF2B5EF4-FFF2-40B4-BE49-F238E27FC236}">
                <a16:creationId xmlns:a16="http://schemas.microsoft.com/office/drawing/2014/main" id="{A30CBC21-3799-B9C3-DCC0-3C36C66103C7}"/>
              </a:ext>
            </a:extLst>
          </p:cNvPr>
          <p:cNvSpPr/>
          <p:nvPr/>
        </p:nvSpPr>
        <p:spPr>
          <a:xfrm>
            <a:off x="9824026" y="4416691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7" name="Shape 52">
            <a:extLst>
              <a:ext uri="{FF2B5EF4-FFF2-40B4-BE49-F238E27FC236}">
                <a16:creationId xmlns:a16="http://schemas.microsoft.com/office/drawing/2014/main" id="{AD8D9DFC-38F9-06C9-0E7D-192B9665F94B}"/>
              </a:ext>
            </a:extLst>
          </p:cNvPr>
          <p:cNvSpPr/>
          <p:nvPr/>
        </p:nvSpPr>
        <p:spPr>
          <a:xfrm flipH="1">
            <a:off x="10825306" y="3978980"/>
            <a:ext cx="87009" cy="612000"/>
          </a:xfrm>
          <a:prstGeom prst="rect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/>
          </a:p>
        </p:txBody>
      </p:sp>
      <p:sp>
        <p:nvSpPr>
          <p:cNvPr id="108" name="Shape 27">
            <a:extLst>
              <a:ext uri="{FF2B5EF4-FFF2-40B4-BE49-F238E27FC236}">
                <a16:creationId xmlns:a16="http://schemas.microsoft.com/office/drawing/2014/main" id="{3461592C-06B0-BDBC-C83D-C2937BB16784}"/>
              </a:ext>
            </a:extLst>
          </p:cNvPr>
          <p:cNvSpPr/>
          <p:nvPr/>
        </p:nvSpPr>
        <p:spPr>
          <a:xfrm>
            <a:off x="10973352" y="4188854"/>
            <a:ext cx="208602" cy="208602"/>
          </a:xfrm>
          <a:prstGeom prst="ellipse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AE7EBC9E-04E3-A0C0-FF39-4A0D9E5D8F92}"/>
              </a:ext>
            </a:extLst>
          </p:cNvPr>
          <p:cNvSpPr/>
          <p:nvPr/>
        </p:nvSpPr>
        <p:spPr>
          <a:xfrm>
            <a:off x="10973352" y="4195809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0" name="Text 93">
            <a:extLst>
              <a:ext uri="{FF2B5EF4-FFF2-40B4-BE49-F238E27FC236}">
                <a16:creationId xmlns:a16="http://schemas.microsoft.com/office/drawing/2014/main" id="{FBB2727B-FBAD-8993-CD20-609AE9CFFAC5}"/>
              </a:ext>
            </a:extLst>
          </p:cNvPr>
          <p:cNvSpPr/>
          <p:nvPr/>
        </p:nvSpPr>
        <p:spPr>
          <a:xfrm>
            <a:off x="11220484" y="4161712"/>
            <a:ext cx="992833" cy="38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ko-KR" altLang="en-US" sz="16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sp>
        <p:nvSpPr>
          <p:cNvPr id="111" name="Shape 52">
            <a:extLst>
              <a:ext uri="{FF2B5EF4-FFF2-40B4-BE49-F238E27FC236}">
                <a16:creationId xmlns:a16="http://schemas.microsoft.com/office/drawing/2014/main" id="{B8D58A01-0D25-5521-C480-15C5B3433D9A}"/>
              </a:ext>
            </a:extLst>
          </p:cNvPr>
          <p:cNvSpPr/>
          <p:nvPr/>
        </p:nvSpPr>
        <p:spPr>
          <a:xfrm flipH="1">
            <a:off x="7004695" y="2863898"/>
            <a:ext cx="87009" cy="612000"/>
          </a:xfrm>
          <a:prstGeom prst="rect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/>
          </a:p>
        </p:txBody>
      </p:sp>
      <p:sp>
        <p:nvSpPr>
          <p:cNvPr id="112" name="Shape 27">
            <a:extLst>
              <a:ext uri="{FF2B5EF4-FFF2-40B4-BE49-F238E27FC236}">
                <a16:creationId xmlns:a16="http://schemas.microsoft.com/office/drawing/2014/main" id="{A590C424-7256-4F6A-3CAD-ACF924F6BC7E}"/>
              </a:ext>
            </a:extLst>
          </p:cNvPr>
          <p:cNvSpPr/>
          <p:nvPr/>
        </p:nvSpPr>
        <p:spPr>
          <a:xfrm>
            <a:off x="6743159" y="3073772"/>
            <a:ext cx="208602" cy="208602"/>
          </a:xfrm>
          <a:prstGeom prst="ellipse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3" name="Text 28">
            <a:extLst>
              <a:ext uri="{FF2B5EF4-FFF2-40B4-BE49-F238E27FC236}">
                <a16:creationId xmlns:a16="http://schemas.microsoft.com/office/drawing/2014/main" id="{22D78759-D657-2672-989F-3E15C916E552}"/>
              </a:ext>
            </a:extLst>
          </p:cNvPr>
          <p:cNvSpPr/>
          <p:nvPr/>
        </p:nvSpPr>
        <p:spPr>
          <a:xfrm>
            <a:off x="6743159" y="3080727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A34B5965-A051-5F2A-F25D-1F53EB1797D9}"/>
              </a:ext>
            </a:extLst>
          </p:cNvPr>
          <p:cNvGrpSpPr/>
          <p:nvPr/>
        </p:nvGrpSpPr>
        <p:grpSpPr>
          <a:xfrm>
            <a:off x="7173946" y="5069681"/>
            <a:ext cx="2172444" cy="1294663"/>
            <a:chOff x="7151793" y="5069681"/>
            <a:chExt cx="2172444" cy="1294663"/>
          </a:xfrm>
        </p:grpSpPr>
        <p:sp>
          <p:nvSpPr>
            <p:cNvPr id="114" name="Rectangle 11">
              <a:extLst>
                <a:ext uri="{FF2B5EF4-FFF2-40B4-BE49-F238E27FC236}">
                  <a16:creationId xmlns:a16="http://schemas.microsoft.com/office/drawing/2014/main" id="{8355C1C7-896C-C9D3-F9BD-945C8076A887}"/>
                </a:ext>
              </a:extLst>
            </p:cNvPr>
            <p:cNvSpPr/>
            <p:nvPr/>
          </p:nvSpPr>
          <p:spPr>
            <a:xfrm>
              <a:off x="7151793" y="5069681"/>
              <a:ext cx="2172444" cy="1294663"/>
            </a:xfrm>
            <a:prstGeom prst="rect">
              <a:avLst/>
            </a:prstGeom>
            <a:solidFill>
              <a:srgbClr val="E7EAED"/>
            </a:solidFill>
            <a:ln w="12700">
              <a:solidFill>
                <a:srgbClr val="C6CB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9B231B-E7F7-A085-4A07-1976368BCE34}"/>
                </a:ext>
              </a:extLst>
            </p:cNvPr>
            <p:cNvSpPr txBox="1"/>
            <p:nvPr/>
          </p:nvSpPr>
          <p:spPr>
            <a:xfrm>
              <a:off x="7197513" y="5585131"/>
              <a:ext cx="2096218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100" b="0">
                  <a:solidFill>
                    <a:srgbClr val="697178"/>
                  </a:solidFill>
                  <a:latin typeface="Arial"/>
                </a:rPr>
                <a:t>IMAGE / VISUAL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EF083C97-94F3-5D04-DB59-89E811192F6C}"/>
              </a:ext>
            </a:extLst>
          </p:cNvPr>
          <p:cNvGrpSpPr/>
          <p:nvPr/>
        </p:nvGrpSpPr>
        <p:grpSpPr>
          <a:xfrm>
            <a:off x="9382912" y="5069681"/>
            <a:ext cx="2172444" cy="1294663"/>
            <a:chOff x="9489540" y="5069681"/>
            <a:chExt cx="2172444" cy="1294663"/>
          </a:xfrm>
        </p:grpSpPr>
        <p:sp>
          <p:nvSpPr>
            <p:cNvPr id="116" name="Rectangle 11">
              <a:extLst>
                <a:ext uri="{FF2B5EF4-FFF2-40B4-BE49-F238E27FC236}">
                  <a16:creationId xmlns:a16="http://schemas.microsoft.com/office/drawing/2014/main" id="{C23D3054-B3B1-3CA1-3358-274705107C0F}"/>
                </a:ext>
              </a:extLst>
            </p:cNvPr>
            <p:cNvSpPr/>
            <p:nvPr/>
          </p:nvSpPr>
          <p:spPr>
            <a:xfrm>
              <a:off x="9489540" y="5069681"/>
              <a:ext cx="2172444" cy="1294663"/>
            </a:xfrm>
            <a:prstGeom prst="rect">
              <a:avLst/>
            </a:prstGeom>
            <a:solidFill>
              <a:srgbClr val="E7EAED"/>
            </a:solidFill>
            <a:ln w="12700">
              <a:solidFill>
                <a:srgbClr val="C6CB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D76E440-65A0-A39D-9EFA-63424BA9520C}"/>
                </a:ext>
              </a:extLst>
            </p:cNvPr>
            <p:cNvSpPr txBox="1"/>
            <p:nvPr/>
          </p:nvSpPr>
          <p:spPr>
            <a:xfrm>
              <a:off x="9535260" y="5585131"/>
              <a:ext cx="2096218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100" b="0">
                  <a:solidFill>
                    <a:srgbClr val="697178"/>
                  </a:solidFill>
                  <a:latin typeface="Arial"/>
                </a:rPr>
                <a:t>IMAGE / VISUAL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29  Hub &amp; Spoke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Central conclusion + surrounding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291840" cy="4434840"/>
          </a:xfrm>
          <a:prstGeom prst="rect">
            <a:avLst/>
          </a:prstGeom>
          <a:solidFill>
            <a:srgbClr val="F2F4F6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2272B"/>
                </a:solidFill>
                <a:latin typeface="Arial"/>
              </a:rPr>
              <a:t>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74136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41064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7178"/>
                </a:solidFill>
                <a:latin typeface="Arial"/>
              </a:rPr>
              <a:t>• Supporting point 4</a:t>
            </a:r>
          </a:p>
        </p:txBody>
      </p:sp>
      <p:sp>
        <p:nvSpPr>
          <p:cNvPr id="12" name="Oval 11"/>
          <p:cNvSpPr/>
          <p:nvPr/>
        </p:nvSpPr>
        <p:spPr>
          <a:xfrm>
            <a:off x="6903720" y="2834640"/>
            <a:ext cx="1828800" cy="1188720"/>
          </a:xfrm>
          <a:prstGeom prst="ellipse">
            <a:avLst/>
          </a:prstGeom>
          <a:solidFill>
            <a:srgbClr val="E7EAED"/>
          </a:solidFill>
          <a:ln>
            <a:solidFill>
              <a:srgbClr val="2D6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971800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D605E"/>
                </a:solidFill>
                <a:latin typeface="Arial"/>
              </a:rPr>
              <a:t>CORE
CONCLUSION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141732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161848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1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0" y="141732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2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457200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477316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3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4572000"/>
            <a:ext cx="1600200" cy="822960"/>
          </a:xfrm>
          <a:prstGeom prst="ellipse">
            <a:avLst/>
          </a:prstGeom>
          <a:solidFill>
            <a:srgbClr val="F2F4F6"/>
          </a:solidFill>
          <a:ln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4773168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178"/>
                </a:solidFill>
                <a:latin typeface="Arial"/>
              </a:rPr>
              <a:t>FACTOR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2272B"/>
                </a:solidFill>
                <a:latin typeface="Arial"/>
              </a:rPr>
              <a:t>30  Image Gallery + Conclusion Banner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10896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697178"/>
                </a:solidFill>
                <a:latin typeface="Arial"/>
              </a:rPr>
              <a:t>Three images / captions + bottom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22960"/>
            <a:ext cx="10972800" cy="10972"/>
          </a:xfrm>
          <a:prstGeom prst="rect">
            <a:avLst/>
          </a:prstGeom>
          <a:solidFill>
            <a:srgbClr val="C6CBD0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97178"/>
                </a:solidFill>
                <a:latin typeface="Arial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246120" cy="3154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154679" cy="3063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451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CAPTION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Keyword / short 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3246120" cy="3154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371600"/>
            <a:ext cx="3154679" cy="3063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451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CAPTION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01091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Keyword / short 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3246120" cy="31546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1371600"/>
            <a:ext cx="3154679" cy="3063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97178"/>
                </a:solidFill>
                <a:latin typeface="Arial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6451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72B"/>
                </a:solidFill>
                <a:latin typeface="Arial"/>
              </a:rPr>
              <a:t>CAPTION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010912"/>
            <a:ext cx="3246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697178"/>
                </a:solidFill>
                <a:latin typeface="Arial"/>
              </a:rPr>
              <a:t>Keyword / short 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32120"/>
            <a:ext cx="10652760" cy="566928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632704"/>
            <a:ext cx="10652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605E"/>
                </a:solidFill>
                <a:latin typeface="Arial"/>
              </a:rPr>
              <a:t>ONE-SENTENCE CONCLUSION / KEY TAKEAWAY BANNER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31  Company Overview +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Pretendard"/>
              </a:rPr>
              <a:t>회사소개 / 사업장 소개 등에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2004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5BF7F"/>
                </a:solidFill>
                <a:latin typeface="Pretendard"/>
              </a:rPr>
              <a:t>LAYOUT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005151"/>
                </a:solidFill>
                <a:latin typeface="Pretendard"/>
              </a:rPr>
              <a:t>핵심 메시지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727272"/>
                </a:solidFill>
                <a:latin typeface="Pretendard"/>
              </a:rPr>
              <a:t>회사 또는 사업장의 정체성을 한 문장으로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기업명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423160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80360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026664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대표자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26664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483864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630168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임직원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630168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087368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233672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소재지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233672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690872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837176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"/>
              </a:rPr>
              <a:t>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837176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내용 입력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5294376"/>
            <a:ext cx="6035040" cy="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82338" y="731520"/>
            <a:ext cx="3784821" cy="5486400"/>
          </a:xfrm>
          <a:prstGeom prst="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3291840"/>
            <a:ext cx="4251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5DECB66B-460C-8FD5-E5D8-A78DDBB40FD9}"/>
              </a:ext>
            </a:extLst>
          </p:cNvPr>
          <p:cNvSpPr/>
          <p:nvPr/>
        </p:nvSpPr>
        <p:spPr>
          <a:xfrm>
            <a:off x="4404360" y="1325880"/>
            <a:ext cx="1691640" cy="1005840"/>
          </a:xfrm>
          <a:prstGeom prst="roundRect">
            <a:avLst/>
          </a:prstGeom>
          <a:solidFill>
            <a:srgbClr val="F4F6F6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84421934-1973-377E-1DEC-896195820E35}"/>
              </a:ext>
            </a:extLst>
          </p:cNvPr>
          <p:cNvSpPr/>
          <p:nvPr/>
        </p:nvSpPr>
        <p:spPr>
          <a:xfrm>
            <a:off x="2560320" y="1325880"/>
            <a:ext cx="1691640" cy="1005840"/>
          </a:xfrm>
          <a:prstGeom prst="roundRect">
            <a:avLst/>
          </a:prstGeom>
          <a:solidFill>
            <a:srgbClr val="F4F6F6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32  Composite Data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Pretendard"/>
              </a:rPr>
              <a:t>IR 실적 / 시장 / 사업현황 등 여러 지표를 한 장에서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2004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5BF7F"/>
                </a:solidFill>
                <a:latin typeface="Pretendard"/>
              </a:rPr>
              <a:t>LAYOUT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691640" cy="1005840"/>
          </a:xfrm>
          <a:prstGeom prst="roundRect">
            <a:avLst/>
          </a:prstGeom>
          <a:solidFill>
            <a:srgbClr val="F4F6F6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554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05151"/>
                </a:solidFill>
                <a:latin typeface="Pretendard"/>
              </a:rPr>
              <a:t>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727272"/>
                </a:solidFill>
                <a:latin typeface="Pretendard"/>
              </a:rPr>
              <a:t>KPI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1481328"/>
            <a:ext cx="1554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005151"/>
                </a:solidFill>
                <a:latin typeface="Pretendard"/>
              </a:rPr>
              <a:t>₩120억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19019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727272"/>
                </a:solidFill>
                <a:latin typeface="Pretendard"/>
              </a:rPr>
              <a:t>KPI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1554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005151"/>
                </a:solidFill>
                <a:latin typeface="Pretendard"/>
              </a:rPr>
              <a:t>98.2%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01952"/>
            <a:ext cx="1554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727272"/>
                </a:solidFill>
                <a:latin typeface="Pretendard"/>
              </a:rPr>
              <a:t>KPI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51760"/>
            <a:ext cx="53492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5349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727272"/>
                </a:solidFill>
                <a:latin typeface="Pretendard"/>
              </a:rPr>
              <a:t>MAIN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212080" cy="2011680"/>
          </a:xfrm>
          <a:prstGeom prst="roundRect">
            <a:avLst/>
          </a:prstGeom>
          <a:solidFill>
            <a:srgbClr val="DFF1F1"/>
          </a:solidFill>
          <a:ln>
            <a:solidFill>
              <a:srgbClr val="A5B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005151"/>
                </a:solidFill>
                <a:latin typeface="Pretendard"/>
              </a:rPr>
              <a:t>DONUT /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1188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727272"/>
                </a:solidFill>
                <a:latin typeface="Pretendard"/>
              </a:rPr>
              <a:t>INSIGHT / MINI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5">
            <a:extLst>
              <a:ext uri="{FF2B5EF4-FFF2-40B4-BE49-F238E27FC236}">
                <a16:creationId xmlns:a16="http://schemas.microsoft.com/office/drawing/2014/main" id="{ABF77B92-3655-00DF-D3F7-D01A7CAFD119}"/>
              </a:ext>
            </a:extLst>
          </p:cNvPr>
          <p:cNvSpPr/>
          <p:nvPr/>
        </p:nvSpPr>
        <p:spPr>
          <a:xfrm>
            <a:off x="3337559" y="1624519"/>
            <a:ext cx="2468880" cy="2033081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08FFBFA7-D12B-99A8-ACF5-C7E5659EC2A2}"/>
              </a:ext>
            </a:extLst>
          </p:cNvPr>
          <p:cNvSpPr/>
          <p:nvPr/>
        </p:nvSpPr>
        <p:spPr>
          <a:xfrm>
            <a:off x="731520" y="1624519"/>
            <a:ext cx="2468880" cy="2033081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ㅋ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33  Image 2/4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98755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27272"/>
                </a:solidFill>
                <a:latin typeface="Pretendard"/>
              </a:rPr>
              <a:t>사업장 / 제품군 / 적용 분야처럼 시각 자료 중심 콘텐츠에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320040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5BF7F"/>
                </a:solidFill>
                <a:latin typeface="Pretendard"/>
              </a:rPr>
              <a:t>LAYOUT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5151"/>
                </a:solidFill>
                <a:latin typeface="Pretendard"/>
              </a:rPr>
              <a:t>2분할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Pretendard"/>
              </a:rPr>
              <a:t>캡션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947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Pretendard"/>
              </a:rPr>
              <a:t>캡션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325880"/>
            <a:ext cx="0" cy="4389120"/>
          </a:xfrm>
          <a:prstGeom prst="line">
            <a:avLst/>
          </a:prstGeom>
          <a:ln>
            <a:solidFill>
              <a:srgbClr val="D9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5151"/>
                </a:solidFill>
                <a:latin typeface="Pretendard"/>
              </a:rPr>
              <a:t>4분할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36391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136391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033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703320"/>
            <a:ext cx="2240280" cy="1417320"/>
          </a:xfrm>
          <a:prstGeom prst="roundRect">
            <a:avLst/>
          </a:prstGeom>
          <a:solidFill>
            <a:srgbClr val="EEF2F2"/>
          </a:solidFill>
          <a:ln>
            <a:solidFill>
              <a:srgbClr val="D9D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42062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27272"/>
                </a:solidFill>
                <a:latin typeface="Pretendard"/>
              </a:rPr>
              <a:t>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5193792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</a:rPr>
              <a:t>항목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t>33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D4098E15-BD6E-96A2-8EF9-0263BACF66AB}"/>
              </a:ext>
            </a:extLst>
          </p:cNvPr>
          <p:cNvSpPr/>
          <p:nvPr/>
        </p:nvSpPr>
        <p:spPr>
          <a:xfrm>
            <a:off x="777242" y="4206240"/>
            <a:ext cx="4983479" cy="1325880"/>
          </a:xfrm>
          <a:prstGeom prst="rect">
            <a:avLst/>
          </a:prstGeom>
          <a:solidFill>
            <a:srgbClr val="E7EAED"/>
          </a:solidFill>
          <a:ln w="1270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1660</Words>
  <Application>Microsoft Office PowerPoint</Application>
  <PresentationFormat>와이드스크린</PresentationFormat>
  <Paragraphs>570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Pretendard</vt:lpstr>
      <vt:lpstr>Pretendard ExtraBold</vt:lpstr>
      <vt:lpstr>Pretendard Light</vt:lpstr>
      <vt:lpstr>Pretendard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pc</cp:lastModifiedBy>
  <cp:revision>8</cp:revision>
  <dcterms:created xsi:type="dcterms:W3CDTF">2013-01-27T09:14:16Z</dcterms:created>
  <dcterms:modified xsi:type="dcterms:W3CDTF">2026-08-25T06:29:43Z</dcterms:modified>
  <cp:category/>
</cp:coreProperties>
</file>