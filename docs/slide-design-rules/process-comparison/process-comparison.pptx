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985" r:id="rId2"/>
    <p:sldId id="3870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3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498D1-0A0B-4C83-A28F-99B669CDC90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7ECEC7-B05A-4753-8F2D-7F165B520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38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923875-D1E0-F68C-7A62-C4E8D698B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1152427B-846B-4F71-945F-6017590F10DC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6842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7ABE5-EEAD-712C-4611-3CF0A8519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7ADFF6-812B-7B41-B3C6-6BD1BD4D1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9F8475-5058-F664-2A04-1396BC4CF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8607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EE932-EFC1-B587-3721-1C2ACD219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06A9EC-BB3B-3D0E-7732-BFC3B47F7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32AA62-FEDF-9477-34C6-5AD44C5D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4F782F-74E0-6CEB-7D2C-CF54544C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C791CA-060E-5084-65BA-E64DFA58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39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61DA2-CE0D-C7AC-F622-34449F48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F09367-D523-A5EC-05F4-05A4134C4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A038D-D106-2F21-4371-5E0B93AB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9C47E6-C40C-71E1-7470-72A3C8F10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37868E-5630-A66E-C0A9-90F7ACF9F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26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B668E-0E1B-8689-3596-EE9209DE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81B2E4-EBE1-13F2-3B5E-82E3320EC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B19B4D-F3E3-EACB-B491-1E4E323FE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03AAD6-D951-4664-1966-C6E732AC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02B433-C418-556F-A4BE-F2C8A116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3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0343E-ECD1-C714-AA99-C6D1B3156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34AD54-E60C-B586-DB74-058379599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4ECE84-98CD-34AF-EC90-CD5287B2E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74C84-06CC-C15E-0042-B4B0C3B3E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F894E2-CAAE-5068-9A40-7E2EFBE7A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C1FE28-AC6A-8349-B9E6-21EAC9F6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783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13033-892D-2C59-E487-1C4FA620C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A5C45B-A39D-D06D-EEF8-4E6F66AD9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716C97-39A8-861F-F48A-8F5B8C1F2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890521-0FF4-9466-BAD6-6327954A1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655361-0940-F048-FAC1-280E50576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CC1C1D-F68E-0DCA-B421-E74961A81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796F4B-2EBE-FED7-A3E3-A7B2153F3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4EFF3A-19E6-9C38-B16E-82A76EAAF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82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CA4E8A-9812-2C2F-C330-9F7B91684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258B3F-613D-36BC-5270-0A9AF035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D3B58B-7524-ADAF-2968-513705A13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9ADC77-E8D8-4611-EA20-566DA65A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177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1B9F33-AA13-5842-1E17-1B40480B7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175F03-138E-F47E-8364-3C44D79BC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5D78CC-1781-F103-7DA8-10537BCAE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EC7E8-FCFD-D258-D9E7-10B5F3790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75E359-52FC-A380-8AA9-57D5132DF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69F532-21B9-8BFB-6373-FA658841B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2D173E-9698-268E-D785-56F224C5D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7555F5-63A5-5BAF-DA3F-23E81C597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4C74BC-BF5A-BA67-C7DC-C5D21F98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527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53ADC-8F8D-2F98-05A3-5A822F4A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B72B2E-2DE1-AF07-8F49-D37A398623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46CD0A-BFD5-96E4-62BA-C96BC7B7B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1B793B-A9FA-12F6-2486-2D5F95AB1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145971-D45C-BC5B-82B1-962BF6297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106E0A-08F8-5CDD-FF91-E08549D8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213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4C63F5-FA82-CA0A-0A1E-8F7C389DF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AAA8FA-0821-A155-46DB-0C4D4947C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5AD077-3B40-6697-EBCC-64DC4769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1AA78C-5F2A-688E-C06C-9AF411780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4C006F-E5D0-8A15-541B-DCA12B31D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57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B99F0B-92AA-0BFA-CDF8-F37F201ACC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E90971-59C3-AD7F-8735-3E4B238BE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F4AEEC-5E24-07CF-6A7A-A737ACBA5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E0892-2653-BF95-67FF-510D9ADE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E9C5EE-16B7-ED3A-BA46-A7068BAD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49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C9C1648-66E6-52CF-BE99-F5B9831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7B86AF-CA55-A880-5214-78C062B2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EEB17-259C-B557-A745-CFB18EC88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A059A2-5285-C941-653C-26D64DCD5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ECA62F-469B-176D-C558-30B84AF9E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80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8CEB1-4506-F508-A1B1-ABEEB5026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TextBox 14">
            <a:extLst>
              <a:ext uri="{FF2B5EF4-FFF2-40B4-BE49-F238E27FC236}">
                <a16:creationId xmlns:a16="http://schemas.microsoft.com/office/drawing/2014/main" id="{B0F5FB93-6243-F11C-D408-6C5EBED876F6}"/>
              </a:ext>
            </a:extLst>
          </p:cNvPr>
          <p:cNvSpPr txBox="1"/>
          <p:nvPr/>
        </p:nvSpPr>
        <p:spPr>
          <a:xfrm>
            <a:off x="396240" y="792581"/>
            <a:ext cx="3444854" cy="442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3000" spc="-30">
                <a:solidFill>
                  <a:srgbClr val="0F1E1F"/>
                </a:solidFill>
                <a:latin typeface="G마켓 산스 Bold"/>
                <a:ea typeface="G마켓 산스 Bold"/>
                <a:cs typeface="G마켓 산스 Bold"/>
                <a:sym typeface="G마켓 산스 Bold"/>
              </a:defRPr>
            </a:lvl1pPr>
          </a:lstStyle>
          <a:p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재활용 공정 현황 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(1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세대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lang="ko-KR" altLang="en-US" sz="2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1304" name="그래픽 64">
            <a:extLst>
              <a:ext uri="{FF2B5EF4-FFF2-40B4-BE49-F238E27FC236}">
                <a16:creationId xmlns:a16="http://schemas.microsoft.com/office/drawing/2014/main" id="{10DD7DF5-C294-A30B-97B2-A4616CAF4432}"/>
              </a:ext>
            </a:extLst>
          </p:cNvPr>
          <p:cNvGrpSpPr/>
          <p:nvPr/>
        </p:nvGrpSpPr>
        <p:grpSpPr>
          <a:xfrm>
            <a:off x="442489" y="294939"/>
            <a:ext cx="1093353" cy="166691"/>
            <a:chOff x="0" y="0"/>
            <a:chExt cx="1093351" cy="166689"/>
          </a:xfrm>
        </p:grpSpPr>
        <p:sp>
          <p:nvSpPr>
            <p:cNvPr id="1297" name="자유형: 도형 76">
              <a:extLst>
                <a:ext uri="{FF2B5EF4-FFF2-40B4-BE49-F238E27FC236}">
                  <a16:creationId xmlns:a16="http://schemas.microsoft.com/office/drawing/2014/main" id="{4B9F1165-3656-0ECB-25E4-FA009847A253}"/>
                </a:ext>
              </a:extLst>
            </p:cNvPr>
            <p:cNvSpPr/>
            <p:nvPr/>
          </p:nvSpPr>
          <p:spPr>
            <a:xfrm>
              <a:off x="357283" y="1"/>
              <a:ext cx="118583" cy="166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5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7" y="20921"/>
                  </a:cubicBezTo>
                  <a:cubicBezTo>
                    <a:pt x="12340" y="20944"/>
                    <a:pt x="13592" y="20745"/>
                    <a:pt x="14723" y="20341"/>
                  </a:cubicBezTo>
                  <a:cubicBezTo>
                    <a:pt x="15880" y="20004"/>
                    <a:pt x="16892" y="19454"/>
                    <a:pt x="17655" y="18748"/>
                  </a:cubicBezTo>
                  <a:cubicBezTo>
                    <a:pt x="18349" y="18096"/>
                    <a:pt x="18722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8"/>
                  </a:cubicBezTo>
                  <a:cubicBezTo>
                    <a:pt x="14505" y="12643"/>
                    <a:pt x="13123" y="12176"/>
                    <a:pt x="11320" y="11617"/>
                  </a:cubicBezTo>
                  <a:lnTo>
                    <a:pt x="10059" y="11232"/>
                  </a:lnTo>
                  <a:cubicBezTo>
                    <a:pt x="7594" y="10459"/>
                    <a:pt x="5707" y="9815"/>
                    <a:pt x="4400" y="9300"/>
                  </a:cubicBezTo>
                  <a:cubicBezTo>
                    <a:pt x="3241" y="8870"/>
                    <a:pt x="2208" y="8286"/>
                    <a:pt x="1357" y="7578"/>
                  </a:cubicBezTo>
                  <a:cubicBezTo>
                    <a:pt x="627" y="6938"/>
                    <a:pt x="239" y="6133"/>
                    <a:pt x="263" y="5307"/>
                  </a:cubicBezTo>
                  <a:cubicBezTo>
                    <a:pt x="246" y="4289"/>
                    <a:pt x="743" y="3301"/>
                    <a:pt x="1662" y="2522"/>
                  </a:cubicBezTo>
                  <a:cubicBezTo>
                    <a:pt x="2655" y="1688"/>
                    <a:pt x="3928" y="1047"/>
                    <a:pt x="5362" y="659"/>
                  </a:cubicBezTo>
                  <a:cubicBezTo>
                    <a:pt x="7168" y="214"/>
                    <a:pt x="9066" y="-9"/>
                    <a:pt x="10977" y="0"/>
                  </a:cubicBezTo>
                  <a:cubicBezTo>
                    <a:pt x="12985" y="-6"/>
                    <a:pt x="14966" y="336"/>
                    <a:pt x="16748" y="997"/>
                  </a:cubicBezTo>
                  <a:cubicBezTo>
                    <a:pt x="18421" y="1571"/>
                    <a:pt x="19783" y="2521"/>
                    <a:pt x="20626" y="3701"/>
                  </a:cubicBezTo>
                  <a:lnTo>
                    <a:pt x="20040" y="4216"/>
                  </a:lnTo>
                  <a:cubicBezTo>
                    <a:pt x="19250" y="3073"/>
                    <a:pt x="17949" y="2150"/>
                    <a:pt x="16343" y="1593"/>
                  </a:cubicBezTo>
                  <a:cubicBezTo>
                    <a:pt x="14719" y="976"/>
                    <a:pt x="12911" y="650"/>
                    <a:pt x="11072" y="643"/>
                  </a:cubicBezTo>
                  <a:cubicBezTo>
                    <a:pt x="9674" y="628"/>
                    <a:pt x="8287" y="814"/>
                    <a:pt x="6991" y="1189"/>
                  </a:cubicBezTo>
                  <a:cubicBezTo>
                    <a:pt x="5875" y="1500"/>
                    <a:pt x="4894" y="2017"/>
                    <a:pt x="4149" y="2686"/>
                  </a:cubicBezTo>
                  <a:cubicBezTo>
                    <a:pt x="3489" y="3287"/>
                    <a:pt x="3131" y="4030"/>
                    <a:pt x="3135" y="4794"/>
                  </a:cubicBezTo>
                  <a:cubicBezTo>
                    <a:pt x="3105" y="5478"/>
                    <a:pt x="3408" y="6149"/>
                    <a:pt x="3991" y="6693"/>
                  </a:cubicBezTo>
                  <a:cubicBezTo>
                    <a:pt x="4619" y="7241"/>
                    <a:pt x="5393" y="7696"/>
                    <a:pt x="6269" y="8029"/>
                  </a:cubicBezTo>
                  <a:cubicBezTo>
                    <a:pt x="7639" y="8547"/>
                    <a:pt x="9047" y="9014"/>
                    <a:pt x="10484" y="9428"/>
                  </a:cubicBezTo>
                  <a:lnTo>
                    <a:pt x="12288" y="9974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1"/>
                    <a:pt x="21600" y="15043"/>
                    <a:pt x="21577" y="15897"/>
                  </a:cubicBezTo>
                  <a:cubicBezTo>
                    <a:pt x="21571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1298" name="자유형: 도형 77">
              <a:extLst>
                <a:ext uri="{FF2B5EF4-FFF2-40B4-BE49-F238E27FC236}">
                  <a16:creationId xmlns:a16="http://schemas.microsoft.com/office/drawing/2014/main" id="{6FA1D242-19C0-76D8-F145-4C24EE3E17EF}"/>
                </a:ext>
              </a:extLst>
            </p:cNvPr>
            <p:cNvSpPr/>
            <p:nvPr/>
          </p:nvSpPr>
          <p:spPr>
            <a:xfrm>
              <a:off x="-1" y="-1"/>
              <a:ext cx="149075" cy="166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73" extrusionOk="0">
                  <a:moveTo>
                    <a:pt x="21584" y="17806"/>
                  </a:moveTo>
                  <a:cubicBezTo>
                    <a:pt x="20467" y="18987"/>
                    <a:pt x="19078" y="19937"/>
                    <a:pt x="17512" y="20591"/>
                  </a:cubicBezTo>
                  <a:cubicBezTo>
                    <a:pt x="15933" y="21249"/>
                    <a:pt x="14212" y="21584"/>
                    <a:pt x="12471" y="21573"/>
                  </a:cubicBezTo>
                  <a:cubicBezTo>
                    <a:pt x="10204" y="21587"/>
                    <a:pt x="7969" y="21089"/>
                    <a:pt x="5973" y="20124"/>
                  </a:cubicBezTo>
                  <a:cubicBezTo>
                    <a:pt x="4164" y="19178"/>
                    <a:pt x="2661" y="17824"/>
                    <a:pt x="1614" y="16197"/>
                  </a:cubicBezTo>
                  <a:cubicBezTo>
                    <a:pt x="542" y="14557"/>
                    <a:pt x="-16" y="12688"/>
                    <a:pt x="0" y="10787"/>
                  </a:cubicBezTo>
                  <a:cubicBezTo>
                    <a:pt x="-16" y="8886"/>
                    <a:pt x="542" y="7017"/>
                    <a:pt x="1615" y="5378"/>
                  </a:cubicBezTo>
                  <a:cubicBezTo>
                    <a:pt x="2662" y="3750"/>
                    <a:pt x="4165" y="2396"/>
                    <a:pt x="5974" y="1449"/>
                  </a:cubicBezTo>
                  <a:cubicBezTo>
                    <a:pt x="7970" y="485"/>
                    <a:pt x="10205" y="-13"/>
                    <a:pt x="12472" y="0"/>
                  </a:cubicBezTo>
                  <a:cubicBezTo>
                    <a:pt x="14108" y="-6"/>
                    <a:pt x="15726" y="296"/>
                    <a:pt x="17223" y="886"/>
                  </a:cubicBezTo>
                  <a:cubicBezTo>
                    <a:pt x="18723" y="1478"/>
                    <a:pt x="20072" y="2338"/>
                    <a:pt x="21190" y="3413"/>
                  </a:cubicBezTo>
                  <a:lnTo>
                    <a:pt x="20688" y="3863"/>
                  </a:lnTo>
                  <a:cubicBezTo>
                    <a:pt x="18577" y="1799"/>
                    <a:pt x="15594" y="630"/>
                    <a:pt x="12472" y="644"/>
                  </a:cubicBezTo>
                  <a:cubicBezTo>
                    <a:pt x="10644" y="633"/>
                    <a:pt x="8859" y="1146"/>
                    <a:pt x="7378" y="2108"/>
                  </a:cubicBezTo>
                  <a:cubicBezTo>
                    <a:pt x="5843" y="3089"/>
                    <a:pt x="4609" y="4402"/>
                    <a:pt x="3790" y="5924"/>
                  </a:cubicBezTo>
                  <a:cubicBezTo>
                    <a:pt x="2060" y="8993"/>
                    <a:pt x="2067" y="12619"/>
                    <a:pt x="3809" y="15682"/>
                  </a:cubicBezTo>
                  <a:cubicBezTo>
                    <a:pt x="4632" y="17197"/>
                    <a:pt x="5865" y="18502"/>
                    <a:pt x="7394" y="19480"/>
                  </a:cubicBezTo>
                  <a:cubicBezTo>
                    <a:pt x="8872" y="20434"/>
                    <a:pt x="10650" y="20941"/>
                    <a:pt x="12470" y="20928"/>
                  </a:cubicBezTo>
                  <a:cubicBezTo>
                    <a:pt x="15803" y="20966"/>
                    <a:pt x="18973" y="19639"/>
                    <a:pt x="21082" y="17323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1299" name="자유형: 도형 78">
              <a:extLst>
                <a:ext uri="{FF2B5EF4-FFF2-40B4-BE49-F238E27FC236}">
                  <a16:creationId xmlns:a16="http://schemas.microsoft.com/office/drawing/2014/main" id="{17D72EB7-DE8D-A3C1-5FE4-4AE7AA198F87}"/>
                </a:ext>
              </a:extLst>
            </p:cNvPr>
            <p:cNvSpPr/>
            <p:nvPr/>
          </p:nvSpPr>
          <p:spPr>
            <a:xfrm>
              <a:off x="166506" y="1"/>
              <a:ext cx="168633" cy="166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5" extrusionOk="0">
                  <a:moveTo>
                    <a:pt x="16294" y="1449"/>
                  </a:moveTo>
                  <a:cubicBezTo>
                    <a:pt x="17892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8"/>
                    <a:pt x="20146" y="16197"/>
                  </a:cubicBezTo>
                  <a:cubicBezTo>
                    <a:pt x="19219" y="17824"/>
                    <a:pt x="17892" y="19178"/>
                    <a:pt x="16293" y="20125"/>
                  </a:cubicBezTo>
                  <a:cubicBezTo>
                    <a:pt x="14696" y="21086"/>
                    <a:pt x="12872" y="21587"/>
                    <a:pt x="11016" y="21574"/>
                  </a:cubicBezTo>
                  <a:cubicBezTo>
                    <a:pt x="9014" y="21587"/>
                    <a:pt x="7041" y="21089"/>
                    <a:pt x="5278" y="20125"/>
                  </a:cubicBezTo>
                  <a:cubicBezTo>
                    <a:pt x="3680" y="19178"/>
                    <a:pt x="2352" y="17824"/>
                    <a:pt x="1426" y="16197"/>
                  </a:cubicBezTo>
                  <a:cubicBezTo>
                    <a:pt x="479" y="14558"/>
                    <a:pt x="-14" y="12688"/>
                    <a:pt x="0" y="10787"/>
                  </a:cubicBezTo>
                  <a:cubicBezTo>
                    <a:pt x="-14" y="8887"/>
                    <a:pt x="479" y="7017"/>
                    <a:pt x="1426" y="5378"/>
                  </a:cubicBezTo>
                  <a:cubicBezTo>
                    <a:pt x="2352" y="3750"/>
                    <a:pt x="3680" y="2396"/>
                    <a:pt x="5278" y="1449"/>
                  </a:cubicBezTo>
                  <a:cubicBezTo>
                    <a:pt x="7042" y="485"/>
                    <a:pt x="9015" y="-13"/>
                    <a:pt x="11017" y="0"/>
                  </a:cubicBezTo>
                  <a:cubicBezTo>
                    <a:pt x="12873" y="-13"/>
                    <a:pt x="14698" y="488"/>
                    <a:pt x="16295" y="1449"/>
                  </a:cubicBezTo>
                  <a:moveTo>
                    <a:pt x="6516" y="2108"/>
                  </a:moveTo>
                  <a:cubicBezTo>
                    <a:pt x="5160" y="3089"/>
                    <a:pt x="4070" y="4401"/>
                    <a:pt x="3346" y="5923"/>
                  </a:cubicBezTo>
                  <a:cubicBezTo>
                    <a:pt x="1818" y="8993"/>
                    <a:pt x="1824" y="12619"/>
                    <a:pt x="3362" y="15683"/>
                  </a:cubicBezTo>
                  <a:cubicBezTo>
                    <a:pt x="4090" y="17198"/>
                    <a:pt x="5180" y="18504"/>
                    <a:pt x="6532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1"/>
                  </a:cubicBezTo>
                  <a:cubicBezTo>
                    <a:pt x="16391" y="18503"/>
                    <a:pt x="17481" y="17197"/>
                    <a:pt x="18209" y="15682"/>
                  </a:cubicBezTo>
                  <a:cubicBezTo>
                    <a:pt x="19747" y="12618"/>
                    <a:pt x="19753" y="8992"/>
                    <a:pt x="18226" y="5923"/>
                  </a:cubicBezTo>
                  <a:cubicBezTo>
                    <a:pt x="17501" y="4401"/>
                    <a:pt x="16410" y="3089"/>
                    <a:pt x="15055" y="2108"/>
                  </a:cubicBezTo>
                  <a:cubicBezTo>
                    <a:pt x="13919" y="1155"/>
                    <a:pt x="12490" y="636"/>
                    <a:pt x="11017" y="644"/>
                  </a:cubicBezTo>
                  <a:cubicBezTo>
                    <a:pt x="9402" y="633"/>
                    <a:pt x="7825" y="1146"/>
                    <a:pt x="6516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1300" name="자유형: 도형 79">
              <a:extLst>
                <a:ext uri="{FF2B5EF4-FFF2-40B4-BE49-F238E27FC236}">
                  <a16:creationId xmlns:a16="http://schemas.microsoft.com/office/drawing/2014/main" id="{527222EB-96C8-4F0F-49DF-FD4058A67158}"/>
                </a:ext>
              </a:extLst>
            </p:cNvPr>
            <p:cNvSpPr/>
            <p:nvPr/>
          </p:nvSpPr>
          <p:spPr>
            <a:xfrm>
              <a:off x="499224" y="-1"/>
              <a:ext cx="168657" cy="1666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4" extrusionOk="0">
                  <a:moveTo>
                    <a:pt x="16294" y="1450"/>
                  </a:moveTo>
                  <a:cubicBezTo>
                    <a:pt x="17893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7"/>
                    <a:pt x="20146" y="16197"/>
                  </a:cubicBezTo>
                  <a:cubicBezTo>
                    <a:pt x="19220" y="17824"/>
                    <a:pt x="17893" y="19178"/>
                    <a:pt x="16294" y="20124"/>
                  </a:cubicBezTo>
                  <a:cubicBezTo>
                    <a:pt x="14697" y="21085"/>
                    <a:pt x="12873" y="21586"/>
                    <a:pt x="11017" y="21574"/>
                  </a:cubicBezTo>
                  <a:cubicBezTo>
                    <a:pt x="9014" y="21587"/>
                    <a:pt x="7040" y="21089"/>
                    <a:pt x="5276" y="20124"/>
                  </a:cubicBezTo>
                  <a:cubicBezTo>
                    <a:pt x="3678" y="19177"/>
                    <a:pt x="2351" y="17824"/>
                    <a:pt x="1426" y="16197"/>
                  </a:cubicBezTo>
                  <a:cubicBezTo>
                    <a:pt x="478" y="14557"/>
                    <a:pt x="-14" y="12688"/>
                    <a:pt x="0" y="10787"/>
                  </a:cubicBezTo>
                  <a:cubicBezTo>
                    <a:pt x="-14" y="8886"/>
                    <a:pt x="478" y="7017"/>
                    <a:pt x="1426" y="5377"/>
                  </a:cubicBezTo>
                  <a:cubicBezTo>
                    <a:pt x="2352" y="3750"/>
                    <a:pt x="3678" y="2397"/>
                    <a:pt x="5276" y="1450"/>
                  </a:cubicBezTo>
                  <a:cubicBezTo>
                    <a:pt x="7040" y="485"/>
                    <a:pt x="9015" y="-13"/>
                    <a:pt x="11018" y="0"/>
                  </a:cubicBezTo>
                  <a:cubicBezTo>
                    <a:pt x="12874" y="-12"/>
                    <a:pt x="14698" y="489"/>
                    <a:pt x="16295" y="1450"/>
                  </a:cubicBezTo>
                  <a:moveTo>
                    <a:pt x="6517" y="2108"/>
                  </a:moveTo>
                  <a:cubicBezTo>
                    <a:pt x="5162" y="3089"/>
                    <a:pt x="4071" y="4401"/>
                    <a:pt x="3347" y="5924"/>
                  </a:cubicBezTo>
                  <a:cubicBezTo>
                    <a:pt x="1819" y="8993"/>
                    <a:pt x="1826" y="12619"/>
                    <a:pt x="3363" y="15683"/>
                  </a:cubicBezTo>
                  <a:cubicBezTo>
                    <a:pt x="4091" y="17198"/>
                    <a:pt x="5181" y="18504"/>
                    <a:pt x="6533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2"/>
                  </a:cubicBezTo>
                  <a:cubicBezTo>
                    <a:pt x="16390" y="18504"/>
                    <a:pt x="17480" y="17198"/>
                    <a:pt x="18208" y="15683"/>
                  </a:cubicBezTo>
                  <a:cubicBezTo>
                    <a:pt x="19745" y="12619"/>
                    <a:pt x="19751" y="8993"/>
                    <a:pt x="18224" y="5924"/>
                  </a:cubicBezTo>
                  <a:cubicBezTo>
                    <a:pt x="17500" y="4402"/>
                    <a:pt x="16410" y="3089"/>
                    <a:pt x="15055" y="2108"/>
                  </a:cubicBezTo>
                  <a:cubicBezTo>
                    <a:pt x="13920" y="1155"/>
                    <a:pt x="12491" y="637"/>
                    <a:pt x="11018" y="645"/>
                  </a:cubicBezTo>
                  <a:cubicBezTo>
                    <a:pt x="9403" y="633"/>
                    <a:pt x="7826" y="1146"/>
                    <a:pt x="6517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1301" name="자유형: 도형 80">
              <a:extLst>
                <a:ext uri="{FF2B5EF4-FFF2-40B4-BE49-F238E27FC236}">
                  <a16:creationId xmlns:a16="http://schemas.microsoft.com/office/drawing/2014/main" id="{BAFBEF5D-DC76-84CB-6EA1-EBBBD47948BE}"/>
                </a:ext>
              </a:extLst>
            </p:cNvPr>
            <p:cNvSpPr/>
            <p:nvPr/>
          </p:nvSpPr>
          <p:spPr>
            <a:xfrm>
              <a:off x="696933" y="1498"/>
              <a:ext cx="106736" cy="163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41" y="20943"/>
                  </a:moveTo>
                  <a:lnTo>
                    <a:pt x="21600" y="20943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3240" y="0"/>
                  </a:ln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1302" name="자유형: 도형 81">
              <a:extLst>
                <a:ext uri="{FF2B5EF4-FFF2-40B4-BE49-F238E27FC236}">
                  <a16:creationId xmlns:a16="http://schemas.microsoft.com/office/drawing/2014/main" id="{7AF0B5E5-0D72-2D45-D2C5-A09C40EE5774}"/>
                </a:ext>
              </a:extLst>
            </p:cNvPr>
            <p:cNvSpPr/>
            <p:nvPr/>
          </p:nvSpPr>
          <p:spPr>
            <a:xfrm>
              <a:off x="818625" y="1491"/>
              <a:ext cx="128272" cy="165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33" extrusionOk="0">
                  <a:moveTo>
                    <a:pt x="20791" y="0"/>
                  </a:moveTo>
                  <a:lnTo>
                    <a:pt x="21584" y="0"/>
                  </a:lnTo>
                  <a:lnTo>
                    <a:pt x="21584" y="12610"/>
                  </a:lnTo>
                  <a:cubicBezTo>
                    <a:pt x="21600" y="14095"/>
                    <a:pt x="21253" y="15569"/>
                    <a:pt x="20562" y="16954"/>
                  </a:cubicBezTo>
                  <a:cubicBezTo>
                    <a:pt x="19885" y="18289"/>
                    <a:pt x="18709" y="19436"/>
                    <a:pt x="17184" y="20245"/>
                  </a:cubicBezTo>
                  <a:cubicBezTo>
                    <a:pt x="15368" y="21153"/>
                    <a:pt x="13233" y="21600"/>
                    <a:pt x="11076" y="21525"/>
                  </a:cubicBezTo>
                  <a:cubicBezTo>
                    <a:pt x="9679" y="21523"/>
                    <a:pt x="8286" y="21403"/>
                    <a:pt x="6922" y="21168"/>
                  </a:cubicBezTo>
                  <a:cubicBezTo>
                    <a:pt x="5616" y="20883"/>
                    <a:pt x="4415" y="20361"/>
                    <a:pt x="3419" y="19644"/>
                  </a:cubicBezTo>
                  <a:cubicBezTo>
                    <a:pt x="1139" y="18088"/>
                    <a:pt x="0" y="15690"/>
                    <a:pt x="0" y="12448"/>
                  </a:cubicBezTo>
                  <a:lnTo>
                    <a:pt x="0" y="0"/>
                  </a:lnTo>
                  <a:lnTo>
                    <a:pt x="2653" y="0"/>
                  </a:lnTo>
                  <a:lnTo>
                    <a:pt x="2653" y="13096"/>
                  </a:lnTo>
                  <a:cubicBezTo>
                    <a:pt x="2653" y="15733"/>
                    <a:pt x="3495" y="17689"/>
                    <a:pt x="5180" y="18963"/>
                  </a:cubicBezTo>
                  <a:cubicBezTo>
                    <a:pt x="6933" y="20261"/>
                    <a:pt x="9288" y="20951"/>
                    <a:pt x="11706" y="20877"/>
                  </a:cubicBezTo>
                  <a:cubicBezTo>
                    <a:pt x="13499" y="20924"/>
                    <a:pt x="15266" y="20527"/>
                    <a:pt x="16751" y="19742"/>
                  </a:cubicBezTo>
                  <a:cubicBezTo>
                    <a:pt x="18115" y="18984"/>
                    <a:pt x="19171" y="17938"/>
                    <a:pt x="19794" y="16727"/>
                  </a:cubicBezTo>
                  <a:cubicBezTo>
                    <a:pt x="20475" y="15420"/>
                    <a:pt x="20815" y="14021"/>
                    <a:pt x="20795" y="12610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1303" name="자유형: 도형 82">
              <a:extLst>
                <a:ext uri="{FF2B5EF4-FFF2-40B4-BE49-F238E27FC236}">
                  <a16:creationId xmlns:a16="http://schemas.microsoft.com/office/drawing/2014/main" id="{6DDC6E51-053D-5AF2-C7CD-0CF005BB389E}"/>
                </a:ext>
              </a:extLst>
            </p:cNvPr>
            <p:cNvSpPr/>
            <p:nvPr/>
          </p:nvSpPr>
          <p:spPr>
            <a:xfrm>
              <a:off x="974769" y="-1"/>
              <a:ext cx="118583" cy="166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6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6" y="20921"/>
                  </a:cubicBezTo>
                  <a:cubicBezTo>
                    <a:pt x="12340" y="20944"/>
                    <a:pt x="13592" y="20745"/>
                    <a:pt x="14722" y="20341"/>
                  </a:cubicBezTo>
                  <a:cubicBezTo>
                    <a:pt x="15879" y="20004"/>
                    <a:pt x="16891" y="19454"/>
                    <a:pt x="17654" y="18748"/>
                  </a:cubicBezTo>
                  <a:cubicBezTo>
                    <a:pt x="18349" y="18096"/>
                    <a:pt x="18721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9"/>
                  </a:cubicBezTo>
                  <a:cubicBezTo>
                    <a:pt x="14505" y="12643"/>
                    <a:pt x="13123" y="12176"/>
                    <a:pt x="11320" y="11618"/>
                  </a:cubicBezTo>
                  <a:lnTo>
                    <a:pt x="10059" y="11232"/>
                  </a:lnTo>
                  <a:cubicBezTo>
                    <a:pt x="7594" y="10459"/>
                    <a:pt x="5707" y="9816"/>
                    <a:pt x="4400" y="9300"/>
                  </a:cubicBezTo>
                  <a:cubicBezTo>
                    <a:pt x="3241" y="8870"/>
                    <a:pt x="2208" y="8286"/>
                    <a:pt x="1357" y="7579"/>
                  </a:cubicBezTo>
                  <a:cubicBezTo>
                    <a:pt x="631" y="6938"/>
                    <a:pt x="247" y="6133"/>
                    <a:pt x="274" y="5309"/>
                  </a:cubicBezTo>
                  <a:cubicBezTo>
                    <a:pt x="257" y="4291"/>
                    <a:pt x="753" y="3303"/>
                    <a:pt x="1673" y="2524"/>
                  </a:cubicBezTo>
                  <a:cubicBezTo>
                    <a:pt x="2663" y="1691"/>
                    <a:pt x="3932" y="1049"/>
                    <a:pt x="5362" y="660"/>
                  </a:cubicBezTo>
                  <a:cubicBezTo>
                    <a:pt x="7169" y="214"/>
                    <a:pt x="9069" y="-9"/>
                    <a:pt x="10982" y="0"/>
                  </a:cubicBezTo>
                  <a:cubicBezTo>
                    <a:pt x="12990" y="-6"/>
                    <a:pt x="14971" y="337"/>
                    <a:pt x="16753" y="998"/>
                  </a:cubicBezTo>
                  <a:cubicBezTo>
                    <a:pt x="18425" y="1571"/>
                    <a:pt x="19787" y="2521"/>
                    <a:pt x="20630" y="3701"/>
                  </a:cubicBezTo>
                  <a:lnTo>
                    <a:pt x="20044" y="4216"/>
                  </a:lnTo>
                  <a:cubicBezTo>
                    <a:pt x="19254" y="3073"/>
                    <a:pt x="17953" y="2150"/>
                    <a:pt x="16347" y="1593"/>
                  </a:cubicBezTo>
                  <a:cubicBezTo>
                    <a:pt x="14722" y="976"/>
                    <a:pt x="12912" y="650"/>
                    <a:pt x="11072" y="643"/>
                  </a:cubicBezTo>
                  <a:cubicBezTo>
                    <a:pt x="9674" y="629"/>
                    <a:pt x="8287" y="815"/>
                    <a:pt x="6991" y="1190"/>
                  </a:cubicBezTo>
                  <a:cubicBezTo>
                    <a:pt x="5875" y="1501"/>
                    <a:pt x="4894" y="2017"/>
                    <a:pt x="4149" y="2687"/>
                  </a:cubicBezTo>
                  <a:cubicBezTo>
                    <a:pt x="3488" y="3288"/>
                    <a:pt x="3131" y="4030"/>
                    <a:pt x="3135" y="4794"/>
                  </a:cubicBezTo>
                  <a:cubicBezTo>
                    <a:pt x="3105" y="5479"/>
                    <a:pt x="3408" y="6149"/>
                    <a:pt x="3991" y="6693"/>
                  </a:cubicBezTo>
                  <a:cubicBezTo>
                    <a:pt x="4619" y="7242"/>
                    <a:pt x="5393" y="7696"/>
                    <a:pt x="6269" y="8029"/>
                  </a:cubicBezTo>
                  <a:cubicBezTo>
                    <a:pt x="7640" y="8547"/>
                    <a:pt x="9046" y="9014"/>
                    <a:pt x="10484" y="9428"/>
                  </a:cubicBezTo>
                  <a:lnTo>
                    <a:pt x="12288" y="9975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2"/>
                    <a:pt x="21600" y="15043"/>
                    <a:pt x="21577" y="15897"/>
                  </a:cubicBezTo>
                  <a:cubicBezTo>
                    <a:pt x="21570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</p:grpSp>
      <p:sp>
        <p:nvSpPr>
          <p:cNvPr id="1305" name="직사각형 66">
            <a:extLst>
              <a:ext uri="{FF2B5EF4-FFF2-40B4-BE49-F238E27FC236}">
                <a16:creationId xmlns:a16="http://schemas.microsoft.com/office/drawing/2014/main" id="{F2572724-A266-1687-E8A0-AA945573795D}"/>
              </a:ext>
            </a:extLst>
          </p:cNvPr>
          <p:cNvSpPr/>
          <p:nvPr/>
        </p:nvSpPr>
        <p:spPr>
          <a:xfrm>
            <a:off x="-3" y="-2"/>
            <a:ext cx="132084" cy="1308101"/>
          </a:xfrm>
          <a:prstGeom prst="rect">
            <a:avLst/>
          </a:prstGeom>
          <a:solidFill>
            <a:srgbClr val="294F5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06" name="직사각형 67">
            <a:extLst>
              <a:ext uri="{FF2B5EF4-FFF2-40B4-BE49-F238E27FC236}">
                <a16:creationId xmlns:a16="http://schemas.microsoft.com/office/drawing/2014/main" id="{1FC48670-939E-5031-F2FE-C9A0ABBF0FF4}"/>
              </a:ext>
            </a:extLst>
          </p:cNvPr>
          <p:cNvSpPr/>
          <p:nvPr/>
        </p:nvSpPr>
        <p:spPr>
          <a:xfrm>
            <a:off x="-3" y="1306416"/>
            <a:ext cx="132084" cy="5551585"/>
          </a:xfrm>
          <a:prstGeom prst="rect">
            <a:avLst/>
          </a:prstGeom>
          <a:solidFill>
            <a:srgbClr val="DFF1F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07" name="직선 연결선 68">
            <a:extLst>
              <a:ext uri="{FF2B5EF4-FFF2-40B4-BE49-F238E27FC236}">
                <a16:creationId xmlns:a16="http://schemas.microsoft.com/office/drawing/2014/main" id="{41CE79F0-32DA-5A19-9113-FCE74185F11D}"/>
              </a:ext>
            </a:extLst>
          </p:cNvPr>
          <p:cNvSpPr/>
          <p:nvPr/>
        </p:nvSpPr>
        <p:spPr>
          <a:xfrm>
            <a:off x="396240" y="548640"/>
            <a:ext cx="11795761" cy="1"/>
          </a:xfrm>
          <a:prstGeom prst="line">
            <a:avLst/>
          </a:prstGeom>
          <a:ln w="6350">
            <a:solidFill>
              <a:srgbClr val="47868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08" name="TextBox 71">
            <a:extLst>
              <a:ext uri="{FF2B5EF4-FFF2-40B4-BE49-F238E27FC236}">
                <a16:creationId xmlns:a16="http://schemas.microsoft.com/office/drawing/2014/main" id="{AC8C0814-14EE-1EFD-CAF2-321A0DF05E01}"/>
              </a:ext>
            </a:extLst>
          </p:cNvPr>
          <p:cNvSpPr txBox="1"/>
          <p:nvPr/>
        </p:nvSpPr>
        <p:spPr>
          <a:xfrm>
            <a:off x="446746" y="616129"/>
            <a:ext cx="843180" cy="18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1200" spc="20">
                <a:solidFill>
                  <a:srgbClr val="808080">
                    <a:alpha val="70000"/>
                  </a:srgbClr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lvl1pPr>
          </a:lstStyle>
          <a:p>
            <a:r>
              <a:rPr lang="en-US" altLang="ko-KR" dirty="0"/>
              <a:t>Background</a:t>
            </a:r>
          </a:p>
        </p:txBody>
      </p:sp>
      <p:sp>
        <p:nvSpPr>
          <p:cNvPr id="1309" name="TextBox 2">
            <a:extLst>
              <a:ext uri="{FF2B5EF4-FFF2-40B4-BE49-F238E27FC236}">
                <a16:creationId xmlns:a16="http://schemas.microsoft.com/office/drawing/2014/main" id="{F3308E31-896A-BEBB-E127-576B8553CB1A}"/>
              </a:ext>
            </a:extLst>
          </p:cNvPr>
          <p:cNvSpPr txBox="1"/>
          <p:nvPr/>
        </p:nvSpPr>
        <p:spPr>
          <a:xfrm>
            <a:off x="9480707" y="225474"/>
            <a:ext cx="258785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solidFill>
                  <a:srgbClr val="478689"/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pPr>
            <a:r>
              <a:rPr lang="en-US" altLang="ko-KR" dirty="0"/>
              <a:t>We promise tomorrow</a:t>
            </a:r>
          </a:p>
        </p:txBody>
      </p:sp>
      <p:sp>
        <p:nvSpPr>
          <p:cNvPr id="58" name="슬라이드 번호 개체 틀 5">
            <a:extLst>
              <a:ext uri="{FF2B5EF4-FFF2-40B4-BE49-F238E27FC236}">
                <a16:creationId xmlns:a16="http://schemas.microsoft.com/office/drawing/2014/main" id="{9FAF9CEA-FB48-4BBE-BB47-24677CF0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63982"/>
            <a:ext cx="2743200" cy="365125"/>
          </a:xfrm>
        </p:spPr>
        <p:txBody>
          <a:bodyPr/>
          <a:lstStyle/>
          <a:p>
            <a:fld id="{37ED9AAF-E0B1-45D5-BDDA-4E50A2DB2EEA}" type="slidenum">
              <a:rPr lang="ko-KR" altLang="en-US" smtClean="0"/>
              <a:t>1</a:t>
            </a:fld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219E6C-4D48-DFC8-219F-13FE75B29AF8}"/>
              </a:ext>
            </a:extLst>
          </p:cNvPr>
          <p:cNvGrpSpPr/>
          <p:nvPr/>
        </p:nvGrpSpPr>
        <p:grpSpPr>
          <a:xfrm>
            <a:off x="859064" y="1683479"/>
            <a:ext cx="10721418" cy="2274963"/>
            <a:chOff x="256660" y="2159981"/>
            <a:chExt cx="11811898" cy="2661271"/>
          </a:xfrm>
        </p:grpSpPr>
        <p:grpSp>
          <p:nvGrpSpPr>
            <p:cNvPr id="1280" name="그룹 1279">
              <a:extLst>
                <a:ext uri="{FF2B5EF4-FFF2-40B4-BE49-F238E27FC236}">
                  <a16:creationId xmlns:a16="http://schemas.microsoft.com/office/drawing/2014/main" id="{2A455303-B910-8C14-D6BE-5FC09DBE65FF}"/>
                </a:ext>
              </a:extLst>
            </p:cNvPr>
            <p:cNvGrpSpPr/>
            <p:nvPr/>
          </p:nvGrpSpPr>
          <p:grpSpPr>
            <a:xfrm>
              <a:off x="8195197" y="2665856"/>
              <a:ext cx="1837910" cy="1267141"/>
              <a:chOff x="5948100" y="644108"/>
              <a:chExt cx="2065192" cy="1423837"/>
            </a:xfrm>
          </p:grpSpPr>
          <p:pic>
            <p:nvPicPr>
              <p:cNvPr id="1313" name="Picture 2">
                <a:extLst>
                  <a:ext uri="{FF2B5EF4-FFF2-40B4-BE49-F238E27FC236}">
                    <a16:creationId xmlns:a16="http://schemas.microsoft.com/office/drawing/2014/main" id="{DF4F8626-0544-AA7A-C084-B2AF1C7FF9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6208101" y="1300240"/>
                <a:ext cx="671472" cy="5295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14" name="Picture 2">
                <a:extLst>
                  <a:ext uri="{FF2B5EF4-FFF2-40B4-BE49-F238E27FC236}">
                    <a16:creationId xmlns:a16="http://schemas.microsoft.com/office/drawing/2014/main" id="{6D6BE9BF-C2F4-0EFC-FD2E-FF8AF89D43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7024860" y="1342410"/>
                <a:ext cx="727063" cy="5138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315" name="그룹 1314">
                <a:extLst>
                  <a:ext uri="{FF2B5EF4-FFF2-40B4-BE49-F238E27FC236}">
                    <a16:creationId xmlns:a16="http://schemas.microsoft.com/office/drawing/2014/main" id="{D0EF08F2-113B-80EA-C5D7-DB70692297AA}"/>
                  </a:ext>
                </a:extLst>
              </p:cNvPr>
              <p:cNvGrpSpPr/>
              <p:nvPr/>
            </p:nvGrpSpPr>
            <p:grpSpPr>
              <a:xfrm>
                <a:off x="6013920" y="644108"/>
                <a:ext cx="1999367" cy="750143"/>
                <a:chOff x="13485575" y="502313"/>
                <a:chExt cx="2649286" cy="993984"/>
              </a:xfrm>
            </p:grpSpPr>
            <p:pic>
              <p:nvPicPr>
                <p:cNvPr id="1318" name="Picture 2">
                  <a:extLst>
                    <a:ext uri="{FF2B5EF4-FFF2-40B4-BE49-F238E27FC236}">
                      <a16:creationId xmlns:a16="http://schemas.microsoft.com/office/drawing/2014/main" id="{E5377A53-8147-70EE-66A9-A2729A8279F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13799034" y="502313"/>
                  <a:ext cx="826280" cy="70167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19" name="Picture 2">
                  <a:extLst>
                    <a:ext uri="{FF2B5EF4-FFF2-40B4-BE49-F238E27FC236}">
                      <a16:creationId xmlns:a16="http://schemas.microsoft.com/office/drawing/2014/main" id="{8B07E990-7BA2-C2BF-5E8A-6291AFA1FB8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14830068" y="553163"/>
                  <a:ext cx="1050708" cy="67012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320" name="TextBox 1319">
                  <a:extLst>
                    <a:ext uri="{FF2B5EF4-FFF2-40B4-BE49-F238E27FC236}">
                      <a16:creationId xmlns:a16="http://schemas.microsoft.com/office/drawing/2014/main" id="{7116B3C1-5738-BDB4-CB25-0ADF00E4308D}"/>
                    </a:ext>
                  </a:extLst>
                </p:cNvPr>
                <p:cNvSpPr txBox="1"/>
                <p:nvPr/>
              </p:nvSpPr>
              <p:spPr>
                <a:xfrm>
                  <a:off x="13485575" y="1092407"/>
                  <a:ext cx="1558889" cy="40389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1000" dirty="0" err="1">
                      <a:latin typeface="Pretendard Light" panose="02000403000000020004" pitchFamily="2" charset="-127"/>
                      <a:ea typeface="Pretendard Light" panose="02000403000000020004" pitchFamily="2" charset="-127"/>
                    </a:rPr>
                    <a:t>MnSO</a:t>
                  </a:r>
                  <a:r>
                    <a:rPr lang="en-US" altLang="ko-KR" sz="1000" baseline="-25000" dirty="0" err="1">
                      <a:latin typeface="Pretendard Light" panose="02000403000000020004" pitchFamily="2" charset="-127"/>
                      <a:ea typeface="Pretendard Light" panose="02000403000000020004" pitchFamily="2" charset="-127"/>
                    </a:rPr>
                    <a:t>4</a:t>
                  </a:r>
                  <a:endParaRPr lang="ko-KR" altLang="en-US" sz="1000" baseline="-25000" dirty="0">
                    <a:latin typeface="Pretendard Light" panose="02000403000000020004" pitchFamily="2" charset="-127"/>
                    <a:ea typeface="Pretendard Light" panose="02000403000000020004" pitchFamily="2" charset="-127"/>
                  </a:endParaRPr>
                </a:p>
              </p:txBody>
            </p:sp>
            <p:sp>
              <p:nvSpPr>
                <p:cNvPr id="1321" name="TextBox 1320">
                  <a:extLst>
                    <a:ext uri="{FF2B5EF4-FFF2-40B4-BE49-F238E27FC236}">
                      <a16:creationId xmlns:a16="http://schemas.microsoft.com/office/drawing/2014/main" id="{D384908E-2883-64C3-F5A8-FDD33058E427}"/>
                    </a:ext>
                  </a:extLst>
                </p:cNvPr>
                <p:cNvSpPr txBox="1"/>
                <p:nvPr/>
              </p:nvSpPr>
              <p:spPr>
                <a:xfrm>
                  <a:off x="14575984" y="1092407"/>
                  <a:ext cx="1558877" cy="40389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1000" dirty="0" err="1">
                      <a:latin typeface="Pretendard Light" panose="02000403000000020004" pitchFamily="2" charset="-127"/>
                      <a:ea typeface="Pretendard Light" panose="02000403000000020004" pitchFamily="2" charset="-127"/>
                    </a:rPr>
                    <a:t>NiSO</a:t>
                  </a:r>
                  <a:r>
                    <a:rPr lang="en-US" altLang="ko-KR" sz="1000" baseline="-25000" dirty="0" err="1">
                      <a:latin typeface="Pretendard Light" panose="02000403000000020004" pitchFamily="2" charset="-127"/>
                      <a:ea typeface="Pretendard Light" panose="02000403000000020004" pitchFamily="2" charset="-127"/>
                    </a:rPr>
                    <a:t>4</a:t>
                  </a:r>
                  <a:endParaRPr lang="ko-KR" altLang="en-US" sz="1000" baseline="-25000" dirty="0">
                    <a:latin typeface="Pretendard Light" panose="02000403000000020004" pitchFamily="2" charset="-127"/>
                    <a:ea typeface="Pretendard Light" panose="02000403000000020004" pitchFamily="2" charset="-127"/>
                  </a:endParaRPr>
                </a:p>
              </p:txBody>
            </p:sp>
          </p:grpSp>
          <p:sp>
            <p:nvSpPr>
              <p:cNvPr id="1316" name="TextBox 1315">
                <a:extLst>
                  <a:ext uri="{FF2B5EF4-FFF2-40B4-BE49-F238E27FC236}">
                    <a16:creationId xmlns:a16="http://schemas.microsoft.com/office/drawing/2014/main" id="{4D02D1DD-90A7-7B85-DB02-02659CBCBC59}"/>
                  </a:ext>
                </a:extLst>
              </p:cNvPr>
              <p:cNvSpPr txBox="1"/>
              <p:nvPr/>
            </p:nvSpPr>
            <p:spPr>
              <a:xfrm>
                <a:off x="5948100" y="1763136"/>
                <a:ext cx="1176463" cy="30480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dirty="0" err="1">
                    <a:latin typeface="Pretendard Light" panose="02000403000000020004" pitchFamily="2" charset="-127"/>
                    <a:ea typeface="Pretendard Light" panose="02000403000000020004" pitchFamily="2" charset="-127"/>
                  </a:rPr>
                  <a:t>CoSO</a:t>
                </a:r>
                <a:r>
                  <a:rPr lang="en-US" altLang="ko-KR" sz="1000" baseline="-25000" dirty="0" err="1">
                    <a:latin typeface="Pretendard Light" panose="02000403000000020004" pitchFamily="2" charset="-127"/>
                    <a:ea typeface="Pretendard Light" panose="02000403000000020004" pitchFamily="2" charset="-127"/>
                  </a:rPr>
                  <a:t>4</a:t>
                </a:r>
                <a:endParaRPr lang="ko-KR" altLang="en-US" sz="1000" baseline="-25000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317" name="TextBox 1316">
                <a:extLst>
                  <a:ext uri="{FF2B5EF4-FFF2-40B4-BE49-F238E27FC236}">
                    <a16:creationId xmlns:a16="http://schemas.microsoft.com/office/drawing/2014/main" id="{49F42F23-CF91-EA4B-F85F-78232F9DCC08}"/>
                  </a:ext>
                </a:extLst>
              </p:cNvPr>
              <p:cNvSpPr txBox="1"/>
              <p:nvPr/>
            </p:nvSpPr>
            <p:spPr>
              <a:xfrm>
                <a:off x="6836827" y="1763136"/>
                <a:ext cx="1176465" cy="30480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dirty="0" err="1">
                    <a:latin typeface="Pretendard Light" panose="02000403000000020004" pitchFamily="2" charset="-127"/>
                    <a:ea typeface="Pretendard Light" panose="02000403000000020004" pitchFamily="2" charset="-127"/>
                  </a:rPr>
                  <a:t>Li</a:t>
                </a:r>
                <a:r>
                  <a:rPr lang="en-US" altLang="ko-KR" sz="1000" baseline="-25000" dirty="0" err="1">
                    <a:latin typeface="Pretendard Light" panose="02000403000000020004" pitchFamily="2" charset="-127"/>
                    <a:ea typeface="Pretendard Light" panose="02000403000000020004" pitchFamily="2" charset="-127"/>
                  </a:rPr>
                  <a:t>2</a:t>
                </a:r>
                <a:r>
                  <a:rPr lang="en-US" altLang="ko-KR" sz="1000" dirty="0" err="1">
                    <a:latin typeface="Pretendard Light" panose="02000403000000020004" pitchFamily="2" charset="-127"/>
                    <a:ea typeface="Pretendard Light" panose="02000403000000020004" pitchFamily="2" charset="-127"/>
                  </a:rPr>
                  <a:t>CO</a:t>
                </a:r>
                <a:r>
                  <a:rPr lang="en-US" altLang="ko-KR" sz="1000" baseline="-25000" dirty="0" err="1">
                    <a:latin typeface="Pretendard Light" panose="02000403000000020004" pitchFamily="2" charset="-127"/>
                    <a:ea typeface="Pretendard Light" panose="02000403000000020004" pitchFamily="2" charset="-127"/>
                  </a:rPr>
                  <a:t>3</a:t>
                </a:r>
                <a:endParaRPr lang="ko-KR" altLang="en-US" sz="1000" baseline="-25000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1281" name="TextBox 1280">
              <a:extLst>
                <a:ext uri="{FF2B5EF4-FFF2-40B4-BE49-F238E27FC236}">
                  <a16:creationId xmlns:a16="http://schemas.microsoft.com/office/drawing/2014/main" id="{7A36648A-E8D9-D87B-B98B-FB13482709ED}"/>
                </a:ext>
              </a:extLst>
            </p:cNvPr>
            <p:cNvSpPr txBox="1"/>
            <p:nvPr/>
          </p:nvSpPr>
          <p:spPr>
            <a:xfrm>
              <a:off x="9846427" y="3050841"/>
              <a:ext cx="349103" cy="4068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 marR="0" lvl="0" indent="0" algn="ctr" defTabSz="457200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en-US" altLang="ko-KR" sz="1800" dirty="0"/>
                <a:t>+</a:t>
              </a:r>
              <a:endParaRPr lang="ko-KR" altLang="en-US" sz="1800" dirty="0"/>
            </a:p>
          </p:txBody>
        </p:sp>
        <p:sp>
          <p:nvSpPr>
            <p:cNvPr id="1282" name="TextBox 18">
              <a:extLst>
                <a:ext uri="{FF2B5EF4-FFF2-40B4-BE49-F238E27FC236}">
                  <a16:creationId xmlns:a16="http://schemas.microsoft.com/office/drawing/2014/main" id="{B6524763-9D59-AFFE-D65D-C2D47B019403}"/>
                </a:ext>
              </a:extLst>
            </p:cNvPr>
            <p:cNvSpPr txBox="1"/>
            <p:nvPr/>
          </p:nvSpPr>
          <p:spPr>
            <a:xfrm>
              <a:off x="884243" y="2219814"/>
              <a:ext cx="3153268" cy="43204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 algn="ctr">
                <a:defRPr sz="1600">
                  <a:solidFill>
                    <a:srgbClr val="2C484A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en-US" altLang="ko-KR" sz="1800" spc="-30" dirty="0">
                  <a:solidFill>
                    <a:schemeClr val="tx1"/>
                  </a:solidFill>
                  <a:latin typeface="Pretendard Light"/>
                  <a:ea typeface="Pretendard Light"/>
                  <a:cs typeface="Pretendard Light"/>
                </a:rPr>
                <a:t>[</a:t>
              </a:r>
              <a:r>
                <a:rPr lang="ko-KR" altLang="en-US" sz="1800" spc="-30" dirty="0">
                  <a:solidFill>
                    <a:schemeClr val="tx1"/>
                  </a:solidFill>
                  <a:latin typeface="Pretendard Light"/>
                  <a:ea typeface="Pretendard Light"/>
                  <a:cs typeface="Pretendard Light"/>
                </a:rPr>
                <a:t>전처리공정</a:t>
              </a:r>
              <a:r>
                <a:rPr lang="en-US" altLang="ko-KR" sz="1800" spc="-30" dirty="0">
                  <a:solidFill>
                    <a:schemeClr val="tx1"/>
                  </a:solidFill>
                  <a:latin typeface="Pretendard Light"/>
                  <a:ea typeface="Pretendard Light"/>
                  <a:cs typeface="Pretendard Light"/>
                </a:rPr>
                <a:t>]</a:t>
              </a:r>
              <a:endParaRPr lang="ko-KR" altLang="en-US" sz="1800" spc="-30" dirty="0">
                <a:solidFill>
                  <a:schemeClr val="tx1"/>
                </a:solidFill>
                <a:latin typeface="Pretendard Light"/>
                <a:ea typeface="Pretendard Light"/>
                <a:cs typeface="Pretendard Light"/>
              </a:endParaRPr>
            </a:p>
          </p:txBody>
        </p:sp>
        <p:pic>
          <p:nvPicPr>
            <p:cNvPr id="1283" name="이미지" descr="이미지">
              <a:extLst>
                <a:ext uri="{FF2B5EF4-FFF2-40B4-BE49-F238E27FC236}">
                  <a16:creationId xmlns:a16="http://schemas.microsoft.com/office/drawing/2014/main" id="{E3FC2895-3FA1-A809-1C22-4DA4A401B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60489" y="2955327"/>
              <a:ext cx="782192" cy="402137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1284" name="직선 화살표 연결선 1283">
              <a:extLst>
                <a:ext uri="{FF2B5EF4-FFF2-40B4-BE49-F238E27FC236}">
                  <a16:creationId xmlns:a16="http://schemas.microsoft.com/office/drawing/2014/main" id="{892D0F72-EA18-3D30-4759-C707B5A749FF}"/>
                </a:ext>
              </a:extLst>
            </p:cNvPr>
            <p:cNvCxnSpPr>
              <a:cxnSpLocks/>
            </p:cNvCxnSpPr>
            <p:nvPr/>
          </p:nvCxnSpPr>
          <p:spPr>
            <a:xfrm>
              <a:off x="1843605" y="3429000"/>
              <a:ext cx="890095" cy="0"/>
            </a:xfrm>
            <a:prstGeom prst="straightConnector1">
              <a:avLst/>
            </a:prstGeom>
            <a:ln w="25400">
              <a:solidFill>
                <a:srgbClr val="073E4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85" name="그림 13" descr="그림 13">
              <a:extLst>
                <a:ext uri="{FF2B5EF4-FFF2-40B4-BE49-F238E27FC236}">
                  <a16:creationId xmlns:a16="http://schemas.microsoft.com/office/drawing/2014/main" id="{968240B7-8342-6129-4B72-0D506394E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6660" y="3023098"/>
              <a:ext cx="1095560" cy="721533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50800" dist="38100" dir="5400000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1286" name="그림 15" descr="그림 15">
              <a:extLst>
                <a:ext uri="{FF2B5EF4-FFF2-40B4-BE49-F238E27FC236}">
                  <a16:creationId xmlns:a16="http://schemas.microsoft.com/office/drawing/2014/main" id="{C540834C-5212-B600-DAE8-25D7B848C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>
            <a:xfrm>
              <a:off x="1146334" y="3217656"/>
              <a:ext cx="517312" cy="566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4"/>
                    <a:pt x="4836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6"/>
                    <a:pt x="16764" y="0"/>
                    <a:pt x="10800" y="0"/>
                  </a:cubicBezTo>
                  <a:close/>
                </a:path>
              </a:pathLst>
            </a:custGeom>
            <a:ln w="9525" cap="flat">
              <a:solidFill>
                <a:srgbClr val="61BFBD"/>
              </a:solidFill>
              <a:prstDash val="solid"/>
              <a:round/>
            </a:ln>
            <a:effectLst/>
          </p:spPr>
        </p:pic>
        <p:pic>
          <p:nvPicPr>
            <p:cNvPr id="1287" name="그림 10" descr="그림 10">
              <a:extLst>
                <a:ext uri="{FF2B5EF4-FFF2-40B4-BE49-F238E27FC236}">
                  <a16:creationId xmlns:a16="http://schemas.microsoft.com/office/drawing/2014/main" id="{F888AF81-A50E-8388-D097-BA4F5729C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t="26948"/>
            <a:stretch/>
          </p:blipFill>
          <p:spPr>
            <a:xfrm>
              <a:off x="2836872" y="2972743"/>
              <a:ext cx="1483114" cy="797799"/>
            </a:xfrm>
            <a:prstGeom prst="rect">
              <a:avLst/>
            </a:prstGeom>
            <a:ln w="12700">
              <a:miter lim="400000"/>
            </a:ln>
            <a:effectLst>
              <a:outerShdw blurRad="50800" dist="38100" dir="2700000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288" name="TextBox 21">
              <a:extLst>
                <a:ext uri="{FF2B5EF4-FFF2-40B4-BE49-F238E27FC236}">
                  <a16:creationId xmlns:a16="http://schemas.microsoft.com/office/drawing/2014/main" id="{B722059A-88C1-8138-ACC0-7DF2FEA9D0D2}"/>
                </a:ext>
              </a:extLst>
            </p:cNvPr>
            <p:cNvSpPr txBox="1"/>
            <p:nvPr/>
          </p:nvSpPr>
          <p:spPr>
            <a:xfrm>
              <a:off x="3135506" y="3891040"/>
              <a:ext cx="885846" cy="396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>
                  <a:solidFill>
                    <a:srgbClr val="2C484A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ko-KR" altLang="en-US" dirty="0" err="1">
                  <a:solidFill>
                    <a:schemeClr val="tx1"/>
                  </a:solidFill>
                </a:rPr>
                <a:t>블랙매스</a:t>
              </a:r>
              <a:endParaRPr lang="en-US" altLang="ko-KR" baseline="30000" dirty="0">
                <a:solidFill>
                  <a:schemeClr val="tx1"/>
                </a:solidFill>
              </a:endParaRPr>
            </a:p>
          </p:txBody>
        </p:sp>
        <p:sp>
          <p:nvSpPr>
            <p:cNvPr id="1289" name="TextBox 22">
              <a:extLst>
                <a:ext uri="{FF2B5EF4-FFF2-40B4-BE49-F238E27FC236}">
                  <a16:creationId xmlns:a16="http://schemas.microsoft.com/office/drawing/2014/main" id="{B577FA05-4478-F644-66BB-DBE929325F1F}"/>
                </a:ext>
              </a:extLst>
            </p:cNvPr>
            <p:cNvSpPr txBox="1"/>
            <p:nvPr/>
          </p:nvSpPr>
          <p:spPr>
            <a:xfrm>
              <a:off x="2175866" y="4245188"/>
              <a:ext cx="2805127" cy="5760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defRPr sz="1000" spc="-30">
                  <a:solidFill>
                    <a:srgbClr val="2C484A"/>
                  </a:solidFill>
                  <a:latin typeface="Pretendard Light"/>
                  <a:ea typeface="Pretendard Light"/>
                  <a:cs typeface="Pretendard Light"/>
                  <a:sym typeface="Pretendard Light"/>
                </a:defRPr>
              </a:pPr>
              <a:r>
                <a:rPr lang="ko-KR" altLang="en-US" sz="16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폐배터리 </a:t>
              </a:r>
              <a:r>
                <a:rPr lang="ko-KR" altLang="en-US" sz="1600" dirty="0" err="1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전처리하여</a:t>
              </a:r>
              <a:r>
                <a:rPr lang="ko-KR" altLang="en-US" sz="16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</a:t>
              </a:r>
              <a:endParaRPr lang="en-US" altLang="ko-KR" sz="1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algn="ctr">
                <a:defRPr sz="1000" spc="-30">
                  <a:solidFill>
                    <a:srgbClr val="2C484A"/>
                  </a:solidFill>
                  <a:latin typeface="Pretendard Light"/>
                  <a:ea typeface="Pretendard Light"/>
                  <a:cs typeface="Pretendard Light"/>
                  <a:sym typeface="Pretendard Light"/>
                </a:defRPr>
              </a:pPr>
              <a:r>
                <a:rPr lang="ko-KR" altLang="en-US" sz="16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얻어지는 중간재</a:t>
              </a:r>
            </a:p>
          </p:txBody>
        </p:sp>
        <p:sp>
          <p:nvSpPr>
            <p:cNvPr id="1290" name="TextBox 1289">
              <a:extLst>
                <a:ext uri="{FF2B5EF4-FFF2-40B4-BE49-F238E27FC236}">
                  <a16:creationId xmlns:a16="http://schemas.microsoft.com/office/drawing/2014/main" id="{2EB381CD-AFEB-B2C2-1702-08946AE8859D}"/>
                </a:ext>
              </a:extLst>
            </p:cNvPr>
            <p:cNvSpPr txBox="1"/>
            <p:nvPr/>
          </p:nvSpPr>
          <p:spPr>
            <a:xfrm>
              <a:off x="5320828" y="4016055"/>
              <a:ext cx="2262139" cy="4068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Pretendard SemiBold"/>
                </a:rPr>
                <a:t>양극재 재활용 공정</a:t>
              </a:r>
              <a:endParaRPr lang="en-US" altLang="ko-KR" sz="1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  <a:sym typeface="Pretendard SemiBold"/>
              </a:endParaRPr>
            </a:p>
          </p:txBody>
        </p:sp>
        <p:cxnSp>
          <p:nvCxnSpPr>
            <p:cNvPr id="1291" name="직선 화살표 연결선 1290">
              <a:extLst>
                <a:ext uri="{FF2B5EF4-FFF2-40B4-BE49-F238E27FC236}">
                  <a16:creationId xmlns:a16="http://schemas.microsoft.com/office/drawing/2014/main" id="{E0DDEFFC-056E-8DEF-C594-A50FC5613CAE}"/>
                </a:ext>
              </a:extLst>
            </p:cNvPr>
            <p:cNvCxnSpPr>
              <a:cxnSpLocks/>
            </p:cNvCxnSpPr>
            <p:nvPr/>
          </p:nvCxnSpPr>
          <p:spPr>
            <a:xfrm>
              <a:off x="4661534" y="3429000"/>
              <a:ext cx="753719" cy="0"/>
            </a:xfrm>
            <a:prstGeom prst="straightConnector1">
              <a:avLst/>
            </a:prstGeom>
            <a:ln w="25400">
              <a:solidFill>
                <a:srgbClr val="073E4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2" name="TextBox 1291">
              <a:extLst>
                <a:ext uri="{FF2B5EF4-FFF2-40B4-BE49-F238E27FC236}">
                  <a16:creationId xmlns:a16="http://schemas.microsoft.com/office/drawing/2014/main" id="{951C6220-A7B2-A48C-A289-A6E9130BF1F8}"/>
                </a:ext>
              </a:extLst>
            </p:cNvPr>
            <p:cNvSpPr txBox="1"/>
            <p:nvPr/>
          </p:nvSpPr>
          <p:spPr>
            <a:xfrm>
              <a:off x="10195530" y="4035055"/>
              <a:ext cx="1873028" cy="39604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 marR="0" lvl="0" indent="0" algn="ctr" defTabSz="457200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600" u="sng" spc="-30" dirty="0" err="1">
                  <a:sym typeface="Pretendard ExtraBold"/>
                </a:rPr>
                <a:t>폐흑연</a:t>
              </a:r>
              <a:r>
                <a:rPr lang="ko-KR" altLang="en-US" sz="1600" u="sng" spc="-30" dirty="0">
                  <a:sym typeface="Pretendard ExtraBold"/>
                </a:rPr>
                <a:t> </a:t>
              </a:r>
              <a:endParaRPr lang="en-US" altLang="ko-KR" sz="1600" u="sng" spc="-30" dirty="0">
                <a:sym typeface="Pretendard ExtraBold"/>
              </a:endParaRPr>
            </a:p>
          </p:txBody>
        </p:sp>
        <p:sp>
          <p:nvSpPr>
            <p:cNvPr id="1293" name="TextBox 1292">
              <a:extLst>
                <a:ext uri="{FF2B5EF4-FFF2-40B4-BE49-F238E27FC236}">
                  <a16:creationId xmlns:a16="http://schemas.microsoft.com/office/drawing/2014/main" id="{AEFB2424-8B1E-4AD3-B269-AF2017610A5A}"/>
                </a:ext>
              </a:extLst>
            </p:cNvPr>
            <p:cNvSpPr txBox="1"/>
            <p:nvPr/>
          </p:nvSpPr>
          <p:spPr>
            <a:xfrm>
              <a:off x="7661750" y="4035055"/>
              <a:ext cx="2738909" cy="39604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 marR="0" lvl="0" indent="0" algn="ctr" defTabSz="457200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6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재활용 양극재</a:t>
              </a:r>
              <a:endParaRPr lang="en-US" altLang="ko-KR" sz="1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pic>
          <p:nvPicPr>
            <p:cNvPr id="1294" name="Picture 2" descr="Part 01. 하수슬러지 처리 정책의 나아갈 방향 &lt; 스페셜리포트 &lt; 주요뉴스 &lt; 기사본문 - 워터저널">
              <a:extLst>
                <a:ext uri="{FF2B5EF4-FFF2-40B4-BE49-F238E27FC236}">
                  <a16:creationId xmlns:a16="http://schemas.microsoft.com/office/drawing/2014/main" id="{1EC23B6A-934E-7DC1-665F-7D0DF0DA68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41454" y="2763000"/>
              <a:ext cx="1690428" cy="1087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5" name="그림 1294">
              <a:extLst>
                <a:ext uri="{FF2B5EF4-FFF2-40B4-BE49-F238E27FC236}">
                  <a16:creationId xmlns:a16="http://schemas.microsoft.com/office/drawing/2014/main" id="{C0CB8B89-E700-5AEB-3530-912C665AA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582165" y="2848624"/>
              <a:ext cx="1836672" cy="1224448"/>
            </a:xfrm>
            <a:prstGeom prst="rect">
              <a:avLst/>
            </a:prstGeom>
          </p:spPr>
        </p:pic>
        <p:sp>
          <p:nvSpPr>
            <p:cNvPr id="1310" name="TextBox 18">
              <a:extLst>
                <a:ext uri="{FF2B5EF4-FFF2-40B4-BE49-F238E27FC236}">
                  <a16:creationId xmlns:a16="http://schemas.microsoft.com/office/drawing/2014/main" id="{1B63CF76-FE54-8775-570D-199186E70A85}"/>
                </a:ext>
              </a:extLst>
            </p:cNvPr>
            <p:cNvSpPr txBox="1"/>
            <p:nvPr/>
          </p:nvSpPr>
          <p:spPr>
            <a:xfrm>
              <a:off x="5898896" y="2159981"/>
              <a:ext cx="3153268" cy="43204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 algn="ctr">
                <a:defRPr sz="1600">
                  <a:solidFill>
                    <a:srgbClr val="2C484A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en-US" altLang="ko-KR" sz="1800" spc="-30" dirty="0">
                  <a:solidFill>
                    <a:schemeClr val="tx1"/>
                  </a:solidFill>
                  <a:latin typeface="Pretendard Light"/>
                  <a:ea typeface="Pretendard Light"/>
                  <a:cs typeface="Pretendard Light"/>
                </a:rPr>
                <a:t>[</a:t>
              </a:r>
              <a:r>
                <a:rPr lang="ko-KR" altLang="en-US" sz="1800" spc="-30" dirty="0">
                  <a:solidFill>
                    <a:schemeClr val="tx1"/>
                  </a:solidFill>
                  <a:latin typeface="Pretendard Light"/>
                  <a:ea typeface="Pretendard Light"/>
                  <a:cs typeface="Pretendard Light"/>
                </a:rPr>
                <a:t>후처리공정</a:t>
              </a:r>
              <a:r>
                <a:rPr lang="en-US" altLang="ko-KR" sz="1800" spc="-30" dirty="0">
                  <a:solidFill>
                    <a:schemeClr val="tx1"/>
                  </a:solidFill>
                  <a:latin typeface="Pretendard Light"/>
                  <a:ea typeface="Pretendard Light"/>
                  <a:cs typeface="Pretendard Light"/>
                </a:rPr>
                <a:t>]</a:t>
              </a:r>
            </a:p>
          </p:txBody>
        </p:sp>
        <p:cxnSp>
          <p:nvCxnSpPr>
            <p:cNvPr id="1311" name="직선 화살표 연결선 1310">
              <a:extLst>
                <a:ext uri="{FF2B5EF4-FFF2-40B4-BE49-F238E27FC236}">
                  <a16:creationId xmlns:a16="http://schemas.microsoft.com/office/drawing/2014/main" id="{6EC9008C-32A7-398C-BB5C-9E67BF9066D1}"/>
                </a:ext>
              </a:extLst>
            </p:cNvPr>
            <p:cNvCxnSpPr>
              <a:cxnSpLocks/>
            </p:cNvCxnSpPr>
            <p:nvPr/>
          </p:nvCxnSpPr>
          <p:spPr>
            <a:xfrm>
              <a:off x="7582967" y="3429000"/>
              <a:ext cx="622909" cy="0"/>
            </a:xfrm>
            <a:prstGeom prst="straightConnector1">
              <a:avLst/>
            </a:prstGeom>
            <a:ln w="25400">
              <a:solidFill>
                <a:srgbClr val="073E4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2" name="직선 연결선 1311">
              <a:extLst>
                <a:ext uri="{FF2B5EF4-FFF2-40B4-BE49-F238E27FC236}">
                  <a16:creationId xmlns:a16="http://schemas.microsoft.com/office/drawing/2014/main" id="{E14ADF0A-52F1-761D-CBDF-3680BA93A64C}"/>
                </a:ext>
              </a:extLst>
            </p:cNvPr>
            <p:cNvCxnSpPr>
              <a:cxnSpLocks/>
            </p:cNvCxnSpPr>
            <p:nvPr/>
          </p:nvCxnSpPr>
          <p:spPr>
            <a:xfrm>
              <a:off x="5032091" y="2391176"/>
              <a:ext cx="0" cy="2189882"/>
            </a:xfrm>
            <a:prstGeom prst="line">
              <a:avLst/>
            </a:prstGeom>
            <a:ln w="19050">
              <a:solidFill>
                <a:srgbClr val="06787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4" name="그룹 1333">
            <a:extLst>
              <a:ext uri="{FF2B5EF4-FFF2-40B4-BE49-F238E27FC236}">
                <a16:creationId xmlns:a16="http://schemas.microsoft.com/office/drawing/2014/main" id="{3024C10C-9C75-7392-58F7-56B10F739C93}"/>
              </a:ext>
            </a:extLst>
          </p:cNvPr>
          <p:cNvGrpSpPr/>
          <p:nvPr/>
        </p:nvGrpSpPr>
        <p:grpSpPr>
          <a:xfrm>
            <a:off x="196243" y="4199326"/>
            <a:ext cx="3576326" cy="400939"/>
            <a:chOff x="396240" y="1364850"/>
            <a:chExt cx="4433654" cy="512102"/>
          </a:xfrm>
        </p:grpSpPr>
        <p:grpSp>
          <p:nvGrpSpPr>
            <p:cNvPr id="1335" name="그룹 1334">
              <a:extLst>
                <a:ext uri="{FF2B5EF4-FFF2-40B4-BE49-F238E27FC236}">
                  <a16:creationId xmlns:a16="http://schemas.microsoft.com/office/drawing/2014/main" id="{8F2E4AAB-A691-B7E3-DB07-1D96E32B5686}"/>
                </a:ext>
              </a:extLst>
            </p:cNvPr>
            <p:cNvGrpSpPr/>
            <p:nvPr/>
          </p:nvGrpSpPr>
          <p:grpSpPr>
            <a:xfrm>
              <a:off x="396240" y="1364850"/>
              <a:ext cx="4433654" cy="512102"/>
              <a:chOff x="396238" y="1514858"/>
              <a:chExt cx="5520376" cy="512102"/>
            </a:xfrm>
          </p:grpSpPr>
          <p:grpSp>
            <p:nvGrpSpPr>
              <p:cNvPr id="1337" name="사각형: 둥근 모서리 41">
                <a:extLst>
                  <a:ext uri="{FF2B5EF4-FFF2-40B4-BE49-F238E27FC236}">
                    <a16:creationId xmlns:a16="http://schemas.microsoft.com/office/drawing/2014/main" id="{62714833-6DB8-8FC5-4E83-4E39E0EA2429}"/>
                  </a:ext>
                </a:extLst>
              </p:cNvPr>
              <p:cNvGrpSpPr/>
              <p:nvPr/>
            </p:nvGrpSpPr>
            <p:grpSpPr>
              <a:xfrm>
                <a:off x="396238" y="1514858"/>
                <a:ext cx="5520376" cy="507833"/>
                <a:chOff x="0" y="0"/>
                <a:chExt cx="5520374" cy="507832"/>
              </a:xfrm>
            </p:grpSpPr>
            <p:sp>
              <p:nvSpPr>
                <p:cNvPr id="1340" name="직사각형">
                  <a:extLst>
                    <a:ext uri="{FF2B5EF4-FFF2-40B4-BE49-F238E27FC236}">
                      <a16:creationId xmlns:a16="http://schemas.microsoft.com/office/drawing/2014/main" id="{3555C135-992F-3319-BF3A-C3E57DFDD27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520374" cy="5078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4FA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ts val="1500"/>
                    </a:lnSpc>
                    <a:defRPr sz="1200">
                      <a:solidFill>
                        <a:srgbClr val="0F1E1F"/>
                      </a:solidFill>
                      <a:latin typeface="Pretendard SemiBold"/>
                      <a:ea typeface="Pretendard SemiBold"/>
                      <a:cs typeface="Pretendard SemiBold"/>
                      <a:sym typeface="Pretendard SemiBold"/>
                    </a:defRPr>
                  </a:pPr>
                  <a:endParaRPr sz="2000"/>
                </a:p>
              </p:txBody>
            </p:sp>
            <p:sp>
              <p:nvSpPr>
                <p:cNvPr id="1341" name="2023년 글로벌 전기차 1406.1만대 판매…">
                  <a:extLst>
                    <a:ext uri="{FF2B5EF4-FFF2-40B4-BE49-F238E27FC236}">
                      <a16:creationId xmlns:a16="http://schemas.microsoft.com/office/drawing/2014/main" id="{7F68C1BE-FF41-E02B-9285-D1A8F2998B66}"/>
                    </a:ext>
                  </a:extLst>
                </p:cNvPr>
                <p:cNvSpPr txBox="1"/>
                <p:nvPr/>
              </p:nvSpPr>
              <p:spPr>
                <a:xfrm>
                  <a:off x="45720" y="104485"/>
                  <a:ext cx="5428934" cy="2988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 algn="ctr">
                    <a:lnSpc>
                      <a:spcPts val="1500"/>
                    </a:lnSpc>
                    <a:defRPr sz="1100">
                      <a:solidFill>
                        <a:srgbClr val="0F1E1F"/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pPr>
                  <a:endParaRPr sz="2000" dirty="0">
                    <a:latin typeface="Pretendard SemiBold"/>
                    <a:ea typeface="Pretendard SemiBold"/>
                    <a:cs typeface="Pretendard SemiBold"/>
                    <a:sym typeface="Pretendard SemiBold"/>
                  </a:endParaRPr>
                </a:p>
              </p:txBody>
            </p:sp>
          </p:grpSp>
          <p:sp>
            <p:nvSpPr>
              <p:cNvPr id="1338" name="직선 연결선 43">
                <a:extLst>
                  <a:ext uri="{FF2B5EF4-FFF2-40B4-BE49-F238E27FC236}">
                    <a16:creationId xmlns:a16="http://schemas.microsoft.com/office/drawing/2014/main" id="{C976AB43-82BD-45FA-9F78-B9F67AB15614}"/>
                  </a:ext>
                </a:extLst>
              </p:cNvPr>
              <p:cNvSpPr/>
              <p:nvPr/>
            </p:nvSpPr>
            <p:spPr>
              <a:xfrm>
                <a:off x="396239" y="1521245"/>
                <a:ext cx="5520375" cy="1"/>
              </a:xfrm>
              <a:prstGeom prst="line">
                <a:avLst/>
              </a:prstGeom>
              <a:ln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  <p:sp>
            <p:nvSpPr>
              <p:cNvPr id="1339" name="직선 연결선 44">
                <a:extLst>
                  <a:ext uri="{FF2B5EF4-FFF2-40B4-BE49-F238E27FC236}">
                    <a16:creationId xmlns:a16="http://schemas.microsoft.com/office/drawing/2014/main" id="{C6FF4AE6-2BCD-DD3B-2E98-B51357B11FB9}"/>
                  </a:ext>
                </a:extLst>
              </p:cNvPr>
              <p:cNvSpPr/>
              <p:nvPr/>
            </p:nvSpPr>
            <p:spPr>
              <a:xfrm>
                <a:off x="396239" y="2026959"/>
                <a:ext cx="5520375" cy="1"/>
              </a:xfrm>
              <a:prstGeom prst="line">
                <a:avLst/>
              </a:prstGeom>
              <a:ln w="6350"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</p:grpSp>
        <p:sp>
          <p:nvSpPr>
            <p:cNvPr id="1336" name="양극재 배터리 수요">
              <a:extLst>
                <a:ext uri="{FF2B5EF4-FFF2-40B4-BE49-F238E27FC236}">
                  <a16:creationId xmlns:a16="http://schemas.microsoft.com/office/drawing/2014/main" id="{4E0C0925-1696-A2A2-3E9C-899E34273FC1}"/>
                </a:ext>
              </a:extLst>
            </p:cNvPr>
            <p:cNvSpPr txBox="1"/>
            <p:nvPr/>
          </p:nvSpPr>
          <p:spPr>
            <a:xfrm>
              <a:off x="517210" y="1418711"/>
              <a:ext cx="4191712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ko-KR" altLang="en-US" sz="2000" dirty="0"/>
                <a:t>소재의 한계</a:t>
              </a:r>
            </a:p>
          </p:txBody>
        </p:sp>
      </p:grpSp>
      <p:grpSp>
        <p:nvGrpSpPr>
          <p:cNvPr id="1342" name="그룹 1341">
            <a:extLst>
              <a:ext uri="{FF2B5EF4-FFF2-40B4-BE49-F238E27FC236}">
                <a16:creationId xmlns:a16="http://schemas.microsoft.com/office/drawing/2014/main" id="{112CB87D-E0B6-AA49-0E4E-3760075685F0}"/>
              </a:ext>
            </a:extLst>
          </p:cNvPr>
          <p:cNvGrpSpPr/>
          <p:nvPr/>
        </p:nvGrpSpPr>
        <p:grpSpPr>
          <a:xfrm>
            <a:off x="3879266" y="4199326"/>
            <a:ext cx="3851029" cy="400939"/>
            <a:chOff x="396240" y="1364850"/>
            <a:chExt cx="4433654" cy="512102"/>
          </a:xfrm>
        </p:grpSpPr>
        <p:grpSp>
          <p:nvGrpSpPr>
            <p:cNvPr id="1343" name="그룹 1342">
              <a:extLst>
                <a:ext uri="{FF2B5EF4-FFF2-40B4-BE49-F238E27FC236}">
                  <a16:creationId xmlns:a16="http://schemas.microsoft.com/office/drawing/2014/main" id="{F92C42A3-0DA0-ADCA-5F1D-38735F4375ED}"/>
                </a:ext>
              </a:extLst>
            </p:cNvPr>
            <p:cNvGrpSpPr/>
            <p:nvPr/>
          </p:nvGrpSpPr>
          <p:grpSpPr>
            <a:xfrm>
              <a:off x="396240" y="1364850"/>
              <a:ext cx="4433654" cy="512102"/>
              <a:chOff x="396238" y="1514858"/>
              <a:chExt cx="5520376" cy="512102"/>
            </a:xfrm>
          </p:grpSpPr>
          <p:grpSp>
            <p:nvGrpSpPr>
              <p:cNvPr id="1345" name="사각형: 둥근 모서리 41">
                <a:extLst>
                  <a:ext uri="{FF2B5EF4-FFF2-40B4-BE49-F238E27FC236}">
                    <a16:creationId xmlns:a16="http://schemas.microsoft.com/office/drawing/2014/main" id="{C21FCD40-9780-B414-B1B7-066F05BC1F99}"/>
                  </a:ext>
                </a:extLst>
              </p:cNvPr>
              <p:cNvGrpSpPr/>
              <p:nvPr/>
            </p:nvGrpSpPr>
            <p:grpSpPr>
              <a:xfrm>
                <a:off x="396238" y="1514858"/>
                <a:ext cx="5520376" cy="507833"/>
                <a:chOff x="0" y="0"/>
                <a:chExt cx="5520374" cy="507832"/>
              </a:xfrm>
            </p:grpSpPr>
            <p:sp>
              <p:nvSpPr>
                <p:cNvPr id="1348" name="직사각형">
                  <a:extLst>
                    <a:ext uri="{FF2B5EF4-FFF2-40B4-BE49-F238E27FC236}">
                      <a16:creationId xmlns:a16="http://schemas.microsoft.com/office/drawing/2014/main" id="{065C8C6C-CB3D-CAFC-9907-AE3DDA4B0D3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5520374" cy="5078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4FAFA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lnSpc>
                      <a:spcPts val="1500"/>
                    </a:lnSpc>
                    <a:defRPr sz="1200">
                      <a:solidFill>
                        <a:srgbClr val="0F1E1F"/>
                      </a:solidFill>
                      <a:latin typeface="Pretendard SemiBold"/>
                      <a:ea typeface="Pretendard SemiBold"/>
                      <a:cs typeface="Pretendard SemiBold"/>
                      <a:sym typeface="Pretendard SemiBold"/>
                    </a:defRPr>
                  </a:pPr>
                  <a:endParaRPr sz="2000"/>
                </a:p>
              </p:txBody>
            </p:sp>
            <p:sp>
              <p:nvSpPr>
                <p:cNvPr id="1349" name="2023년 글로벌 전기차 1406.1만대 판매…">
                  <a:extLst>
                    <a:ext uri="{FF2B5EF4-FFF2-40B4-BE49-F238E27FC236}">
                      <a16:creationId xmlns:a16="http://schemas.microsoft.com/office/drawing/2014/main" id="{EB0D9444-0790-78A4-6D71-15CCBC0C6452}"/>
                    </a:ext>
                  </a:extLst>
                </p:cNvPr>
                <p:cNvSpPr txBox="1"/>
                <p:nvPr/>
              </p:nvSpPr>
              <p:spPr>
                <a:xfrm>
                  <a:off x="45720" y="104485"/>
                  <a:ext cx="5428934" cy="2988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 algn="ctr">
                    <a:lnSpc>
                      <a:spcPts val="1500"/>
                    </a:lnSpc>
                    <a:defRPr sz="1100">
                      <a:solidFill>
                        <a:srgbClr val="0F1E1F"/>
                      </a:solidFill>
                      <a:latin typeface="Pretendard Light"/>
                      <a:ea typeface="Pretendard Light"/>
                      <a:cs typeface="Pretendard Light"/>
                      <a:sym typeface="Pretendard Light"/>
                    </a:defRPr>
                  </a:pPr>
                  <a:endParaRPr sz="2000" dirty="0">
                    <a:latin typeface="Pretendard SemiBold"/>
                    <a:ea typeface="Pretendard SemiBold"/>
                    <a:cs typeface="Pretendard SemiBold"/>
                    <a:sym typeface="Pretendard SemiBold"/>
                  </a:endParaRPr>
                </a:p>
              </p:txBody>
            </p:sp>
          </p:grpSp>
          <p:sp>
            <p:nvSpPr>
              <p:cNvPr id="1346" name="직선 연결선 43">
                <a:extLst>
                  <a:ext uri="{FF2B5EF4-FFF2-40B4-BE49-F238E27FC236}">
                    <a16:creationId xmlns:a16="http://schemas.microsoft.com/office/drawing/2014/main" id="{0541C421-8DDF-A697-D261-AFA644542880}"/>
                  </a:ext>
                </a:extLst>
              </p:cNvPr>
              <p:cNvSpPr/>
              <p:nvPr/>
            </p:nvSpPr>
            <p:spPr>
              <a:xfrm>
                <a:off x="396239" y="1521245"/>
                <a:ext cx="5520375" cy="1"/>
              </a:xfrm>
              <a:prstGeom prst="line">
                <a:avLst/>
              </a:prstGeom>
              <a:ln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  <p:sp>
            <p:nvSpPr>
              <p:cNvPr id="1347" name="직선 연결선 44">
                <a:extLst>
                  <a:ext uri="{FF2B5EF4-FFF2-40B4-BE49-F238E27FC236}">
                    <a16:creationId xmlns:a16="http://schemas.microsoft.com/office/drawing/2014/main" id="{93A6B889-230A-7D72-15DE-5EED8D2E5C80}"/>
                  </a:ext>
                </a:extLst>
              </p:cNvPr>
              <p:cNvSpPr/>
              <p:nvPr/>
            </p:nvSpPr>
            <p:spPr>
              <a:xfrm>
                <a:off x="396239" y="2026959"/>
                <a:ext cx="5520375" cy="1"/>
              </a:xfrm>
              <a:prstGeom prst="line">
                <a:avLst/>
              </a:prstGeom>
              <a:ln w="6350">
                <a:solidFill>
                  <a:srgbClr val="478689"/>
                </a:solidFill>
                <a:miter/>
              </a:ln>
            </p:spPr>
            <p:txBody>
              <a:bodyPr lIns="45719" rIns="45719"/>
              <a:lstStyle/>
              <a:p>
                <a:endParaRPr sz="2000"/>
              </a:p>
            </p:txBody>
          </p:sp>
        </p:grpSp>
        <p:sp>
          <p:nvSpPr>
            <p:cNvPr id="1344" name="양극재 배터리 수요">
              <a:extLst>
                <a:ext uri="{FF2B5EF4-FFF2-40B4-BE49-F238E27FC236}">
                  <a16:creationId xmlns:a16="http://schemas.microsoft.com/office/drawing/2014/main" id="{8204AFFD-5B03-BE0E-D4D4-703814EE8A1F}"/>
                </a:ext>
              </a:extLst>
            </p:cNvPr>
            <p:cNvSpPr txBox="1"/>
            <p:nvPr/>
          </p:nvSpPr>
          <p:spPr>
            <a:xfrm>
              <a:off x="517210" y="1418711"/>
              <a:ext cx="4191713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60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ko-KR" altLang="en-US" sz="2000" dirty="0"/>
                <a:t>공정의 한계</a:t>
              </a:r>
            </a:p>
          </p:txBody>
        </p:sp>
      </p:grpSp>
      <p:sp>
        <p:nvSpPr>
          <p:cNvPr id="1351" name="TextBox 1350">
            <a:extLst>
              <a:ext uri="{FF2B5EF4-FFF2-40B4-BE49-F238E27FC236}">
                <a16:creationId xmlns:a16="http://schemas.microsoft.com/office/drawing/2014/main" id="{2477CC41-448D-EDF9-F6E1-BB9753BC955F}"/>
              </a:ext>
            </a:extLst>
          </p:cNvPr>
          <p:cNvSpPr txBox="1"/>
          <p:nvPr/>
        </p:nvSpPr>
        <p:spPr>
          <a:xfrm>
            <a:off x="8620721" y="5185675"/>
            <a:ext cx="33433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800" dirty="0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retendard ExtraBold"/>
              </a:rPr>
              <a:t>소재 및 공정 </a:t>
            </a:r>
            <a:endParaRPr lang="en-US" altLang="ko-KR" sz="2800" dirty="0">
              <a:solidFill>
                <a:srgbClr val="03444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retendard ExtraBold"/>
            </a:endParaRPr>
          </a:p>
          <a:p>
            <a:pPr algn="ctr"/>
            <a:r>
              <a:rPr lang="ko-KR" altLang="en-US" sz="2800" dirty="0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retendard ExtraBold"/>
              </a:rPr>
              <a:t>개선 필요</a:t>
            </a:r>
            <a:endParaRPr lang="en-US" altLang="ko-KR" sz="2800" dirty="0">
              <a:solidFill>
                <a:srgbClr val="03444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retendard ExtraBold"/>
            </a:endParaRPr>
          </a:p>
        </p:txBody>
      </p:sp>
      <p:grpSp>
        <p:nvGrpSpPr>
          <p:cNvPr id="1352" name="그룹 43">
            <a:extLst>
              <a:ext uri="{FF2B5EF4-FFF2-40B4-BE49-F238E27FC236}">
                <a16:creationId xmlns:a16="http://schemas.microsoft.com/office/drawing/2014/main" id="{740E27DB-650F-22EF-658D-6D941F17336D}"/>
              </a:ext>
            </a:extLst>
          </p:cNvPr>
          <p:cNvGrpSpPr/>
          <p:nvPr/>
        </p:nvGrpSpPr>
        <p:grpSpPr>
          <a:xfrm>
            <a:off x="7772839" y="5241165"/>
            <a:ext cx="979119" cy="843127"/>
            <a:chOff x="-546276" y="341002"/>
            <a:chExt cx="729712" cy="726108"/>
          </a:xfrm>
        </p:grpSpPr>
        <p:pic>
          <p:nvPicPr>
            <p:cNvPr id="1353" name="그래픽 38" descr="그래픽 38">
              <a:extLst>
                <a:ext uri="{FF2B5EF4-FFF2-40B4-BE49-F238E27FC236}">
                  <a16:creationId xmlns:a16="http://schemas.microsoft.com/office/drawing/2014/main" id="{06147EDE-3435-65AE-D31B-09B52E948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-325210" y="341002"/>
              <a:ext cx="508646" cy="7261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54" name="그래픽 39" descr="그래픽 39">
              <a:extLst>
                <a:ext uri="{FF2B5EF4-FFF2-40B4-BE49-F238E27FC236}">
                  <a16:creationId xmlns:a16="http://schemas.microsoft.com/office/drawing/2014/main" id="{5C710053-0550-D260-B479-75D64BB26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-546276" y="388474"/>
              <a:ext cx="442134" cy="6311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56" name="TextBox 1355">
            <a:extLst>
              <a:ext uri="{FF2B5EF4-FFF2-40B4-BE49-F238E27FC236}">
                <a16:creationId xmlns:a16="http://schemas.microsoft.com/office/drawing/2014/main" id="{C8720F89-5BBB-1910-DBD5-B821A865D732}"/>
              </a:ext>
            </a:extLst>
          </p:cNvPr>
          <p:cNvSpPr txBox="1"/>
          <p:nvPr/>
        </p:nvSpPr>
        <p:spPr>
          <a:xfrm>
            <a:off x="543580" y="4841149"/>
            <a:ext cx="2881650" cy="170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낮은 </a:t>
            </a:r>
            <a:r>
              <a:rPr lang="ko-KR" altLang="en-US" spc="-1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선택성</a:t>
            </a:r>
            <a:endParaRPr lang="en-US" altLang="ko-KR" spc="-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제한된 동작 환경 </a:t>
            </a:r>
            <a:r>
              <a:rPr lang="en-US" altLang="ko-KR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(pH </a:t>
            </a:r>
            <a:r>
              <a:rPr lang="ko-KR" altLang="en-US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등</a:t>
            </a:r>
            <a:r>
              <a:rPr lang="en-US" altLang="ko-KR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ko-KR" altLang="en-US" spc="-1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상분리</a:t>
            </a:r>
            <a:r>
              <a:rPr lang="ko-KR" altLang="en-US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불안정</a:t>
            </a:r>
            <a:endParaRPr lang="en-US" altLang="ko-KR" spc="-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부산물 과다발생 </a:t>
            </a:r>
            <a:r>
              <a:rPr lang="en-US" altLang="ko-KR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망초 등</a:t>
            </a:r>
            <a:r>
              <a:rPr lang="en-US" altLang="ko-KR" spc="-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</p:txBody>
      </p:sp>
      <p:cxnSp>
        <p:nvCxnSpPr>
          <p:cNvPr id="1358" name="직선 연결선 1357">
            <a:extLst>
              <a:ext uri="{FF2B5EF4-FFF2-40B4-BE49-F238E27FC236}">
                <a16:creationId xmlns:a16="http://schemas.microsoft.com/office/drawing/2014/main" id="{1FEF21E1-8B96-4869-060B-E150796E3776}"/>
              </a:ext>
            </a:extLst>
          </p:cNvPr>
          <p:cNvCxnSpPr>
            <a:cxnSpLocks/>
          </p:cNvCxnSpPr>
          <p:nvPr/>
        </p:nvCxnSpPr>
        <p:spPr>
          <a:xfrm>
            <a:off x="3825854" y="4567121"/>
            <a:ext cx="0" cy="2248325"/>
          </a:xfrm>
          <a:prstGeom prst="line">
            <a:avLst/>
          </a:prstGeom>
          <a:noFill/>
          <a:ln w="6350" cap="flat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3000">
                  <a:srgbClr val="294F51"/>
                </a:gs>
                <a:gs pos="100000">
                  <a:schemeClr val="bg1"/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0FE5E8CF-F649-640F-52BB-367DDCF2071A}"/>
              </a:ext>
            </a:extLst>
          </p:cNvPr>
          <p:cNvGrpSpPr/>
          <p:nvPr/>
        </p:nvGrpSpPr>
        <p:grpSpPr>
          <a:xfrm>
            <a:off x="4008697" y="4684072"/>
            <a:ext cx="3465689" cy="1678041"/>
            <a:chOff x="3984342" y="4404690"/>
            <a:chExt cx="3465689" cy="1678041"/>
          </a:xfrm>
        </p:grpSpPr>
        <p:pic>
          <p:nvPicPr>
            <p:cNvPr id="23" name="그림 22" descr="Li-Cycle Reports Full Year 2024 Financial Results">
              <a:extLst>
                <a:ext uri="{FF2B5EF4-FFF2-40B4-BE49-F238E27FC236}">
                  <a16:creationId xmlns:a16="http://schemas.microsoft.com/office/drawing/2014/main" id="{105981EB-A959-2BE7-E6B8-852D6EAD9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054710" y="4404690"/>
              <a:ext cx="1606058" cy="803029"/>
            </a:xfrm>
            <a:prstGeom prst="rect">
              <a:avLst/>
            </a:prstGeom>
          </p:spPr>
        </p:pic>
        <p:sp>
          <p:nvSpPr>
            <p:cNvPr id="1360" name="TextBox 1359">
              <a:extLst>
                <a:ext uri="{FF2B5EF4-FFF2-40B4-BE49-F238E27FC236}">
                  <a16:creationId xmlns:a16="http://schemas.microsoft.com/office/drawing/2014/main" id="{BB7D4146-E787-F819-0B48-1B507100FE63}"/>
                </a:ext>
              </a:extLst>
            </p:cNvPr>
            <p:cNvSpPr txBox="1"/>
            <p:nvPr/>
          </p:nvSpPr>
          <p:spPr>
            <a:xfrm>
              <a:off x="3984342" y="5622797"/>
              <a:ext cx="3465689" cy="4599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pc="-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</a:t>
              </a:r>
              <a:r>
                <a:rPr lang="ko-KR" altLang="en-US" spc="-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세대</a:t>
              </a:r>
              <a:r>
                <a:rPr lang="en-US" altLang="ko-KR" spc="-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pc="-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재활용 공정 경제성 확보 실패</a:t>
              </a:r>
            </a:p>
          </p:txBody>
        </p:sp>
      </p:grpSp>
      <p:sp>
        <p:nvSpPr>
          <p:cNvPr id="17" name="모서리가 둥근 직사각형 12">
            <a:extLst>
              <a:ext uri="{FF2B5EF4-FFF2-40B4-BE49-F238E27FC236}">
                <a16:creationId xmlns:a16="http://schemas.microsoft.com/office/drawing/2014/main" id="{F558A90B-8FD3-3B43-F0F8-ADF443EAD046}"/>
              </a:ext>
            </a:extLst>
          </p:cNvPr>
          <p:cNvSpPr/>
          <p:nvPr/>
        </p:nvSpPr>
        <p:spPr>
          <a:xfrm>
            <a:off x="322165" y="1370103"/>
            <a:ext cx="1346192" cy="341283"/>
          </a:xfrm>
          <a:prstGeom prst="roundRect">
            <a:avLst>
              <a:gd name="adj" fmla="val 11716"/>
            </a:avLst>
          </a:prstGeom>
          <a:solidFill>
            <a:srgbClr val="C00000"/>
          </a:solidFill>
          <a:ln w="3175">
            <a:solidFill>
              <a:schemeClr val="tx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en-US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kumimoji="1"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세대</a:t>
            </a:r>
            <a:r>
              <a:rPr kumimoji="1"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kumimoji="1"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공정</a:t>
            </a:r>
            <a:endParaRPr kumimoji="1" lang="ko-Kore-KR" altLang="en-US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76869C-DE9F-4576-B23A-56D382320E8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20129" y="5374071"/>
            <a:ext cx="2460384" cy="54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3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E4B65-36D4-CB83-35C1-D3983B206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그래픽 64">
            <a:extLst>
              <a:ext uri="{FF2B5EF4-FFF2-40B4-BE49-F238E27FC236}">
                <a16:creationId xmlns:a16="http://schemas.microsoft.com/office/drawing/2014/main" id="{E7C19E7D-46B4-3FBC-4F0D-D18B1DD24976}"/>
              </a:ext>
            </a:extLst>
          </p:cNvPr>
          <p:cNvGrpSpPr/>
          <p:nvPr/>
        </p:nvGrpSpPr>
        <p:grpSpPr>
          <a:xfrm>
            <a:off x="442489" y="294939"/>
            <a:ext cx="1093353" cy="166691"/>
            <a:chOff x="0" y="0"/>
            <a:chExt cx="1093351" cy="166689"/>
          </a:xfrm>
        </p:grpSpPr>
        <p:sp>
          <p:nvSpPr>
            <p:cNvPr id="224" name="자유형: 도형 76">
              <a:extLst>
                <a:ext uri="{FF2B5EF4-FFF2-40B4-BE49-F238E27FC236}">
                  <a16:creationId xmlns:a16="http://schemas.microsoft.com/office/drawing/2014/main" id="{7C38B0C3-912C-6AFE-C1C1-D727B244FFCC}"/>
                </a:ext>
              </a:extLst>
            </p:cNvPr>
            <p:cNvSpPr/>
            <p:nvPr/>
          </p:nvSpPr>
          <p:spPr>
            <a:xfrm>
              <a:off x="357283" y="1"/>
              <a:ext cx="118583" cy="166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5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7" y="20921"/>
                  </a:cubicBezTo>
                  <a:cubicBezTo>
                    <a:pt x="12340" y="20944"/>
                    <a:pt x="13592" y="20745"/>
                    <a:pt x="14723" y="20341"/>
                  </a:cubicBezTo>
                  <a:cubicBezTo>
                    <a:pt x="15880" y="20004"/>
                    <a:pt x="16892" y="19454"/>
                    <a:pt x="17655" y="18748"/>
                  </a:cubicBezTo>
                  <a:cubicBezTo>
                    <a:pt x="18349" y="18096"/>
                    <a:pt x="18722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8"/>
                  </a:cubicBezTo>
                  <a:cubicBezTo>
                    <a:pt x="14505" y="12643"/>
                    <a:pt x="13123" y="12176"/>
                    <a:pt x="11320" y="11617"/>
                  </a:cubicBezTo>
                  <a:lnTo>
                    <a:pt x="10059" y="11232"/>
                  </a:lnTo>
                  <a:cubicBezTo>
                    <a:pt x="7594" y="10459"/>
                    <a:pt x="5707" y="9815"/>
                    <a:pt x="4400" y="9300"/>
                  </a:cubicBezTo>
                  <a:cubicBezTo>
                    <a:pt x="3241" y="8870"/>
                    <a:pt x="2208" y="8286"/>
                    <a:pt x="1357" y="7578"/>
                  </a:cubicBezTo>
                  <a:cubicBezTo>
                    <a:pt x="627" y="6938"/>
                    <a:pt x="239" y="6133"/>
                    <a:pt x="263" y="5307"/>
                  </a:cubicBezTo>
                  <a:cubicBezTo>
                    <a:pt x="246" y="4289"/>
                    <a:pt x="743" y="3301"/>
                    <a:pt x="1662" y="2522"/>
                  </a:cubicBezTo>
                  <a:cubicBezTo>
                    <a:pt x="2655" y="1688"/>
                    <a:pt x="3928" y="1047"/>
                    <a:pt x="5362" y="659"/>
                  </a:cubicBezTo>
                  <a:cubicBezTo>
                    <a:pt x="7168" y="214"/>
                    <a:pt x="9066" y="-9"/>
                    <a:pt x="10977" y="0"/>
                  </a:cubicBezTo>
                  <a:cubicBezTo>
                    <a:pt x="12985" y="-6"/>
                    <a:pt x="14966" y="336"/>
                    <a:pt x="16748" y="997"/>
                  </a:cubicBezTo>
                  <a:cubicBezTo>
                    <a:pt x="18421" y="1571"/>
                    <a:pt x="19783" y="2521"/>
                    <a:pt x="20626" y="3701"/>
                  </a:cubicBezTo>
                  <a:lnTo>
                    <a:pt x="20040" y="4216"/>
                  </a:lnTo>
                  <a:cubicBezTo>
                    <a:pt x="19250" y="3073"/>
                    <a:pt x="17949" y="2150"/>
                    <a:pt x="16343" y="1593"/>
                  </a:cubicBezTo>
                  <a:cubicBezTo>
                    <a:pt x="14719" y="976"/>
                    <a:pt x="12911" y="650"/>
                    <a:pt x="11072" y="643"/>
                  </a:cubicBezTo>
                  <a:cubicBezTo>
                    <a:pt x="9674" y="628"/>
                    <a:pt x="8287" y="814"/>
                    <a:pt x="6991" y="1189"/>
                  </a:cubicBezTo>
                  <a:cubicBezTo>
                    <a:pt x="5875" y="1500"/>
                    <a:pt x="4894" y="2017"/>
                    <a:pt x="4149" y="2686"/>
                  </a:cubicBezTo>
                  <a:cubicBezTo>
                    <a:pt x="3489" y="3287"/>
                    <a:pt x="3131" y="4030"/>
                    <a:pt x="3135" y="4794"/>
                  </a:cubicBezTo>
                  <a:cubicBezTo>
                    <a:pt x="3105" y="5478"/>
                    <a:pt x="3408" y="6149"/>
                    <a:pt x="3991" y="6693"/>
                  </a:cubicBezTo>
                  <a:cubicBezTo>
                    <a:pt x="4619" y="7241"/>
                    <a:pt x="5393" y="7696"/>
                    <a:pt x="6269" y="8029"/>
                  </a:cubicBezTo>
                  <a:cubicBezTo>
                    <a:pt x="7639" y="8547"/>
                    <a:pt x="9047" y="9014"/>
                    <a:pt x="10484" y="9428"/>
                  </a:cubicBezTo>
                  <a:lnTo>
                    <a:pt x="12288" y="9974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1"/>
                    <a:pt x="21600" y="15043"/>
                    <a:pt x="21577" y="15897"/>
                  </a:cubicBezTo>
                  <a:cubicBezTo>
                    <a:pt x="21571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5" name="자유형: 도형 77">
              <a:extLst>
                <a:ext uri="{FF2B5EF4-FFF2-40B4-BE49-F238E27FC236}">
                  <a16:creationId xmlns:a16="http://schemas.microsoft.com/office/drawing/2014/main" id="{A418EEC1-96A3-0030-32E7-5287E9BBC0A8}"/>
                </a:ext>
              </a:extLst>
            </p:cNvPr>
            <p:cNvSpPr/>
            <p:nvPr/>
          </p:nvSpPr>
          <p:spPr>
            <a:xfrm>
              <a:off x="-1" y="-1"/>
              <a:ext cx="149075" cy="166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73" extrusionOk="0">
                  <a:moveTo>
                    <a:pt x="21584" y="17806"/>
                  </a:moveTo>
                  <a:cubicBezTo>
                    <a:pt x="20467" y="18987"/>
                    <a:pt x="19078" y="19937"/>
                    <a:pt x="17512" y="20591"/>
                  </a:cubicBezTo>
                  <a:cubicBezTo>
                    <a:pt x="15933" y="21249"/>
                    <a:pt x="14212" y="21584"/>
                    <a:pt x="12471" y="21573"/>
                  </a:cubicBezTo>
                  <a:cubicBezTo>
                    <a:pt x="10204" y="21587"/>
                    <a:pt x="7969" y="21089"/>
                    <a:pt x="5973" y="20124"/>
                  </a:cubicBezTo>
                  <a:cubicBezTo>
                    <a:pt x="4164" y="19178"/>
                    <a:pt x="2661" y="17824"/>
                    <a:pt x="1614" y="16197"/>
                  </a:cubicBezTo>
                  <a:cubicBezTo>
                    <a:pt x="542" y="14557"/>
                    <a:pt x="-16" y="12688"/>
                    <a:pt x="0" y="10787"/>
                  </a:cubicBezTo>
                  <a:cubicBezTo>
                    <a:pt x="-16" y="8886"/>
                    <a:pt x="542" y="7017"/>
                    <a:pt x="1615" y="5378"/>
                  </a:cubicBezTo>
                  <a:cubicBezTo>
                    <a:pt x="2662" y="3750"/>
                    <a:pt x="4165" y="2396"/>
                    <a:pt x="5974" y="1449"/>
                  </a:cubicBezTo>
                  <a:cubicBezTo>
                    <a:pt x="7970" y="485"/>
                    <a:pt x="10205" y="-13"/>
                    <a:pt x="12472" y="0"/>
                  </a:cubicBezTo>
                  <a:cubicBezTo>
                    <a:pt x="14108" y="-6"/>
                    <a:pt x="15726" y="296"/>
                    <a:pt x="17223" y="886"/>
                  </a:cubicBezTo>
                  <a:cubicBezTo>
                    <a:pt x="18723" y="1478"/>
                    <a:pt x="20072" y="2338"/>
                    <a:pt x="21190" y="3413"/>
                  </a:cubicBezTo>
                  <a:lnTo>
                    <a:pt x="20688" y="3863"/>
                  </a:lnTo>
                  <a:cubicBezTo>
                    <a:pt x="18577" y="1799"/>
                    <a:pt x="15594" y="630"/>
                    <a:pt x="12472" y="644"/>
                  </a:cubicBezTo>
                  <a:cubicBezTo>
                    <a:pt x="10644" y="633"/>
                    <a:pt x="8859" y="1146"/>
                    <a:pt x="7378" y="2108"/>
                  </a:cubicBezTo>
                  <a:cubicBezTo>
                    <a:pt x="5843" y="3089"/>
                    <a:pt x="4609" y="4402"/>
                    <a:pt x="3790" y="5924"/>
                  </a:cubicBezTo>
                  <a:cubicBezTo>
                    <a:pt x="2060" y="8993"/>
                    <a:pt x="2067" y="12619"/>
                    <a:pt x="3809" y="15682"/>
                  </a:cubicBezTo>
                  <a:cubicBezTo>
                    <a:pt x="4632" y="17197"/>
                    <a:pt x="5865" y="18502"/>
                    <a:pt x="7394" y="19480"/>
                  </a:cubicBezTo>
                  <a:cubicBezTo>
                    <a:pt x="8872" y="20434"/>
                    <a:pt x="10650" y="20941"/>
                    <a:pt x="12470" y="20928"/>
                  </a:cubicBezTo>
                  <a:cubicBezTo>
                    <a:pt x="15803" y="20966"/>
                    <a:pt x="18973" y="19639"/>
                    <a:pt x="21082" y="17323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6" name="자유형: 도형 78">
              <a:extLst>
                <a:ext uri="{FF2B5EF4-FFF2-40B4-BE49-F238E27FC236}">
                  <a16:creationId xmlns:a16="http://schemas.microsoft.com/office/drawing/2014/main" id="{C5823712-BB4C-4F6C-1888-A9B36FDB8C1F}"/>
                </a:ext>
              </a:extLst>
            </p:cNvPr>
            <p:cNvSpPr/>
            <p:nvPr/>
          </p:nvSpPr>
          <p:spPr>
            <a:xfrm>
              <a:off x="166506" y="1"/>
              <a:ext cx="168633" cy="166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5" extrusionOk="0">
                  <a:moveTo>
                    <a:pt x="16294" y="1449"/>
                  </a:moveTo>
                  <a:cubicBezTo>
                    <a:pt x="17892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8"/>
                    <a:pt x="20146" y="16197"/>
                  </a:cubicBezTo>
                  <a:cubicBezTo>
                    <a:pt x="19219" y="17824"/>
                    <a:pt x="17892" y="19178"/>
                    <a:pt x="16293" y="20125"/>
                  </a:cubicBezTo>
                  <a:cubicBezTo>
                    <a:pt x="14696" y="21086"/>
                    <a:pt x="12872" y="21587"/>
                    <a:pt x="11016" y="21574"/>
                  </a:cubicBezTo>
                  <a:cubicBezTo>
                    <a:pt x="9014" y="21587"/>
                    <a:pt x="7041" y="21089"/>
                    <a:pt x="5278" y="20125"/>
                  </a:cubicBezTo>
                  <a:cubicBezTo>
                    <a:pt x="3680" y="19178"/>
                    <a:pt x="2352" y="17824"/>
                    <a:pt x="1426" y="16197"/>
                  </a:cubicBezTo>
                  <a:cubicBezTo>
                    <a:pt x="479" y="14558"/>
                    <a:pt x="-14" y="12688"/>
                    <a:pt x="0" y="10787"/>
                  </a:cubicBezTo>
                  <a:cubicBezTo>
                    <a:pt x="-14" y="8887"/>
                    <a:pt x="479" y="7017"/>
                    <a:pt x="1426" y="5378"/>
                  </a:cubicBezTo>
                  <a:cubicBezTo>
                    <a:pt x="2352" y="3750"/>
                    <a:pt x="3680" y="2396"/>
                    <a:pt x="5278" y="1449"/>
                  </a:cubicBezTo>
                  <a:cubicBezTo>
                    <a:pt x="7042" y="485"/>
                    <a:pt x="9015" y="-13"/>
                    <a:pt x="11017" y="0"/>
                  </a:cubicBezTo>
                  <a:cubicBezTo>
                    <a:pt x="12873" y="-13"/>
                    <a:pt x="14698" y="488"/>
                    <a:pt x="16295" y="1449"/>
                  </a:cubicBezTo>
                  <a:moveTo>
                    <a:pt x="6516" y="2108"/>
                  </a:moveTo>
                  <a:cubicBezTo>
                    <a:pt x="5160" y="3089"/>
                    <a:pt x="4070" y="4401"/>
                    <a:pt x="3346" y="5923"/>
                  </a:cubicBezTo>
                  <a:cubicBezTo>
                    <a:pt x="1818" y="8993"/>
                    <a:pt x="1824" y="12619"/>
                    <a:pt x="3362" y="15683"/>
                  </a:cubicBezTo>
                  <a:cubicBezTo>
                    <a:pt x="4090" y="17198"/>
                    <a:pt x="5180" y="18504"/>
                    <a:pt x="6532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1"/>
                  </a:cubicBezTo>
                  <a:cubicBezTo>
                    <a:pt x="16391" y="18503"/>
                    <a:pt x="17481" y="17197"/>
                    <a:pt x="18209" y="15682"/>
                  </a:cubicBezTo>
                  <a:cubicBezTo>
                    <a:pt x="19747" y="12618"/>
                    <a:pt x="19753" y="8992"/>
                    <a:pt x="18226" y="5923"/>
                  </a:cubicBezTo>
                  <a:cubicBezTo>
                    <a:pt x="17501" y="4401"/>
                    <a:pt x="16410" y="3089"/>
                    <a:pt x="15055" y="2108"/>
                  </a:cubicBezTo>
                  <a:cubicBezTo>
                    <a:pt x="13919" y="1155"/>
                    <a:pt x="12490" y="636"/>
                    <a:pt x="11017" y="644"/>
                  </a:cubicBezTo>
                  <a:cubicBezTo>
                    <a:pt x="9402" y="633"/>
                    <a:pt x="7825" y="1146"/>
                    <a:pt x="6516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7" name="자유형: 도형 79">
              <a:extLst>
                <a:ext uri="{FF2B5EF4-FFF2-40B4-BE49-F238E27FC236}">
                  <a16:creationId xmlns:a16="http://schemas.microsoft.com/office/drawing/2014/main" id="{5D50E3F6-D2EC-3FA2-7100-FFB63449D09F}"/>
                </a:ext>
              </a:extLst>
            </p:cNvPr>
            <p:cNvSpPr/>
            <p:nvPr/>
          </p:nvSpPr>
          <p:spPr>
            <a:xfrm>
              <a:off x="499224" y="-1"/>
              <a:ext cx="168657" cy="1666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4" extrusionOk="0">
                  <a:moveTo>
                    <a:pt x="16294" y="1450"/>
                  </a:moveTo>
                  <a:cubicBezTo>
                    <a:pt x="17893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7"/>
                    <a:pt x="20146" y="16197"/>
                  </a:cubicBezTo>
                  <a:cubicBezTo>
                    <a:pt x="19220" y="17824"/>
                    <a:pt x="17893" y="19178"/>
                    <a:pt x="16294" y="20124"/>
                  </a:cubicBezTo>
                  <a:cubicBezTo>
                    <a:pt x="14697" y="21085"/>
                    <a:pt x="12873" y="21586"/>
                    <a:pt x="11017" y="21574"/>
                  </a:cubicBezTo>
                  <a:cubicBezTo>
                    <a:pt x="9014" y="21587"/>
                    <a:pt x="7040" y="21089"/>
                    <a:pt x="5276" y="20124"/>
                  </a:cubicBezTo>
                  <a:cubicBezTo>
                    <a:pt x="3678" y="19177"/>
                    <a:pt x="2351" y="17824"/>
                    <a:pt x="1426" y="16197"/>
                  </a:cubicBezTo>
                  <a:cubicBezTo>
                    <a:pt x="478" y="14557"/>
                    <a:pt x="-14" y="12688"/>
                    <a:pt x="0" y="10787"/>
                  </a:cubicBezTo>
                  <a:cubicBezTo>
                    <a:pt x="-14" y="8886"/>
                    <a:pt x="478" y="7017"/>
                    <a:pt x="1426" y="5377"/>
                  </a:cubicBezTo>
                  <a:cubicBezTo>
                    <a:pt x="2352" y="3750"/>
                    <a:pt x="3678" y="2397"/>
                    <a:pt x="5276" y="1450"/>
                  </a:cubicBezTo>
                  <a:cubicBezTo>
                    <a:pt x="7040" y="485"/>
                    <a:pt x="9015" y="-13"/>
                    <a:pt x="11018" y="0"/>
                  </a:cubicBezTo>
                  <a:cubicBezTo>
                    <a:pt x="12874" y="-12"/>
                    <a:pt x="14698" y="489"/>
                    <a:pt x="16295" y="1450"/>
                  </a:cubicBezTo>
                  <a:moveTo>
                    <a:pt x="6517" y="2108"/>
                  </a:moveTo>
                  <a:cubicBezTo>
                    <a:pt x="5162" y="3089"/>
                    <a:pt x="4071" y="4401"/>
                    <a:pt x="3347" y="5924"/>
                  </a:cubicBezTo>
                  <a:cubicBezTo>
                    <a:pt x="1819" y="8993"/>
                    <a:pt x="1826" y="12619"/>
                    <a:pt x="3363" y="15683"/>
                  </a:cubicBezTo>
                  <a:cubicBezTo>
                    <a:pt x="4091" y="17198"/>
                    <a:pt x="5181" y="18504"/>
                    <a:pt x="6533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2"/>
                  </a:cubicBezTo>
                  <a:cubicBezTo>
                    <a:pt x="16390" y="18504"/>
                    <a:pt x="17480" y="17198"/>
                    <a:pt x="18208" y="15683"/>
                  </a:cubicBezTo>
                  <a:cubicBezTo>
                    <a:pt x="19745" y="12619"/>
                    <a:pt x="19751" y="8993"/>
                    <a:pt x="18224" y="5924"/>
                  </a:cubicBezTo>
                  <a:cubicBezTo>
                    <a:pt x="17500" y="4402"/>
                    <a:pt x="16410" y="3089"/>
                    <a:pt x="15055" y="2108"/>
                  </a:cubicBezTo>
                  <a:cubicBezTo>
                    <a:pt x="13920" y="1155"/>
                    <a:pt x="12491" y="637"/>
                    <a:pt x="11018" y="645"/>
                  </a:cubicBezTo>
                  <a:cubicBezTo>
                    <a:pt x="9403" y="633"/>
                    <a:pt x="7826" y="1146"/>
                    <a:pt x="6517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8" name="자유형: 도형 80">
              <a:extLst>
                <a:ext uri="{FF2B5EF4-FFF2-40B4-BE49-F238E27FC236}">
                  <a16:creationId xmlns:a16="http://schemas.microsoft.com/office/drawing/2014/main" id="{C4CEDE1E-A32A-B648-8C27-DF24C755977E}"/>
                </a:ext>
              </a:extLst>
            </p:cNvPr>
            <p:cNvSpPr/>
            <p:nvPr/>
          </p:nvSpPr>
          <p:spPr>
            <a:xfrm>
              <a:off x="696933" y="1498"/>
              <a:ext cx="106736" cy="163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41" y="20943"/>
                  </a:moveTo>
                  <a:lnTo>
                    <a:pt x="21600" y="20943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3240" y="0"/>
                  </a:ln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29" name="자유형: 도형 81">
              <a:extLst>
                <a:ext uri="{FF2B5EF4-FFF2-40B4-BE49-F238E27FC236}">
                  <a16:creationId xmlns:a16="http://schemas.microsoft.com/office/drawing/2014/main" id="{BDA33171-D423-F224-DC0E-29F0DB6B34C8}"/>
                </a:ext>
              </a:extLst>
            </p:cNvPr>
            <p:cNvSpPr/>
            <p:nvPr/>
          </p:nvSpPr>
          <p:spPr>
            <a:xfrm>
              <a:off x="818625" y="1491"/>
              <a:ext cx="128272" cy="165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33" extrusionOk="0">
                  <a:moveTo>
                    <a:pt x="20791" y="0"/>
                  </a:moveTo>
                  <a:lnTo>
                    <a:pt x="21584" y="0"/>
                  </a:lnTo>
                  <a:lnTo>
                    <a:pt x="21584" y="12610"/>
                  </a:lnTo>
                  <a:cubicBezTo>
                    <a:pt x="21600" y="14095"/>
                    <a:pt x="21253" y="15569"/>
                    <a:pt x="20562" y="16954"/>
                  </a:cubicBezTo>
                  <a:cubicBezTo>
                    <a:pt x="19885" y="18289"/>
                    <a:pt x="18709" y="19436"/>
                    <a:pt x="17184" y="20245"/>
                  </a:cubicBezTo>
                  <a:cubicBezTo>
                    <a:pt x="15368" y="21153"/>
                    <a:pt x="13233" y="21600"/>
                    <a:pt x="11076" y="21525"/>
                  </a:cubicBezTo>
                  <a:cubicBezTo>
                    <a:pt x="9679" y="21523"/>
                    <a:pt x="8286" y="21403"/>
                    <a:pt x="6922" y="21168"/>
                  </a:cubicBezTo>
                  <a:cubicBezTo>
                    <a:pt x="5616" y="20883"/>
                    <a:pt x="4415" y="20361"/>
                    <a:pt x="3419" y="19644"/>
                  </a:cubicBezTo>
                  <a:cubicBezTo>
                    <a:pt x="1139" y="18088"/>
                    <a:pt x="0" y="15690"/>
                    <a:pt x="0" y="12448"/>
                  </a:cubicBezTo>
                  <a:lnTo>
                    <a:pt x="0" y="0"/>
                  </a:lnTo>
                  <a:lnTo>
                    <a:pt x="2653" y="0"/>
                  </a:lnTo>
                  <a:lnTo>
                    <a:pt x="2653" y="13096"/>
                  </a:lnTo>
                  <a:cubicBezTo>
                    <a:pt x="2653" y="15733"/>
                    <a:pt x="3495" y="17689"/>
                    <a:pt x="5180" y="18963"/>
                  </a:cubicBezTo>
                  <a:cubicBezTo>
                    <a:pt x="6933" y="20261"/>
                    <a:pt x="9288" y="20951"/>
                    <a:pt x="11706" y="20877"/>
                  </a:cubicBezTo>
                  <a:cubicBezTo>
                    <a:pt x="13499" y="20924"/>
                    <a:pt x="15266" y="20527"/>
                    <a:pt x="16751" y="19742"/>
                  </a:cubicBezTo>
                  <a:cubicBezTo>
                    <a:pt x="18115" y="18984"/>
                    <a:pt x="19171" y="17938"/>
                    <a:pt x="19794" y="16727"/>
                  </a:cubicBezTo>
                  <a:cubicBezTo>
                    <a:pt x="20475" y="15420"/>
                    <a:pt x="20815" y="14021"/>
                    <a:pt x="20795" y="12610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230" name="자유형: 도형 82">
              <a:extLst>
                <a:ext uri="{FF2B5EF4-FFF2-40B4-BE49-F238E27FC236}">
                  <a16:creationId xmlns:a16="http://schemas.microsoft.com/office/drawing/2014/main" id="{93B15868-4177-80E2-C1BA-71BDDB87B0B8}"/>
                </a:ext>
              </a:extLst>
            </p:cNvPr>
            <p:cNvSpPr/>
            <p:nvPr/>
          </p:nvSpPr>
          <p:spPr>
            <a:xfrm>
              <a:off x="974769" y="-1"/>
              <a:ext cx="118583" cy="166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6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6" y="20921"/>
                  </a:cubicBezTo>
                  <a:cubicBezTo>
                    <a:pt x="12340" y="20944"/>
                    <a:pt x="13592" y="20745"/>
                    <a:pt x="14722" y="20341"/>
                  </a:cubicBezTo>
                  <a:cubicBezTo>
                    <a:pt x="15879" y="20004"/>
                    <a:pt x="16891" y="19454"/>
                    <a:pt x="17654" y="18748"/>
                  </a:cubicBezTo>
                  <a:cubicBezTo>
                    <a:pt x="18349" y="18096"/>
                    <a:pt x="18721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9"/>
                  </a:cubicBezTo>
                  <a:cubicBezTo>
                    <a:pt x="14505" y="12643"/>
                    <a:pt x="13123" y="12176"/>
                    <a:pt x="11320" y="11618"/>
                  </a:cubicBezTo>
                  <a:lnTo>
                    <a:pt x="10059" y="11232"/>
                  </a:lnTo>
                  <a:cubicBezTo>
                    <a:pt x="7594" y="10459"/>
                    <a:pt x="5707" y="9816"/>
                    <a:pt x="4400" y="9300"/>
                  </a:cubicBezTo>
                  <a:cubicBezTo>
                    <a:pt x="3241" y="8870"/>
                    <a:pt x="2208" y="8286"/>
                    <a:pt x="1357" y="7579"/>
                  </a:cubicBezTo>
                  <a:cubicBezTo>
                    <a:pt x="631" y="6938"/>
                    <a:pt x="247" y="6133"/>
                    <a:pt x="274" y="5309"/>
                  </a:cubicBezTo>
                  <a:cubicBezTo>
                    <a:pt x="257" y="4291"/>
                    <a:pt x="753" y="3303"/>
                    <a:pt x="1673" y="2524"/>
                  </a:cubicBezTo>
                  <a:cubicBezTo>
                    <a:pt x="2663" y="1691"/>
                    <a:pt x="3932" y="1049"/>
                    <a:pt x="5362" y="660"/>
                  </a:cubicBezTo>
                  <a:cubicBezTo>
                    <a:pt x="7169" y="214"/>
                    <a:pt x="9069" y="-9"/>
                    <a:pt x="10982" y="0"/>
                  </a:cubicBezTo>
                  <a:cubicBezTo>
                    <a:pt x="12990" y="-6"/>
                    <a:pt x="14971" y="337"/>
                    <a:pt x="16753" y="998"/>
                  </a:cubicBezTo>
                  <a:cubicBezTo>
                    <a:pt x="18425" y="1571"/>
                    <a:pt x="19787" y="2521"/>
                    <a:pt x="20630" y="3701"/>
                  </a:cubicBezTo>
                  <a:lnTo>
                    <a:pt x="20044" y="4216"/>
                  </a:lnTo>
                  <a:cubicBezTo>
                    <a:pt x="19254" y="3073"/>
                    <a:pt x="17953" y="2150"/>
                    <a:pt x="16347" y="1593"/>
                  </a:cubicBezTo>
                  <a:cubicBezTo>
                    <a:pt x="14722" y="976"/>
                    <a:pt x="12912" y="650"/>
                    <a:pt x="11072" y="643"/>
                  </a:cubicBezTo>
                  <a:cubicBezTo>
                    <a:pt x="9674" y="629"/>
                    <a:pt x="8287" y="815"/>
                    <a:pt x="6991" y="1190"/>
                  </a:cubicBezTo>
                  <a:cubicBezTo>
                    <a:pt x="5875" y="1501"/>
                    <a:pt x="4894" y="2017"/>
                    <a:pt x="4149" y="2687"/>
                  </a:cubicBezTo>
                  <a:cubicBezTo>
                    <a:pt x="3488" y="3288"/>
                    <a:pt x="3131" y="4030"/>
                    <a:pt x="3135" y="4794"/>
                  </a:cubicBezTo>
                  <a:cubicBezTo>
                    <a:pt x="3105" y="5479"/>
                    <a:pt x="3408" y="6149"/>
                    <a:pt x="3991" y="6693"/>
                  </a:cubicBezTo>
                  <a:cubicBezTo>
                    <a:pt x="4619" y="7242"/>
                    <a:pt x="5393" y="7696"/>
                    <a:pt x="6269" y="8029"/>
                  </a:cubicBezTo>
                  <a:cubicBezTo>
                    <a:pt x="7640" y="8547"/>
                    <a:pt x="9046" y="9014"/>
                    <a:pt x="10484" y="9428"/>
                  </a:cubicBezTo>
                  <a:lnTo>
                    <a:pt x="12288" y="9975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2"/>
                    <a:pt x="21600" y="15043"/>
                    <a:pt x="21577" y="15897"/>
                  </a:cubicBezTo>
                  <a:cubicBezTo>
                    <a:pt x="21570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</p:grpSp>
      <p:sp>
        <p:nvSpPr>
          <p:cNvPr id="232" name="직사각형 66">
            <a:extLst>
              <a:ext uri="{FF2B5EF4-FFF2-40B4-BE49-F238E27FC236}">
                <a16:creationId xmlns:a16="http://schemas.microsoft.com/office/drawing/2014/main" id="{D3C0553B-0B95-8FB9-3142-F792346D6263}"/>
              </a:ext>
            </a:extLst>
          </p:cNvPr>
          <p:cNvSpPr/>
          <p:nvPr/>
        </p:nvSpPr>
        <p:spPr>
          <a:xfrm>
            <a:off x="-3" y="-2"/>
            <a:ext cx="132084" cy="1308101"/>
          </a:xfrm>
          <a:prstGeom prst="rect">
            <a:avLst/>
          </a:prstGeom>
          <a:solidFill>
            <a:srgbClr val="294F5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3" name="직사각형 67">
            <a:extLst>
              <a:ext uri="{FF2B5EF4-FFF2-40B4-BE49-F238E27FC236}">
                <a16:creationId xmlns:a16="http://schemas.microsoft.com/office/drawing/2014/main" id="{B978B314-BEC0-56BA-36B2-D2CD986F7385}"/>
              </a:ext>
            </a:extLst>
          </p:cNvPr>
          <p:cNvSpPr/>
          <p:nvPr/>
        </p:nvSpPr>
        <p:spPr>
          <a:xfrm>
            <a:off x="-3" y="1306416"/>
            <a:ext cx="132084" cy="5551585"/>
          </a:xfrm>
          <a:prstGeom prst="rect">
            <a:avLst/>
          </a:prstGeom>
          <a:solidFill>
            <a:srgbClr val="DFF1F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4" name="직선 연결선 68">
            <a:extLst>
              <a:ext uri="{FF2B5EF4-FFF2-40B4-BE49-F238E27FC236}">
                <a16:creationId xmlns:a16="http://schemas.microsoft.com/office/drawing/2014/main" id="{372EF30E-3DD7-EB9C-D839-24405DD54EAA}"/>
              </a:ext>
            </a:extLst>
          </p:cNvPr>
          <p:cNvSpPr/>
          <p:nvPr/>
        </p:nvSpPr>
        <p:spPr>
          <a:xfrm>
            <a:off x="396240" y="548640"/>
            <a:ext cx="11795761" cy="1"/>
          </a:xfrm>
          <a:prstGeom prst="line">
            <a:avLst/>
          </a:prstGeom>
          <a:ln w="6350">
            <a:solidFill>
              <a:srgbClr val="47868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5" name="TextBox 71">
            <a:extLst>
              <a:ext uri="{FF2B5EF4-FFF2-40B4-BE49-F238E27FC236}">
                <a16:creationId xmlns:a16="http://schemas.microsoft.com/office/drawing/2014/main" id="{16CE32FA-4133-15E1-4D35-9F645678FC80}"/>
              </a:ext>
            </a:extLst>
          </p:cNvPr>
          <p:cNvSpPr txBox="1"/>
          <p:nvPr/>
        </p:nvSpPr>
        <p:spPr>
          <a:xfrm>
            <a:off x="446746" y="616129"/>
            <a:ext cx="843180" cy="18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1200" spc="20">
                <a:solidFill>
                  <a:srgbClr val="808080">
                    <a:alpha val="70000"/>
                  </a:srgbClr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lvl1pPr>
          </a:lstStyle>
          <a:p>
            <a:r>
              <a:rPr lang="en-US" altLang="ko-KR" dirty="0"/>
              <a:t>Background</a:t>
            </a:r>
          </a:p>
        </p:txBody>
      </p:sp>
      <p:sp>
        <p:nvSpPr>
          <p:cNvPr id="236" name="TextBox 2">
            <a:extLst>
              <a:ext uri="{FF2B5EF4-FFF2-40B4-BE49-F238E27FC236}">
                <a16:creationId xmlns:a16="http://schemas.microsoft.com/office/drawing/2014/main" id="{DE1FA3F3-36E8-510A-4CA6-0DB768E6FAD7}"/>
              </a:ext>
            </a:extLst>
          </p:cNvPr>
          <p:cNvSpPr txBox="1"/>
          <p:nvPr/>
        </p:nvSpPr>
        <p:spPr>
          <a:xfrm>
            <a:off x="9480707" y="225474"/>
            <a:ext cx="258785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solidFill>
                  <a:srgbClr val="478689"/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pPr>
            <a:r>
              <a:rPr lang="en-US" dirty="0"/>
              <a:t>We promise tomorrow</a:t>
            </a:r>
          </a:p>
        </p:txBody>
      </p:sp>
      <p:sp>
        <p:nvSpPr>
          <p:cNvPr id="193" name="슬라이드 번호 개체 틀 4">
            <a:extLst>
              <a:ext uri="{FF2B5EF4-FFF2-40B4-BE49-F238E27FC236}">
                <a16:creationId xmlns:a16="http://schemas.microsoft.com/office/drawing/2014/main" id="{6D8248DE-FF4D-C764-0053-A67C5707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4608"/>
            <a:ext cx="2743200" cy="365125"/>
          </a:xfrm>
        </p:spPr>
        <p:txBody>
          <a:bodyPr/>
          <a:lstStyle/>
          <a:p>
            <a:fld id="{37ED9AAF-E0B1-45D5-BDDA-4E50A2DB2EEA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1C743BFD-2185-7B74-B7F7-C5D4790E3652}"/>
              </a:ext>
            </a:extLst>
          </p:cNvPr>
          <p:cNvSpPr txBox="1"/>
          <p:nvPr/>
        </p:nvSpPr>
        <p:spPr>
          <a:xfrm>
            <a:off x="403759" y="805796"/>
            <a:ext cx="10699670" cy="442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10000"/>
              </a:lnSpc>
              <a:defRPr sz="3000" spc="-30">
                <a:solidFill>
                  <a:srgbClr val="0F1E1F"/>
                </a:solidFill>
                <a:latin typeface="G마켓 산스 Bold"/>
                <a:ea typeface="G마켓 산스 Bold"/>
                <a:cs typeface="G마켓 산스 Bold"/>
                <a:sym typeface="G마켓 산스 Bold"/>
              </a:defRPr>
            </a:lvl1pPr>
          </a:lstStyle>
          <a:p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솔루션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1]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개요 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– 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고성능 </a:t>
            </a:r>
            <a:r>
              <a:rPr lang="ko-KR" altLang="en-US" sz="2800" dirty="0" err="1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추출제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(1.5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세대 화학소재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375CEF3-0908-809A-3C7C-7C1663245D9D}"/>
              </a:ext>
            </a:extLst>
          </p:cNvPr>
          <p:cNvGrpSpPr/>
          <p:nvPr/>
        </p:nvGrpSpPr>
        <p:grpSpPr>
          <a:xfrm>
            <a:off x="608995" y="1762584"/>
            <a:ext cx="10721418" cy="2367481"/>
            <a:chOff x="256660" y="2391176"/>
            <a:chExt cx="11811898" cy="2769500"/>
          </a:xfrm>
        </p:grpSpPr>
        <p:grpSp>
          <p:nvGrpSpPr>
            <p:cNvPr id="473" name="그룹 472">
              <a:extLst>
                <a:ext uri="{FF2B5EF4-FFF2-40B4-BE49-F238E27FC236}">
                  <a16:creationId xmlns:a16="http://schemas.microsoft.com/office/drawing/2014/main" id="{83CC6CF8-B477-826E-698C-72146FFE6AFF}"/>
                </a:ext>
              </a:extLst>
            </p:cNvPr>
            <p:cNvGrpSpPr/>
            <p:nvPr/>
          </p:nvGrpSpPr>
          <p:grpSpPr>
            <a:xfrm>
              <a:off x="8195197" y="2665856"/>
              <a:ext cx="1837910" cy="1267141"/>
              <a:chOff x="5948100" y="644108"/>
              <a:chExt cx="2065192" cy="1423837"/>
            </a:xfrm>
          </p:grpSpPr>
          <p:pic>
            <p:nvPicPr>
              <p:cNvPr id="503" name="Picture 2">
                <a:extLst>
                  <a:ext uri="{FF2B5EF4-FFF2-40B4-BE49-F238E27FC236}">
                    <a16:creationId xmlns:a16="http://schemas.microsoft.com/office/drawing/2014/main" id="{8A926128-45EC-0711-7168-B2F0C40C69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6208101" y="1300240"/>
                <a:ext cx="671472" cy="5295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4" name="Picture 2">
                <a:extLst>
                  <a:ext uri="{FF2B5EF4-FFF2-40B4-BE49-F238E27FC236}">
                    <a16:creationId xmlns:a16="http://schemas.microsoft.com/office/drawing/2014/main" id="{CF311446-2DF5-9EEB-8134-9D6FC2EA4A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7024860" y="1342410"/>
                <a:ext cx="727063" cy="5138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05" name="그룹 504">
                <a:extLst>
                  <a:ext uri="{FF2B5EF4-FFF2-40B4-BE49-F238E27FC236}">
                    <a16:creationId xmlns:a16="http://schemas.microsoft.com/office/drawing/2014/main" id="{E2EA26D7-A908-4619-4A58-5994184D56D6}"/>
                  </a:ext>
                </a:extLst>
              </p:cNvPr>
              <p:cNvGrpSpPr/>
              <p:nvPr/>
            </p:nvGrpSpPr>
            <p:grpSpPr>
              <a:xfrm>
                <a:off x="6013920" y="644108"/>
                <a:ext cx="1999367" cy="750143"/>
                <a:chOff x="13485575" y="502313"/>
                <a:chExt cx="2649286" cy="993984"/>
              </a:xfrm>
            </p:grpSpPr>
            <p:pic>
              <p:nvPicPr>
                <p:cNvPr id="508" name="Picture 2">
                  <a:extLst>
                    <a:ext uri="{FF2B5EF4-FFF2-40B4-BE49-F238E27FC236}">
                      <a16:creationId xmlns:a16="http://schemas.microsoft.com/office/drawing/2014/main" id="{A4273964-1AD9-E491-2DF5-DDB55C83A65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13799034" y="502313"/>
                  <a:ext cx="826280" cy="70167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09" name="Picture 2">
                  <a:extLst>
                    <a:ext uri="{FF2B5EF4-FFF2-40B4-BE49-F238E27FC236}">
                      <a16:creationId xmlns:a16="http://schemas.microsoft.com/office/drawing/2014/main" id="{03EB5151-5B92-B3DB-ED26-1BC975C68AA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14830068" y="553163"/>
                  <a:ext cx="1050708" cy="67012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95695766-0EB8-ABA8-1E50-82F851774C21}"/>
                    </a:ext>
                  </a:extLst>
                </p:cNvPr>
                <p:cNvSpPr txBox="1"/>
                <p:nvPr/>
              </p:nvSpPr>
              <p:spPr>
                <a:xfrm>
                  <a:off x="13485575" y="1092407"/>
                  <a:ext cx="1558889" cy="40389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1000" dirty="0" err="1">
                      <a:latin typeface="Pretendard Light" panose="02000403000000020004" pitchFamily="2" charset="-127"/>
                      <a:ea typeface="Pretendard Light" panose="02000403000000020004" pitchFamily="2" charset="-127"/>
                    </a:rPr>
                    <a:t>MnSO</a:t>
                  </a:r>
                  <a:r>
                    <a:rPr lang="en-US" altLang="ko-KR" sz="1000" baseline="-25000" dirty="0" err="1">
                      <a:latin typeface="Pretendard Light" panose="02000403000000020004" pitchFamily="2" charset="-127"/>
                      <a:ea typeface="Pretendard Light" panose="02000403000000020004" pitchFamily="2" charset="-127"/>
                    </a:rPr>
                    <a:t>4</a:t>
                  </a:r>
                  <a:endParaRPr lang="ko-KR" altLang="en-US" sz="1000" baseline="-25000" dirty="0">
                    <a:latin typeface="Pretendard Light" panose="02000403000000020004" pitchFamily="2" charset="-127"/>
                    <a:ea typeface="Pretendard Light" panose="02000403000000020004" pitchFamily="2" charset="-127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C33E43F2-F552-E9F0-0301-2053455DB7FA}"/>
                    </a:ext>
                  </a:extLst>
                </p:cNvPr>
                <p:cNvSpPr txBox="1"/>
                <p:nvPr/>
              </p:nvSpPr>
              <p:spPr>
                <a:xfrm>
                  <a:off x="14575984" y="1092407"/>
                  <a:ext cx="1558877" cy="40389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1000" dirty="0" err="1">
                      <a:latin typeface="Pretendard Light" panose="02000403000000020004" pitchFamily="2" charset="-127"/>
                      <a:ea typeface="Pretendard Light" panose="02000403000000020004" pitchFamily="2" charset="-127"/>
                    </a:rPr>
                    <a:t>NiSO</a:t>
                  </a:r>
                  <a:r>
                    <a:rPr lang="en-US" altLang="ko-KR" sz="1000" baseline="-25000" dirty="0" err="1">
                      <a:latin typeface="Pretendard Light" panose="02000403000000020004" pitchFamily="2" charset="-127"/>
                      <a:ea typeface="Pretendard Light" panose="02000403000000020004" pitchFamily="2" charset="-127"/>
                    </a:rPr>
                    <a:t>4</a:t>
                  </a:r>
                  <a:endParaRPr lang="ko-KR" altLang="en-US" sz="1000" baseline="-25000" dirty="0">
                    <a:latin typeface="Pretendard Light" panose="02000403000000020004" pitchFamily="2" charset="-127"/>
                    <a:ea typeface="Pretendard Light" panose="02000403000000020004" pitchFamily="2" charset="-127"/>
                  </a:endParaRPr>
                </a:p>
              </p:txBody>
            </p:sp>
          </p:grpSp>
          <p:sp>
            <p:nvSpPr>
              <p:cNvPr id="506" name="TextBox 505">
                <a:extLst>
                  <a:ext uri="{FF2B5EF4-FFF2-40B4-BE49-F238E27FC236}">
                    <a16:creationId xmlns:a16="http://schemas.microsoft.com/office/drawing/2014/main" id="{BDC48725-DDDD-C23A-FBA2-39B07E301FF8}"/>
                  </a:ext>
                </a:extLst>
              </p:cNvPr>
              <p:cNvSpPr txBox="1"/>
              <p:nvPr/>
            </p:nvSpPr>
            <p:spPr>
              <a:xfrm>
                <a:off x="5948100" y="1763136"/>
                <a:ext cx="1176463" cy="30480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dirty="0" err="1">
                    <a:latin typeface="Pretendard Light" panose="02000403000000020004" pitchFamily="2" charset="-127"/>
                    <a:ea typeface="Pretendard Light" panose="02000403000000020004" pitchFamily="2" charset="-127"/>
                  </a:rPr>
                  <a:t>CoSO</a:t>
                </a:r>
                <a:r>
                  <a:rPr lang="en-US" altLang="ko-KR" sz="1000" baseline="-25000" dirty="0" err="1">
                    <a:latin typeface="Pretendard Light" panose="02000403000000020004" pitchFamily="2" charset="-127"/>
                    <a:ea typeface="Pretendard Light" panose="02000403000000020004" pitchFamily="2" charset="-127"/>
                  </a:rPr>
                  <a:t>4</a:t>
                </a:r>
                <a:endParaRPr lang="ko-KR" altLang="en-US" sz="1000" baseline="-25000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507" name="TextBox 506">
                <a:extLst>
                  <a:ext uri="{FF2B5EF4-FFF2-40B4-BE49-F238E27FC236}">
                    <a16:creationId xmlns:a16="http://schemas.microsoft.com/office/drawing/2014/main" id="{32C8CEC4-D6C4-51A0-5B93-6F2AC7F93E64}"/>
                  </a:ext>
                </a:extLst>
              </p:cNvPr>
              <p:cNvSpPr txBox="1"/>
              <p:nvPr/>
            </p:nvSpPr>
            <p:spPr>
              <a:xfrm>
                <a:off x="6836827" y="1763136"/>
                <a:ext cx="1176465" cy="30480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dirty="0" err="1">
                    <a:latin typeface="Pretendard Light" panose="02000403000000020004" pitchFamily="2" charset="-127"/>
                    <a:ea typeface="Pretendard Light" panose="02000403000000020004" pitchFamily="2" charset="-127"/>
                  </a:rPr>
                  <a:t>Li</a:t>
                </a:r>
                <a:r>
                  <a:rPr lang="en-US" altLang="ko-KR" sz="1000" baseline="-25000" dirty="0" err="1">
                    <a:latin typeface="Pretendard Light" panose="02000403000000020004" pitchFamily="2" charset="-127"/>
                    <a:ea typeface="Pretendard Light" panose="02000403000000020004" pitchFamily="2" charset="-127"/>
                  </a:rPr>
                  <a:t>2</a:t>
                </a:r>
                <a:r>
                  <a:rPr lang="en-US" altLang="ko-KR" sz="1000" dirty="0" err="1">
                    <a:latin typeface="Pretendard Light" panose="02000403000000020004" pitchFamily="2" charset="-127"/>
                    <a:ea typeface="Pretendard Light" panose="02000403000000020004" pitchFamily="2" charset="-127"/>
                  </a:rPr>
                  <a:t>CO</a:t>
                </a:r>
                <a:r>
                  <a:rPr lang="en-US" altLang="ko-KR" sz="1000" baseline="-25000" dirty="0" err="1">
                    <a:latin typeface="Pretendard Light" panose="02000403000000020004" pitchFamily="2" charset="-127"/>
                    <a:ea typeface="Pretendard Light" panose="02000403000000020004" pitchFamily="2" charset="-127"/>
                  </a:rPr>
                  <a:t>3</a:t>
                </a:r>
                <a:endParaRPr lang="ko-KR" altLang="en-US" sz="1000" baseline="-25000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id="{8A03E4EB-7DCC-4437-3800-8034B0AFB1DA}"/>
                </a:ext>
              </a:extLst>
            </p:cNvPr>
            <p:cNvSpPr txBox="1"/>
            <p:nvPr/>
          </p:nvSpPr>
          <p:spPr>
            <a:xfrm>
              <a:off x="9846427" y="3050841"/>
              <a:ext cx="349103" cy="4068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 marR="0" lvl="0" indent="0" algn="ctr" defTabSz="457200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en-US" altLang="ko-KR" sz="1800" dirty="0"/>
                <a:t>+</a:t>
              </a:r>
              <a:endParaRPr lang="ko-KR" altLang="en-US" sz="1800" dirty="0"/>
            </a:p>
          </p:txBody>
        </p:sp>
        <p:sp>
          <p:nvSpPr>
            <p:cNvPr id="475" name="TextBox 18">
              <a:extLst>
                <a:ext uri="{FF2B5EF4-FFF2-40B4-BE49-F238E27FC236}">
                  <a16:creationId xmlns:a16="http://schemas.microsoft.com/office/drawing/2014/main" id="{8B41FF6B-C2BB-EADA-C0B6-2115D2234EB3}"/>
                </a:ext>
              </a:extLst>
            </p:cNvPr>
            <p:cNvSpPr txBox="1"/>
            <p:nvPr/>
          </p:nvSpPr>
          <p:spPr>
            <a:xfrm>
              <a:off x="868084" y="4728628"/>
              <a:ext cx="3153268" cy="43204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 algn="ctr">
                <a:defRPr sz="1600">
                  <a:solidFill>
                    <a:srgbClr val="2C484A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en-US" altLang="ko-KR" sz="1800" spc="-30" dirty="0">
                  <a:solidFill>
                    <a:schemeClr val="tx1"/>
                  </a:solidFill>
                  <a:latin typeface="Pretendard Light"/>
                  <a:ea typeface="Pretendard Light"/>
                  <a:cs typeface="Pretendard Light"/>
                </a:rPr>
                <a:t>[</a:t>
              </a:r>
              <a:r>
                <a:rPr lang="ko-KR" altLang="en-US" sz="1800" spc="-30" dirty="0">
                  <a:solidFill>
                    <a:schemeClr val="tx1"/>
                  </a:solidFill>
                  <a:latin typeface="Pretendard Light"/>
                  <a:ea typeface="Pretendard Light"/>
                  <a:cs typeface="Pretendard Light"/>
                </a:rPr>
                <a:t>전처리공정</a:t>
              </a:r>
              <a:r>
                <a:rPr lang="en-US" altLang="ko-KR" sz="1800" spc="-30" dirty="0">
                  <a:solidFill>
                    <a:schemeClr val="tx1"/>
                  </a:solidFill>
                  <a:latin typeface="Pretendard Light"/>
                  <a:ea typeface="Pretendard Light"/>
                  <a:cs typeface="Pretendard Light"/>
                </a:rPr>
                <a:t>]</a:t>
              </a:r>
              <a:endParaRPr lang="ko-KR" altLang="en-US" sz="1800" spc="-30" dirty="0">
                <a:solidFill>
                  <a:schemeClr val="tx1"/>
                </a:solidFill>
                <a:latin typeface="Pretendard Light"/>
                <a:ea typeface="Pretendard Light"/>
                <a:cs typeface="Pretendard Light"/>
              </a:endParaRPr>
            </a:p>
          </p:txBody>
        </p:sp>
        <p:pic>
          <p:nvPicPr>
            <p:cNvPr id="476" name="이미지" descr="이미지">
              <a:extLst>
                <a:ext uri="{FF2B5EF4-FFF2-40B4-BE49-F238E27FC236}">
                  <a16:creationId xmlns:a16="http://schemas.microsoft.com/office/drawing/2014/main" id="{9A985466-F95A-745B-2825-D635BC09D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60489" y="2955327"/>
              <a:ext cx="782192" cy="402137"/>
            </a:xfrm>
            <a:prstGeom prst="rect">
              <a:avLst/>
            </a:prstGeom>
            <a:ln w="12700">
              <a:miter lim="400000"/>
            </a:ln>
          </p:spPr>
        </p:pic>
        <p:cxnSp>
          <p:nvCxnSpPr>
            <p:cNvPr id="477" name="직선 화살표 연결선 476">
              <a:extLst>
                <a:ext uri="{FF2B5EF4-FFF2-40B4-BE49-F238E27FC236}">
                  <a16:creationId xmlns:a16="http://schemas.microsoft.com/office/drawing/2014/main" id="{B67502BC-BDF7-4A30-1A04-9036491163E7}"/>
                </a:ext>
              </a:extLst>
            </p:cNvPr>
            <p:cNvCxnSpPr>
              <a:cxnSpLocks/>
            </p:cNvCxnSpPr>
            <p:nvPr/>
          </p:nvCxnSpPr>
          <p:spPr>
            <a:xfrm>
              <a:off x="1843605" y="3429000"/>
              <a:ext cx="890095" cy="0"/>
            </a:xfrm>
            <a:prstGeom prst="straightConnector1">
              <a:avLst/>
            </a:prstGeom>
            <a:ln w="25400">
              <a:solidFill>
                <a:srgbClr val="073E4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78" name="그림 13" descr="그림 13">
              <a:extLst>
                <a:ext uri="{FF2B5EF4-FFF2-40B4-BE49-F238E27FC236}">
                  <a16:creationId xmlns:a16="http://schemas.microsoft.com/office/drawing/2014/main" id="{14E8699C-BA05-0CC8-EA37-6F99CCD0B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6660" y="3023098"/>
              <a:ext cx="1095560" cy="721533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50800" dist="38100" dir="5400000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479" name="그림 15" descr="그림 15">
              <a:extLst>
                <a:ext uri="{FF2B5EF4-FFF2-40B4-BE49-F238E27FC236}">
                  <a16:creationId xmlns:a16="http://schemas.microsoft.com/office/drawing/2014/main" id="{CD084D59-7BB6-3326-8321-A234CE666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>
            <a:xfrm>
              <a:off x="1146334" y="3217656"/>
              <a:ext cx="517312" cy="566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4"/>
                    <a:pt x="4836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4836"/>
                    <a:pt x="16764" y="0"/>
                    <a:pt x="10800" y="0"/>
                  </a:cubicBezTo>
                  <a:close/>
                </a:path>
              </a:pathLst>
            </a:custGeom>
            <a:ln w="9525" cap="flat">
              <a:solidFill>
                <a:srgbClr val="61BFBD"/>
              </a:solidFill>
              <a:prstDash val="solid"/>
              <a:round/>
            </a:ln>
            <a:effectLst/>
          </p:spPr>
        </p:pic>
        <p:pic>
          <p:nvPicPr>
            <p:cNvPr id="480" name="그림 10" descr="그림 10">
              <a:extLst>
                <a:ext uri="{FF2B5EF4-FFF2-40B4-BE49-F238E27FC236}">
                  <a16:creationId xmlns:a16="http://schemas.microsoft.com/office/drawing/2014/main" id="{A68F5F3D-8ED0-319B-ED22-75D00047F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t="26948"/>
            <a:stretch/>
          </p:blipFill>
          <p:spPr>
            <a:xfrm>
              <a:off x="2836872" y="2972743"/>
              <a:ext cx="1483114" cy="797799"/>
            </a:xfrm>
            <a:prstGeom prst="rect">
              <a:avLst/>
            </a:prstGeom>
            <a:ln w="12700">
              <a:miter lim="400000"/>
            </a:ln>
            <a:effectLst>
              <a:outerShdw blurRad="50800" dist="38100" dir="2700000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481" name="TextBox 21">
              <a:extLst>
                <a:ext uri="{FF2B5EF4-FFF2-40B4-BE49-F238E27FC236}">
                  <a16:creationId xmlns:a16="http://schemas.microsoft.com/office/drawing/2014/main" id="{67BA1BE5-2AD1-98E5-7514-E7AAA9FA24EA}"/>
                </a:ext>
              </a:extLst>
            </p:cNvPr>
            <p:cNvSpPr txBox="1"/>
            <p:nvPr/>
          </p:nvSpPr>
          <p:spPr>
            <a:xfrm>
              <a:off x="3135506" y="3891040"/>
              <a:ext cx="885846" cy="396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600">
                  <a:solidFill>
                    <a:srgbClr val="2C484A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ko-KR" altLang="en-US" dirty="0" err="1">
                  <a:solidFill>
                    <a:schemeClr val="tx1"/>
                  </a:solidFill>
                </a:rPr>
                <a:t>블랙매스</a:t>
              </a:r>
              <a:endParaRPr lang="en-US" altLang="ko-KR" baseline="30000" dirty="0">
                <a:solidFill>
                  <a:schemeClr val="tx1"/>
                </a:solidFill>
              </a:endParaRPr>
            </a:p>
          </p:txBody>
        </p:sp>
        <p:sp>
          <p:nvSpPr>
            <p:cNvPr id="482" name="TextBox 22">
              <a:extLst>
                <a:ext uri="{FF2B5EF4-FFF2-40B4-BE49-F238E27FC236}">
                  <a16:creationId xmlns:a16="http://schemas.microsoft.com/office/drawing/2014/main" id="{2DAFB03F-608F-3D87-5ED8-ED49E2BFEA4B}"/>
                </a:ext>
              </a:extLst>
            </p:cNvPr>
            <p:cNvSpPr txBox="1"/>
            <p:nvPr/>
          </p:nvSpPr>
          <p:spPr>
            <a:xfrm>
              <a:off x="2175866" y="4245188"/>
              <a:ext cx="2805127" cy="5760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defRPr sz="1000" spc="-30">
                  <a:solidFill>
                    <a:srgbClr val="2C484A"/>
                  </a:solidFill>
                  <a:latin typeface="Pretendard Light"/>
                  <a:ea typeface="Pretendard Light"/>
                  <a:cs typeface="Pretendard Light"/>
                  <a:sym typeface="Pretendard Light"/>
                </a:defRPr>
              </a:pPr>
              <a:r>
                <a:rPr lang="ko-KR" altLang="en-US" sz="16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폐배터리 </a:t>
              </a:r>
              <a:r>
                <a:rPr lang="ko-KR" altLang="en-US" sz="1600" dirty="0" err="1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전처리하여</a:t>
              </a:r>
              <a:r>
                <a:rPr lang="ko-KR" altLang="en-US" sz="16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</a:t>
              </a:r>
              <a:endParaRPr lang="en-US" altLang="ko-KR" sz="1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pPr algn="ctr">
                <a:defRPr sz="1000" spc="-30">
                  <a:solidFill>
                    <a:srgbClr val="2C484A"/>
                  </a:solidFill>
                  <a:latin typeface="Pretendard Light"/>
                  <a:ea typeface="Pretendard Light"/>
                  <a:cs typeface="Pretendard Light"/>
                  <a:sym typeface="Pretendard Light"/>
                </a:defRPr>
              </a:pPr>
              <a:r>
                <a:rPr lang="ko-KR" altLang="en-US" sz="16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얻어지는 중간재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B6930FDD-D853-C4EB-4585-0D1620BBD78A}"/>
                </a:ext>
              </a:extLst>
            </p:cNvPr>
            <p:cNvSpPr txBox="1"/>
            <p:nvPr/>
          </p:nvSpPr>
          <p:spPr>
            <a:xfrm>
              <a:off x="5519509" y="3891040"/>
              <a:ext cx="2262139" cy="4068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Pretendard SemiBold"/>
                </a:rPr>
                <a:t>양극재 재활용 공정</a:t>
              </a:r>
              <a:endParaRPr lang="en-US" altLang="ko-KR" sz="1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  <a:sym typeface="Pretendard SemiBold"/>
              </a:endParaRPr>
            </a:p>
          </p:txBody>
        </p:sp>
        <p:cxnSp>
          <p:nvCxnSpPr>
            <p:cNvPr id="484" name="직선 화살표 연결선 483">
              <a:extLst>
                <a:ext uri="{FF2B5EF4-FFF2-40B4-BE49-F238E27FC236}">
                  <a16:creationId xmlns:a16="http://schemas.microsoft.com/office/drawing/2014/main" id="{C6863CA8-FE38-6434-176D-3BF34AADD222}"/>
                </a:ext>
              </a:extLst>
            </p:cNvPr>
            <p:cNvCxnSpPr>
              <a:cxnSpLocks/>
            </p:cNvCxnSpPr>
            <p:nvPr/>
          </p:nvCxnSpPr>
          <p:spPr>
            <a:xfrm>
              <a:off x="4661534" y="3429000"/>
              <a:ext cx="753719" cy="0"/>
            </a:xfrm>
            <a:prstGeom prst="straightConnector1">
              <a:avLst/>
            </a:prstGeom>
            <a:ln w="25400">
              <a:solidFill>
                <a:srgbClr val="073E4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id="{4EC0453C-403E-9460-07A8-118FEA665EEF}"/>
                </a:ext>
              </a:extLst>
            </p:cNvPr>
            <p:cNvSpPr txBox="1"/>
            <p:nvPr/>
          </p:nvSpPr>
          <p:spPr>
            <a:xfrm>
              <a:off x="10195530" y="4035055"/>
              <a:ext cx="1873028" cy="39604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 marR="0" lvl="0" indent="0" algn="ctr" defTabSz="457200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600" u="sng" spc="-30" dirty="0" err="1">
                  <a:sym typeface="Pretendard ExtraBold"/>
                </a:rPr>
                <a:t>폐흑연</a:t>
              </a:r>
              <a:r>
                <a:rPr lang="ko-KR" altLang="en-US" sz="1600" u="sng" spc="-30" dirty="0">
                  <a:sym typeface="Pretendard ExtraBold"/>
                </a:rPr>
                <a:t> </a:t>
              </a:r>
              <a:endParaRPr lang="en-US" altLang="ko-KR" sz="1600" u="sng" spc="-30" dirty="0">
                <a:sym typeface="Pretendard ExtraBold"/>
              </a:endParaRPr>
            </a:p>
          </p:txBody>
        </p:sp>
        <p:sp>
          <p:nvSpPr>
            <p:cNvPr id="487" name="TextBox 486">
              <a:extLst>
                <a:ext uri="{FF2B5EF4-FFF2-40B4-BE49-F238E27FC236}">
                  <a16:creationId xmlns:a16="http://schemas.microsoft.com/office/drawing/2014/main" id="{A78B3F05-60E4-5A4A-E164-7F9BFAEF88B6}"/>
                </a:ext>
              </a:extLst>
            </p:cNvPr>
            <p:cNvSpPr txBox="1"/>
            <p:nvPr/>
          </p:nvSpPr>
          <p:spPr>
            <a:xfrm>
              <a:off x="7661750" y="4035055"/>
              <a:ext cx="2738909" cy="39604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ko-KR"/>
              </a:defPPr>
              <a:lvl1pPr marR="0" lvl="0" indent="0" algn="ctr" defTabSz="457200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40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r>
                <a:rPr lang="ko-KR" altLang="en-US" sz="16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재활용 양극재</a:t>
              </a:r>
              <a:endParaRPr lang="en-US" altLang="ko-KR" sz="1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pic>
          <p:nvPicPr>
            <p:cNvPr id="488" name="Picture 2" descr="Part 01. 하수슬러지 처리 정책의 나아갈 방향 &lt; 스페셜리포트 &lt; 주요뉴스 &lt; 기사본문 - 워터저널">
              <a:extLst>
                <a:ext uri="{FF2B5EF4-FFF2-40B4-BE49-F238E27FC236}">
                  <a16:creationId xmlns:a16="http://schemas.microsoft.com/office/drawing/2014/main" id="{02529375-5E4F-98CB-9890-F5BFA9F416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41454" y="2763000"/>
              <a:ext cx="1690428" cy="1087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0" name="그림 489">
              <a:extLst>
                <a:ext uri="{FF2B5EF4-FFF2-40B4-BE49-F238E27FC236}">
                  <a16:creationId xmlns:a16="http://schemas.microsoft.com/office/drawing/2014/main" id="{9EB1855C-E00E-C280-04AB-91EFCF47B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582165" y="2848624"/>
              <a:ext cx="1836672" cy="1224448"/>
            </a:xfrm>
            <a:prstGeom prst="rect">
              <a:avLst/>
            </a:prstGeom>
          </p:spPr>
        </p:pic>
        <p:sp>
          <p:nvSpPr>
            <p:cNvPr id="59" name="TextBox 18">
              <a:extLst>
                <a:ext uri="{FF2B5EF4-FFF2-40B4-BE49-F238E27FC236}">
                  <a16:creationId xmlns:a16="http://schemas.microsoft.com/office/drawing/2014/main" id="{50D624D2-3C84-4E9B-985D-C3FB772913B7}"/>
                </a:ext>
              </a:extLst>
            </p:cNvPr>
            <p:cNvSpPr txBox="1"/>
            <p:nvPr/>
          </p:nvSpPr>
          <p:spPr>
            <a:xfrm>
              <a:off x="5882737" y="4668795"/>
              <a:ext cx="3153268" cy="43204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rIns="45719">
              <a:spAutoFit/>
            </a:bodyPr>
            <a:lstStyle>
              <a:lvl1pPr algn="ctr">
                <a:defRPr sz="1600">
                  <a:solidFill>
                    <a:srgbClr val="2C484A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en-US" altLang="ko-KR" sz="1800" spc="-30" dirty="0">
                  <a:solidFill>
                    <a:schemeClr val="tx1"/>
                  </a:solidFill>
                  <a:latin typeface="Pretendard Light"/>
                  <a:ea typeface="Pretendard Light"/>
                  <a:cs typeface="Pretendard Light"/>
                </a:rPr>
                <a:t>[</a:t>
              </a:r>
              <a:r>
                <a:rPr lang="ko-KR" altLang="en-US" sz="1800" spc="-30" dirty="0">
                  <a:solidFill>
                    <a:schemeClr val="tx1"/>
                  </a:solidFill>
                  <a:latin typeface="Pretendard Light"/>
                  <a:ea typeface="Pretendard Light"/>
                  <a:cs typeface="Pretendard Light"/>
                </a:rPr>
                <a:t>후처리공정</a:t>
              </a:r>
              <a:r>
                <a:rPr lang="en-US" altLang="ko-KR" sz="1800" spc="-30" dirty="0">
                  <a:solidFill>
                    <a:schemeClr val="tx1"/>
                  </a:solidFill>
                  <a:latin typeface="Pretendard Light"/>
                  <a:ea typeface="Pretendard Light"/>
                  <a:cs typeface="Pretendard Light"/>
                </a:rPr>
                <a:t>]</a:t>
              </a:r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A41DC779-DEC9-4CAB-BBC8-5218B478AFCB}"/>
                </a:ext>
              </a:extLst>
            </p:cNvPr>
            <p:cNvCxnSpPr>
              <a:cxnSpLocks/>
            </p:cNvCxnSpPr>
            <p:nvPr/>
          </p:nvCxnSpPr>
          <p:spPr>
            <a:xfrm>
              <a:off x="7582967" y="3429000"/>
              <a:ext cx="622909" cy="0"/>
            </a:xfrm>
            <a:prstGeom prst="straightConnector1">
              <a:avLst/>
            </a:prstGeom>
            <a:ln w="25400">
              <a:solidFill>
                <a:srgbClr val="073E4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3EF4D1B2-5D0C-4E2A-AF57-56CF68A033C5}"/>
                </a:ext>
              </a:extLst>
            </p:cNvPr>
            <p:cNvCxnSpPr>
              <a:cxnSpLocks/>
            </p:cNvCxnSpPr>
            <p:nvPr/>
          </p:nvCxnSpPr>
          <p:spPr>
            <a:xfrm>
              <a:off x="5032091" y="2391176"/>
              <a:ext cx="0" cy="2189882"/>
            </a:xfrm>
            <a:prstGeom prst="line">
              <a:avLst/>
            </a:prstGeom>
            <a:ln w="19050">
              <a:solidFill>
                <a:srgbClr val="06787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모서리가 둥근 직사각형 12">
            <a:extLst>
              <a:ext uri="{FF2B5EF4-FFF2-40B4-BE49-F238E27FC236}">
                <a16:creationId xmlns:a16="http://schemas.microsoft.com/office/drawing/2014/main" id="{27CFD17B-429B-B4F0-46BB-A47BFDDA4DD2}"/>
              </a:ext>
            </a:extLst>
          </p:cNvPr>
          <p:cNvSpPr/>
          <p:nvPr/>
        </p:nvSpPr>
        <p:spPr>
          <a:xfrm>
            <a:off x="1565312" y="4537622"/>
            <a:ext cx="4343868" cy="424140"/>
          </a:xfrm>
          <a:prstGeom prst="roundRect">
            <a:avLst>
              <a:gd name="adj" fmla="val 11716"/>
            </a:avLst>
          </a:prstGeom>
          <a:solidFill>
            <a:srgbClr val="067875"/>
          </a:solidFill>
          <a:ln w="3175">
            <a:solidFill>
              <a:schemeClr val="tx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기존 </a:t>
            </a:r>
            <a:r>
              <a:rPr kumimoji="1" lang="ko-KR" altLang="en-US" sz="2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추출제</a:t>
            </a:r>
            <a:r>
              <a:rPr kumimoji="1"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kumimoji="1"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(1</a:t>
            </a:r>
            <a:r>
              <a:rPr kumimoji="1"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세대</a:t>
            </a:r>
            <a:r>
              <a:rPr kumimoji="1"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kumimoji="1" lang="ko-Kore-KR" altLang="en-US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모서리가 둥근 직사각형 12">
            <a:extLst>
              <a:ext uri="{FF2B5EF4-FFF2-40B4-BE49-F238E27FC236}">
                <a16:creationId xmlns:a16="http://schemas.microsoft.com/office/drawing/2014/main" id="{7F3755E9-D8C3-6512-9B14-AA05A38B30A5}"/>
              </a:ext>
            </a:extLst>
          </p:cNvPr>
          <p:cNvSpPr/>
          <p:nvPr/>
        </p:nvSpPr>
        <p:spPr>
          <a:xfrm>
            <a:off x="6324828" y="4537622"/>
            <a:ext cx="4343868" cy="424140"/>
          </a:xfrm>
          <a:prstGeom prst="roundRect">
            <a:avLst>
              <a:gd name="adj" fmla="val 11716"/>
            </a:avLst>
          </a:prstGeom>
          <a:solidFill>
            <a:srgbClr val="034443"/>
          </a:solidFill>
          <a:ln w="3175">
            <a:solidFill>
              <a:schemeClr val="tx1">
                <a:alpha val="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kumimoji="1"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솔루션</a:t>
            </a:r>
            <a:r>
              <a:rPr kumimoji="1"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1] </a:t>
            </a:r>
            <a:r>
              <a:rPr kumimoji="1" lang="ko-KR" altLang="en-US" sz="2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코솔러스</a:t>
            </a:r>
            <a:r>
              <a:rPr kumimoji="1"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kumimoji="1" lang="ko-KR" altLang="en-US" sz="2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추출제</a:t>
            </a:r>
            <a:r>
              <a:rPr kumimoji="1"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kumimoji="1"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(1.5</a:t>
            </a:r>
            <a:r>
              <a:rPr kumimoji="1"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세대</a:t>
            </a:r>
            <a:r>
              <a:rPr kumimoji="1" lang="en-US" altLang="ko-KR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endParaRPr kumimoji="1" lang="ko-Kore-KR" altLang="en-US" sz="2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C0A668-635F-C178-1F7D-4886CB009CDE}"/>
              </a:ext>
            </a:extLst>
          </p:cNvPr>
          <p:cNvSpPr txBox="1"/>
          <p:nvPr/>
        </p:nvSpPr>
        <p:spPr>
          <a:xfrm>
            <a:off x="5385975" y="5115421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u="sng" dirty="0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재활용 효율 개선</a:t>
            </a:r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898F8D-9713-E23E-39C4-506919DC017E}"/>
              </a:ext>
            </a:extLst>
          </p:cNvPr>
          <p:cNvSpPr txBox="1"/>
          <p:nvPr/>
        </p:nvSpPr>
        <p:spPr>
          <a:xfrm>
            <a:off x="8602294" y="6244291"/>
            <a:ext cx="3127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u="sng" dirty="0">
                <a:solidFill>
                  <a:srgbClr val="034443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Pretendard ExtraBold"/>
              </a:rPr>
              <a:t>RECYION Series</a:t>
            </a:r>
          </a:p>
        </p:txBody>
      </p:sp>
      <p:grpSp>
        <p:nvGrpSpPr>
          <p:cNvPr id="5" name="그룹 371">
            <a:extLst>
              <a:ext uri="{FF2B5EF4-FFF2-40B4-BE49-F238E27FC236}">
                <a16:creationId xmlns:a16="http://schemas.microsoft.com/office/drawing/2014/main" id="{4AB6AD9E-E0FA-E76B-8E13-70341EAEFF6C}"/>
              </a:ext>
            </a:extLst>
          </p:cNvPr>
          <p:cNvGrpSpPr/>
          <p:nvPr/>
        </p:nvGrpSpPr>
        <p:grpSpPr>
          <a:xfrm>
            <a:off x="5936984" y="1682667"/>
            <a:ext cx="916632" cy="481644"/>
            <a:chOff x="0" y="0"/>
            <a:chExt cx="1084486" cy="619368"/>
          </a:xfrm>
        </p:grpSpPr>
        <p:sp>
          <p:nvSpPr>
            <p:cNvPr id="8" name="자유형: 도형 112">
              <a:extLst>
                <a:ext uri="{FF2B5EF4-FFF2-40B4-BE49-F238E27FC236}">
                  <a16:creationId xmlns:a16="http://schemas.microsoft.com/office/drawing/2014/main" id="{0FCA5B75-7EAF-1911-C4DD-5AD6AB10EE04}"/>
                </a:ext>
              </a:extLst>
            </p:cNvPr>
            <p:cNvSpPr/>
            <p:nvPr/>
          </p:nvSpPr>
          <p:spPr>
            <a:xfrm>
              <a:off x="0" y="-1"/>
              <a:ext cx="1084487" cy="595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593" extrusionOk="0">
                  <a:moveTo>
                    <a:pt x="10776" y="21588"/>
                  </a:moveTo>
                  <a:cubicBezTo>
                    <a:pt x="7642" y="21588"/>
                    <a:pt x="4511" y="21588"/>
                    <a:pt x="1378" y="21588"/>
                  </a:cubicBezTo>
                  <a:cubicBezTo>
                    <a:pt x="370" y="21588"/>
                    <a:pt x="5" y="19931"/>
                    <a:pt x="0" y="15375"/>
                  </a:cubicBezTo>
                  <a:cubicBezTo>
                    <a:pt x="0" y="12475"/>
                    <a:pt x="0" y="9563"/>
                    <a:pt x="0" y="6652"/>
                  </a:cubicBezTo>
                  <a:cubicBezTo>
                    <a:pt x="0" y="1681"/>
                    <a:pt x="367" y="0"/>
                    <a:pt x="1448" y="0"/>
                  </a:cubicBezTo>
                  <a:cubicBezTo>
                    <a:pt x="5136" y="0"/>
                    <a:pt x="8824" y="0"/>
                    <a:pt x="12513" y="0"/>
                  </a:cubicBezTo>
                  <a:cubicBezTo>
                    <a:pt x="15073" y="0"/>
                    <a:pt x="17633" y="0"/>
                    <a:pt x="20193" y="0"/>
                  </a:cubicBezTo>
                  <a:cubicBezTo>
                    <a:pt x="21209" y="0"/>
                    <a:pt x="21592" y="1754"/>
                    <a:pt x="21595" y="6396"/>
                  </a:cubicBezTo>
                  <a:cubicBezTo>
                    <a:pt x="21595" y="9539"/>
                    <a:pt x="21600" y="12670"/>
                    <a:pt x="21595" y="15813"/>
                  </a:cubicBezTo>
                  <a:cubicBezTo>
                    <a:pt x="21587" y="19773"/>
                    <a:pt x="21193" y="21588"/>
                    <a:pt x="20327" y="21588"/>
                  </a:cubicBezTo>
                  <a:cubicBezTo>
                    <a:pt x="17142" y="21600"/>
                    <a:pt x="13960" y="21588"/>
                    <a:pt x="10776" y="21588"/>
                  </a:cubicBezTo>
                  <a:close/>
                </a:path>
              </a:pathLst>
            </a:custGeom>
            <a:solidFill>
              <a:srgbClr val="5AC6B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grpSp>
          <p:nvGrpSpPr>
            <p:cNvPr id="9" name="그룹 147">
              <a:extLst>
                <a:ext uri="{FF2B5EF4-FFF2-40B4-BE49-F238E27FC236}">
                  <a16:creationId xmlns:a16="http://schemas.microsoft.com/office/drawing/2014/main" id="{35109552-D764-BF8D-B94B-D964B8F2338C}"/>
                </a:ext>
              </a:extLst>
            </p:cNvPr>
            <p:cNvGrpSpPr/>
            <p:nvPr/>
          </p:nvGrpSpPr>
          <p:grpSpPr>
            <a:xfrm>
              <a:off x="59077" y="52769"/>
              <a:ext cx="401741" cy="566600"/>
              <a:chOff x="0" y="0"/>
              <a:chExt cx="401739" cy="566599"/>
            </a:xfrm>
          </p:grpSpPr>
          <p:sp>
            <p:nvSpPr>
              <p:cNvPr id="15" name="자유형: 도형 148">
                <a:extLst>
                  <a:ext uri="{FF2B5EF4-FFF2-40B4-BE49-F238E27FC236}">
                    <a16:creationId xmlns:a16="http://schemas.microsoft.com/office/drawing/2014/main" id="{507CB4CB-01A8-66FE-5629-C17D79CB8899}"/>
                  </a:ext>
                </a:extLst>
              </p:cNvPr>
              <p:cNvSpPr/>
              <p:nvPr/>
            </p:nvSpPr>
            <p:spPr>
              <a:xfrm>
                <a:off x="84905" y="98011"/>
                <a:ext cx="230032" cy="2299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64" h="21512" extrusionOk="0">
                    <a:moveTo>
                      <a:pt x="10795" y="9"/>
                    </a:moveTo>
                    <a:cubicBezTo>
                      <a:pt x="16778" y="18"/>
                      <a:pt x="21591" y="4847"/>
                      <a:pt x="21564" y="10809"/>
                    </a:cubicBezTo>
                    <a:cubicBezTo>
                      <a:pt x="21537" y="16735"/>
                      <a:pt x="16608" y="21591"/>
                      <a:pt x="10679" y="21511"/>
                    </a:cubicBezTo>
                    <a:cubicBezTo>
                      <a:pt x="4768" y="21431"/>
                      <a:pt x="9" y="16645"/>
                      <a:pt x="0" y="10773"/>
                    </a:cubicBezTo>
                    <a:cubicBezTo>
                      <a:pt x="-9" y="4812"/>
                      <a:pt x="4813" y="-9"/>
                      <a:pt x="10795" y="0"/>
                    </a:cubicBezTo>
                    <a:close/>
                  </a:path>
                </a:pathLst>
              </a:custGeom>
              <a:solidFill>
                <a:srgbClr val="5AC6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6" name="자유형: 도형 149">
                <a:extLst>
                  <a:ext uri="{FF2B5EF4-FFF2-40B4-BE49-F238E27FC236}">
                    <a16:creationId xmlns:a16="http://schemas.microsoft.com/office/drawing/2014/main" id="{3AE0F3AB-2B61-6C2A-95BC-303B9C0DF93E}"/>
                  </a:ext>
                </a:extLst>
              </p:cNvPr>
              <p:cNvSpPr/>
              <p:nvPr/>
            </p:nvSpPr>
            <p:spPr>
              <a:xfrm>
                <a:off x="248700" y="254984"/>
                <a:ext cx="153040" cy="3114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19" h="21272" extrusionOk="0">
                    <a:moveTo>
                      <a:pt x="419" y="6460"/>
                    </a:moveTo>
                    <a:cubicBezTo>
                      <a:pt x="5965" y="5270"/>
                      <a:pt x="9956" y="3286"/>
                      <a:pt x="12392" y="0"/>
                    </a:cubicBezTo>
                    <a:cubicBezTo>
                      <a:pt x="12845" y="436"/>
                      <a:pt x="13040" y="690"/>
                      <a:pt x="13351" y="904"/>
                    </a:cubicBezTo>
                    <a:cubicBezTo>
                      <a:pt x="15411" y="2375"/>
                      <a:pt x="17484" y="3845"/>
                      <a:pt x="19583" y="5296"/>
                    </a:cubicBezTo>
                    <a:cubicBezTo>
                      <a:pt x="20892" y="6200"/>
                      <a:pt x="21177" y="7137"/>
                      <a:pt x="20361" y="8185"/>
                    </a:cubicBezTo>
                    <a:cubicBezTo>
                      <a:pt x="17458" y="11913"/>
                      <a:pt x="14620" y="15654"/>
                      <a:pt x="11679" y="19368"/>
                    </a:cubicBezTo>
                    <a:cubicBezTo>
                      <a:pt x="10396" y="20982"/>
                      <a:pt x="7390" y="21600"/>
                      <a:pt x="3801" y="21106"/>
                    </a:cubicBezTo>
                    <a:cubicBezTo>
                      <a:pt x="873" y="20702"/>
                      <a:pt x="-423" y="19531"/>
                      <a:pt x="121" y="17748"/>
                    </a:cubicBezTo>
                    <a:cubicBezTo>
                      <a:pt x="912" y="15166"/>
                      <a:pt x="1728" y="12583"/>
                      <a:pt x="2544" y="10000"/>
                    </a:cubicBezTo>
                    <a:cubicBezTo>
                      <a:pt x="2881" y="8913"/>
                      <a:pt x="2894" y="8913"/>
                      <a:pt x="445" y="6454"/>
                    </a:cubicBezTo>
                    <a:close/>
                  </a:path>
                </a:pathLst>
              </a:custGeom>
              <a:solidFill>
                <a:srgbClr val="5AC6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7" name="자유형: 도형 150">
                <a:extLst>
                  <a:ext uri="{FF2B5EF4-FFF2-40B4-BE49-F238E27FC236}">
                    <a16:creationId xmlns:a16="http://schemas.microsoft.com/office/drawing/2014/main" id="{ADF576F7-E936-B70C-C31A-033F304C1665}"/>
                  </a:ext>
                </a:extLst>
              </p:cNvPr>
              <p:cNvSpPr/>
              <p:nvPr/>
            </p:nvSpPr>
            <p:spPr>
              <a:xfrm>
                <a:off x="-1" y="258413"/>
                <a:ext cx="151483" cy="3081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49" h="21268" extrusionOk="0">
                    <a:moveTo>
                      <a:pt x="8383" y="0"/>
                    </a:moveTo>
                    <a:cubicBezTo>
                      <a:pt x="11785" y="3530"/>
                      <a:pt x="13611" y="4463"/>
                      <a:pt x="20705" y="6370"/>
                    </a:cubicBezTo>
                    <a:cubicBezTo>
                      <a:pt x="15689" y="8992"/>
                      <a:pt x="19871" y="11825"/>
                      <a:pt x="19964" y="14586"/>
                    </a:cubicBezTo>
                    <a:cubicBezTo>
                      <a:pt x="20004" y="15691"/>
                      <a:pt x="20626" y="16788"/>
                      <a:pt x="20957" y="17893"/>
                    </a:cubicBezTo>
                    <a:cubicBezTo>
                      <a:pt x="21433" y="19483"/>
                      <a:pt x="20043" y="20673"/>
                      <a:pt x="17237" y="21087"/>
                    </a:cubicBezTo>
                    <a:cubicBezTo>
                      <a:pt x="13743" y="21600"/>
                      <a:pt x="10514" y="21008"/>
                      <a:pt x="9243" y="19510"/>
                    </a:cubicBezTo>
                    <a:cubicBezTo>
                      <a:pt x="7562" y="17531"/>
                      <a:pt x="6054" y="15526"/>
                      <a:pt x="4479" y="13528"/>
                    </a:cubicBezTo>
                    <a:cubicBezTo>
                      <a:pt x="3062" y="11720"/>
                      <a:pt x="1461" y="9945"/>
                      <a:pt x="336" y="8092"/>
                    </a:cubicBezTo>
                    <a:cubicBezTo>
                      <a:pt x="-140" y="7303"/>
                      <a:pt x="-167" y="6192"/>
                      <a:pt x="627" y="5522"/>
                    </a:cubicBezTo>
                    <a:cubicBezTo>
                      <a:pt x="2851" y="3648"/>
                      <a:pt x="5617" y="1933"/>
                      <a:pt x="8370" y="7"/>
                    </a:cubicBezTo>
                    <a:close/>
                  </a:path>
                </a:pathLst>
              </a:custGeom>
              <a:solidFill>
                <a:srgbClr val="5AC6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0" name="자유형: 도형 151">
                <a:extLst>
                  <a:ext uri="{FF2B5EF4-FFF2-40B4-BE49-F238E27FC236}">
                    <a16:creationId xmlns:a16="http://schemas.microsoft.com/office/drawing/2014/main" id="{5E2C0AE2-FA77-588A-03B4-C1C51A901675}"/>
                  </a:ext>
                </a:extLst>
              </p:cNvPr>
              <p:cNvSpPr/>
              <p:nvPr/>
            </p:nvSpPr>
            <p:spPr>
              <a:xfrm>
                <a:off x="101288" y="0"/>
                <a:ext cx="197360" cy="1042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560"/>
                    </a:moveTo>
                    <a:cubicBezTo>
                      <a:pt x="14355" y="11412"/>
                      <a:pt x="7256" y="11353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lnTo>
                      <a:pt x="21600" y="21560"/>
                    </a:lnTo>
                    <a:close/>
                  </a:path>
                </a:pathLst>
              </a:custGeom>
              <a:solidFill>
                <a:srgbClr val="5AC6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10" name="그룹 152">
              <a:extLst>
                <a:ext uri="{FF2B5EF4-FFF2-40B4-BE49-F238E27FC236}">
                  <a16:creationId xmlns:a16="http://schemas.microsoft.com/office/drawing/2014/main" id="{DFB9C69D-D444-98D6-6B1E-3E6177A7A392}"/>
                </a:ext>
              </a:extLst>
            </p:cNvPr>
            <p:cNvGrpSpPr/>
            <p:nvPr/>
          </p:nvGrpSpPr>
          <p:grpSpPr>
            <a:xfrm>
              <a:off x="598792" y="52769"/>
              <a:ext cx="401741" cy="566600"/>
              <a:chOff x="0" y="0"/>
              <a:chExt cx="401739" cy="566599"/>
            </a:xfrm>
          </p:grpSpPr>
          <p:sp>
            <p:nvSpPr>
              <p:cNvPr id="11" name="자유형: 도형 154">
                <a:extLst>
                  <a:ext uri="{FF2B5EF4-FFF2-40B4-BE49-F238E27FC236}">
                    <a16:creationId xmlns:a16="http://schemas.microsoft.com/office/drawing/2014/main" id="{38339236-A7E7-775D-8A1D-F1C806CF5798}"/>
                  </a:ext>
                </a:extLst>
              </p:cNvPr>
              <p:cNvSpPr/>
              <p:nvPr/>
            </p:nvSpPr>
            <p:spPr>
              <a:xfrm>
                <a:off x="84905" y="98011"/>
                <a:ext cx="230032" cy="2299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64" h="21512" extrusionOk="0">
                    <a:moveTo>
                      <a:pt x="10795" y="9"/>
                    </a:moveTo>
                    <a:cubicBezTo>
                      <a:pt x="16778" y="18"/>
                      <a:pt x="21591" y="4847"/>
                      <a:pt x="21564" y="10809"/>
                    </a:cubicBezTo>
                    <a:cubicBezTo>
                      <a:pt x="21537" y="16735"/>
                      <a:pt x="16608" y="21591"/>
                      <a:pt x="10679" y="21511"/>
                    </a:cubicBezTo>
                    <a:cubicBezTo>
                      <a:pt x="4768" y="21431"/>
                      <a:pt x="9" y="16645"/>
                      <a:pt x="0" y="10773"/>
                    </a:cubicBezTo>
                    <a:cubicBezTo>
                      <a:pt x="-9" y="4812"/>
                      <a:pt x="4813" y="-9"/>
                      <a:pt x="10795" y="0"/>
                    </a:cubicBezTo>
                    <a:close/>
                  </a:path>
                </a:pathLst>
              </a:custGeom>
              <a:solidFill>
                <a:srgbClr val="5AC6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2" name="자유형: 도형 155">
                <a:extLst>
                  <a:ext uri="{FF2B5EF4-FFF2-40B4-BE49-F238E27FC236}">
                    <a16:creationId xmlns:a16="http://schemas.microsoft.com/office/drawing/2014/main" id="{31C35340-71F6-CBFB-C62D-60981A04FB07}"/>
                  </a:ext>
                </a:extLst>
              </p:cNvPr>
              <p:cNvSpPr/>
              <p:nvPr/>
            </p:nvSpPr>
            <p:spPr>
              <a:xfrm>
                <a:off x="248700" y="254984"/>
                <a:ext cx="153040" cy="3114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19" h="21272" extrusionOk="0">
                    <a:moveTo>
                      <a:pt x="419" y="6460"/>
                    </a:moveTo>
                    <a:cubicBezTo>
                      <a:pt x="5965" y="5270"/>
                      <a:pt x="9956" y="3286"/>
                      <a:pt x="12392" y="0"/>
                    </a:cubicBezTo>
                    <a:cubicBezTo>
                      <a:pt x="12845" y="436"/>
                      <a:pt x="13040" y="690"/>
                      <a:pt x="13351" y="904"/>
                    </a:cubicBezTo>
                    <a:cubicBezTo>
                      <a:pt x="15411" y="2375"/>
                      <a:pt x="17484" y="3845"/>
                      <a:pt x="19583" y="5296"/>
                    </a:cubicBezTo>
                    <a:cubicBezTo>
                      <a:pt x="20892" y="6200"/>
                      <a:pt x="21177" y="7137"/>
                      <a:pt x="20361" y="8185"/>
                    </a:cubicBezTo>
                    <a:cubicBezTo>
                      <a:pt x="17458" y="11913"/>
                      <a:pt x="14620" y="15654"/>
                      <a:pt x="11679" y="19368"/>
                    </a:cubicBezTo>
                    <a:cubicBezTo>
                      <a:pt x="10396" y="20982"/>
                      <a:pt x="7390" y="21600"/>
                      <a:pt x="3801" y="21106"/>
                    </a:cubicBezTo>
                    <a:cubicBezTo>
                      <a:pt x="873" y="20702"/>
                      <a:pt x="-423" y="19531"/>
                      <a:pt x="121" y="17748"/>
                    </a:cubicBezTo>
                    <a:cubicBezTo>
                      <a:pt x="912" y="15166"/>
                      <a:pt x="1728" y="12583"/>
                      <a:pt x="2544" y="10000"/>
                    </a:cubicBezTo>
                    <a:cubicBezTo>
                      <a:pt x="2881" y="8913"/>
                      <a:pt x="2894" y="8913"/>
                      <a:pt x="445" y="6454"/>
                    </a:cubicBezTo>
                    <a:close/>
                  </a:path>
                </a:pathLst>
              </a:custGeom>
              <a:solidFill>
                <a:srgbClr val="5AC6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3" name="자유형: 도형 156">
                <a:extLst>
                  <a:ext uri="{FF2B5EF4-FFF2-40B4-BE49-F238E27FC236}">
                    <a16:creationId xmlns:a16="http://schemas.microsoft.com/office/drawing/2014/main" id="{FD80547E-08DC-2444-81A8-F0B43658DA3B}"/>
                  </a:ext>
                </a:extLst>
              </p:cNvPr>
              <p:cNvSpPr/>
              <p:nvPr/>
            </p:nvSpPr>
            <p:spPr>
              <a:xfrm>
                <a:off x="-1" y="258413"/>
                <a:ext cx="151483" cy="3081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49" h="21268" extrusionOk="0">
                    <a:moveTo>
                      <a:pt x="8383" y="0"/>
                    </a:moveTo>
                    <a:cubicBezTo>
                      <a:pt x="11785" y="3530"/>
                      <a:pt x="13611" y="4463"/>
                      <a:pt x="20705" y="6370"/>
                    </a:cubicBezTo>
                    <a:cubicBezTo>
                      <a:pt x="15689" y="8992"/>
                      <a:pt x="19871" y="11825"/>
                      <a:pt x="19964" y="14586"/>
                    </a:cubicBezTo>
                    <a:cubicBezTo>
                      <a:pt x="20004" y="15691"/>
                      <a:pt x="20626" y="16788"/>
                      <a:pt x="20957" y="17893"/>
                    </a:cubicBezTo>
                    <a:cubicBezTo>
                      <a:pt x="21433" y="19483"/>
                      <a:pt x="20043" y="20673"/>
                      <a:pt x="17237" y="21087"/>
                    </a:cubicBezTo>
                    <a:cubicBezTo>
                      <a:pt x="13743" y="21600"/>
                      <a:pt x="10514" y="21008"/>
                      <a:pt x="9243" y="19510"/>
                    </a:cubicBezTo>
                    <a:cubicBezTo>
                      <a:pt x="7562" y="17531"/>
                      <a:pt x="6054" y="15526"/>
                      <a:pt x="4479" y="13528"/>
                    </a:cubicBezTo>
                    <a:cubicBezTo>
                      <a:pt x="3062" y="11720"/>
                      <a:pt x="1461" y="9945"/>
                      <a:pt x="336" y="8092"/>
                    </a:cubicBezTo>
                    <a:cubicBezTo>
                      <a:pt x="-140" y="7303"/>
                      <a:pt x="-167" y="6192"/>
                      <a:pt x="627" y="5522"/>
                    </a:cubicBezTo>
                    <a:cubicBezTo>
                      <a:pt x="2851" y="3648"/>
                      <a:pt x="5617" y="1933"/>
                      <a:pt x="8370" y="7"/>
                    </a:cubicBezTo>
                    <a:close/>
                  </a:path>
                </a:pathLst>
              </a:custGeom>
              <a:solidFill>
                <a:srgbClr val="5AC6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4" name="자유형: 도형 157">
                <a:extLst>
                  <a:ext uri="{FF2B5EF4-FFF2-40B4-BE49-F238E27FC236}">
                    <a16:creationId xmlns:a16="http://schemas.microsoft.com/office/drawing/2014/main" id="{9A614097-6E6A-E656-77BE-908DC62A7BD3}"/>
                  </a:ext>
                </a:extLst>
              </p:cNvPr>
              <p:cNvSpPr/>
              <p:nvPr/>
            </p:nvSpPr>
            <p:spPr>
              <a:xfrm>
                <a:off x="101288" y="0"/>
                <a:ext cx="197360" cy="10420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560"/>
                    </a:moveTo>
                    <a:cubicBezTo>
                      <a:pt x="14355" y="11412"/>
                      <a:pt x="7256" y="11353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lnTo>
                      <a:pt x="21600" y="21560"/>
                    </a:lnTo>
                    <a:close/>
                  </a:path>
                </a:pathLst>
              </a:custGeom>
              <a:solidFill>
                <a:srgbClr val="5AC6B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</p:grp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2752590-2958-15FE-6549-4755C2714558}"/>
              </a:ext>
            </a:extLst>
          </p:cNvPr>
          <p:cNvSpPr txBox="1"/>
          <p:nvPr/>
        </p:nvSpPr>
        <p:spPr>
          <a:xfrm>
            <a:off x="5921306" y="1245460"/>
            <a:ext cx="890626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 algn="ctr">
              <a:defRPr sz="1600">
                <a:solidFill>
                  <a:srgbClr val="2C484A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r>
              <a:rPr lang="ko-KR" altLang="en-US" sz="2400" u="sng" dirty="0" err="1">
                <a:solidFill>
                  <a:srgbClr val="034443"/>
                </a:solidFill>
              </a:rPr>
              <a:t>추출제</a:t>
            </a:r>
            <a:endParaRPr lang="en-US" altLang="ko-KR" sz="2400" u="sng" baseline="30000" dirty="0">
              <a:solidFill>
                <a:srgbClr val="034443"/>
              </a:solidFill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6F2F472F-575B-55F1-26FB-3A72DB24161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5343" t="25806" r="4836" b="27650"/>
          <a:stretch>
            <a:fillRect/>
          </a:stretch>
        </p:blipFill>
        <p:spPr>
          <a:xfrm>
            <a:off x="1839424" y="5688533"/>
            <a:ext cx="2557232" cy="99542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8084B73-71DA-B85D-06B6-C941DCE98A48}"/>
              </a:ext>
            </a:extLst>
          </p:cNvPr>
          <p:cNvSpPr txBox="1"/>
          <p:nvPr/>
        </p:nvSpPr>
        <p:spPr>
          <a:xfrm>
            <a:off x="2951001" y="6244794"/>
            <a:ext cx="3127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u="sng" dirty="0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retendard ExtraBold"/>
              </a:rPr>
              <a:t>D2EHPA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2E0957-F6C1-B6E2-AA59-994A030ADF12}"/>
              </a:ext>
            </a:extLst>
          </p:cNvPr>
          <p:cNvSpPr txBox="1"/>
          <p:nvPr/>
        </p:nvSpPr>
        <p:spPr>
          <a:xfrm>
            <a:off x="2048528" y="5100921"/>
            <a:ext cx="343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u="sng" dirty="0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retendard ExtraBold"/>
              </a:rPr>
              <a:t>광산</a:t>
            </a:r>
            <a:r>
              <a:rPr lang="en-US" altLang="ko-KR" u="sng" dirty="0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retendard ExtraBold"/>
              </a:rPr>
              <a:t>, </a:t>
            </a:r>
            <a:r>
              <a:rPr lang="ko-KR" altLang="en-US" u="sng" dirty="0" err="1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retendard ExtraBold"/>
              </a:rPr>
              <a:t>염호</a:t>
            </a:r>
            <a:r>
              <a:rPr lang="ko-KR" altLang="en-US" u="sng" dirty="0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retendard ExtraBold"/>
              </a:rPr>
              <a:t> 기반 금속 회수용 </a:t>
            </a:r>
            <a:r>
              <a:rPr lang="ko-KR" altLang="en-US" u="sng" dirty="0" err="1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  <a:sym typeface="Pretendard ExtraBold"/>
              </a:rPr>
              <a:t>추출제</a:t>
            </a:r>
            <a:endParaRPr lang="en-US" altLang="ko-KR" u="sng" dirty="0">
              <a:solidFill>
                <a:srgbClr val="03444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  <a:sym typeface="Pretendard ExtraBold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7BCF65C-75E9-9E15-B152-21A4133B55E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04188" y="5420467"/>
            <a:ext cx="2236811" cy="129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285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141</Words>
  <Application>Microsoft Office PowerPoint</Application>
  <PresentationFormat>와이드스크린</PresentationFormat>
  <Paragraphs>52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Arial</vt:lpstr>
      <vt:lpstr>Pretendard ExtraBold</vt:lpstr>
      <vt:lpstr>Pretendard ExtraLight</vt:lpstr>
      <vt:lpstr>Pretendard Light</vt:lpstr>
      <vt:lpstr>Pretendard SemiBold</vt:lpstr>
      <vt:lpstr>맑은 고딕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2</cp:revision>
  <dcterms:created xsi:type="dcterms:W3CDTF">2026-08-13T08:23:15Z</dcterms:created>
  <dcterms:modified xsi:type="dcterms:W3CDTF">2026-08-13T08:45:18Z</dcterms:modified>
</cp:coreProperties>
</file>