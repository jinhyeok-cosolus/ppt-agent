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785" r:id="rId2"/>
    <p:sldId id="3933" r:id="rId3"/>
    <p:sldId id="398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089166494608529"/>
          <c:y val="2.6872368209162497E-2"/>
          <c:w val="0.88060860727944801"/>
          <c:h val="0.851255951839988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AFE2E3"/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2030</c:v>
                </c:pt>
                <c:pt idx="1">
                  <c:v>2040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461</c:v>
                </c:pt>
                <c:pt idx="1">
                  <c:v>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4B-4EE9-A79C-10540C997A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03444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34443"/>
              </a:solidFill>
              <a:ln w="285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24B-4EE9-A79C-10540C997AA3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  <c:pt idx="0">
                  <c:v>2030</c:v>
                </c:pt>
                <c:pt idx="1">
                  <c:v>2040</c:v>
                </c:pt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4B-4EE9-A79C-10540C997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3523504"/>
        <c:axId val="1123517744"/>
      </c:barChart>
      <c:catAx>
        <c:axId val="11235235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23517744"/>
        <c:crosses val="autoZero"/>
        <c:auto val="1"/>
        <c:lblAlgn val="ctr"/>
        <c:lblOffset val="100"/>
        <c:noMultiLvlLbl val="0"/>
      </c:catAx>
      <c:valAx>
        <c:axId val="11235177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11235235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188358919160776"/>
          <c:y val="4.9433939834692249E-2"/>
          <c:w val="0.89761562418288177"/>
          <c:h val="0.814520597341020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폐배터리(GWh)</c:v>
                </c:pt>
              </c:strCache>
            </c:strRef>
          </c:tx>
          <c:spPr>
            <a:solidFill>
              <a:srgbClr val="AFE2E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338</c:v>
                </c:pt>
                <c:pt idx="2">
                  <c:v>3339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8F-4AB1-AA82-EF7E08E663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폐배터리 (kt)</c:v>
                </c:pt>
              </c:strCache>
            </c:strRef>
          </c:tx>
          <c:spPr>
            <a:solidFill>
              <a:srgbClr val="03444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34443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B38F-4AB1-AA82-EF7E08E663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블랙매스 (kt)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B38F-4AB1-AA82-EF7E08E663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226370208"/>
        <c:axId val="1226368288"/>
      </c:barChart>
      <c:catAx>
        <c:axId val="1226370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6368288"/>
        <c:crosses val="autoZero"/>
        <c:auto val="1"/>
        <c:lblAlgn val="ctr"/>
        <c:lblOffset val="100"/>
        <c:noMultiLvlLbl val="0"/>
      </c:catAx>
      <c:valAx>
        <c:axId val="12263682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1226370208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680007542410392E-2"/>
          <c:y val="4.9433973459906487E-2"/>
          <c:w val="0.89761562418288177"/>
          <c:h val="0.814520597341020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</c:v>
                </c:pt>
              </c:strCache>
            </c:strRef>
          </c:tx>
          <c:spPr>
            <a:solidFill>
              <a:srgbClr val="AFE2E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A782-4A23-BE43-714F04533F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ESS</c:v>
                </c:pt>
              </c:strCache>
            </c:strRef>
          </c:tx>
          <c:spPr>
            <a:solidFill>
              <a:srgbClr val="03444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34443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60</c:v>
                </c:pt>
                <c:pt idx="2">
                  <c:v>100</c:v>
                </c:pt>
                <c:pt idx="3">
                  <c:v>125</c:v>
                </c:pt>
                <c:pt idx="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82-4A23-BE43-714F04533F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226370208"/>
        <c:axId val="1226368288"/>
      </c:barChart>
      <c:catAx>
        <c:axId val="1226370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6368288"/>
        <c:crosses val="autoZero"/>
        <c:auto val="1"/>
        <c:lblAlgn val="ctr"/>
        <c:lblOffset val="100"/>
        <c:noMultiLvlLbl val="0"/>
      </c:catAx>
      <c:valAx>
        <c:axId val="1226368288"/>
        <c:scaling>
          <c:orientation val="minMax"/>
          <c:max val="25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1226370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03444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</c:legendEntry>
      <c:layout>
        <c:manualLayout>
          <c:xMode val="edge"/>
          <c:yMode val="edge"/>
          <c:x val="7.6901352424240635E-2"/>
          <c:y val="2.9806441687761352E-3"/>
          <c:w val="0.27293463035755328"/>
          <c:h val="0.102164594492538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498D1-0A0B-4C83-A28F-99B669CDC90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ECEC7-B05A-4753-8F2D-7F165B520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38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C137-12B8-90DF-CDC0-6DF7C8E6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1BA5D3-6B19-7121-90A5-8BEE9019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69CD67-A968-EFCD-039F-D8E68ED6C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999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B100-2D90-A0C0-5AD1-5A418D01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00C701-2822-A515-7469-7F875E1B1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D2D1DA-FADE-B2A2-904A-68F6C7A1F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402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80F2B-7AAF-D190-8E9B-10062053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8F3AD0-6198-1BF6-6342-C3941405F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6961E5-D734-A50D-90B0-4003832D2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816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EE932-EFC1-B587-3721-1C2ACD21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06A9EC-BB3B-3D0E-7732-BFC3B47F7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2AA62-FEDF-9477-34C6-5AD44C5D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F782F-74E0-6CEB-7D2C-CF54544C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791CA-060E-5084-65BA-E64DFA58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61DA2-CE0D-C7AC-F622-34449F48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09367-D523-A5EC-05F4-05A4134C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A038D-D106-2F21-4371-5E0B93AB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C47E6-C40C-71E1-7470-72A3C8F1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7868E-5630-A66E-C0A9-90F7ACF9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26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B668E-0E1B-8689-3596-EE9209DE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1B2E4-EBE1-13F2-3B5E-82E3320E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19B4D-F3E3-EACB-B491-1E4E323F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3AAD6-D951-4664-1966-C6E732AC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2B433-C418-556F-A4BE-F2C8A116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3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0343E-ECD1-C714-AA99-C6D1B315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4AD54-E60C-B586-DB74-05837959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4ECE84-98CD-34AF-EC90-CD5287B2E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74C84-06CC-C15E-0042-B4B0C3B3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F894E2-CAAE-5068-9A40-7E2EFBE7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1FE28-AC6A-8349-B9E6-21EAC9F6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78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3033-892D-2C59-E487-1C4FA620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5C45B-A39D-D06D-EEF8-4E6F66AD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16C97-39A8-861F-F48A-8F5B8C1F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890521-0FF4-9466-BAD6-6327954A1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55361-0940-F048-FAC1-280E5057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CC1C1D-F68E-0DCA-B421-E74961A8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796F4B-2EBE-FED7-A3E3-A7B2153F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4EFF3A-19E6-9C38-B16E-82A76EA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2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A4E8A-9812-2C2F-C330-9F7B9168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258B3F-613D-36BC-5270-0A9AF035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3B58B-7524-ADAF-2968-513705A1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ADC77-E8D8-4611-EA20-566DA65A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7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1B9F33-AA13-5842-1E17-1B40480B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175F03-138E-F47E-8364-3C44D79B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D78CC-1781-F103-7DA8-10537BCA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EC7E8-FCFD-D258-D9E7-10B5F379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5E359-52FC-A380-8AA9-57D5132DF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9F532-21B9-8BFB-6373-FA658841B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2D173E-9698-268E-D785-56F224C5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555F5-63A5-5BAF-DA3F-23E81C59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C74BC-BF5A-BA67-C7DC-C5D21F98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2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53ADC-8F8D-2F98-05A3-5A822F4A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B72B2E-2DE1-AF07-8F49-D37A39862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46CD0A-BFD5-96E4-62BA-C96BC7B7B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B793B-A9FA-12F6-2486-2D5F95AB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145971-D45C-BC5B-82B1-962BF629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106E0A-08F8-5CDD-FF91-E08549D8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21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C63F5-FA82-CA0A-0A1E-8F7C389D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AAA8FA-0821-A155-46DB-0C4D4947C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AD077-3B40-6697-EBCC-64DC4769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AA78C-5F2A-688E-C06C-9AF41178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C006F-E5D0-8A15-541B-DCA12B31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57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B99F0B-92AA-0BFA-CDF8-F37F201AC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E90971-59C3-AD7F-8735-3E4B238BE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4AEEC-5E24-07CF-6A7A-A737ACBA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E0892-2653-BF95-67FF-510D9AD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9C5EE-16B7-ED3A-BA46-A7068BAD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4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9C1648-66E6-52CF-BE99-F5B9831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7B86AF-CA55-A880-5214-78C062B2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EEB17-259C-B557-A745-CFB18EC88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059A2-5285-C941-653C-26D64DCD5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CA62F-469B-176D-C558-30B84AF9E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hart" Target="../charts/chart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38367-FB9E-457E-9966-E5152854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그래픽 64">
            <a:extLst>
              <a:ext uri="{FF2B5EF4-FFF2-40B4-BE49-F238E27FC236}">
                <a16:creationId xmlns:a16="http://schemas.microsoft.com/office/drawing/2014/main" id="{83C6E632-488B-2B0E-83DB-EB5FDB91AFD9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224" name="자유형: 도형 76">
              <a:extLst>
                <a:ext uri="{FF2B5EF4-FFF2-40B4-BE49-F238E27FC236}">
                  <a16:creationId xmlns:a16="http://schemas.microsoft.com/office/drawing/2014/main" id="{212597E0-10AC-D0B1-55F7-CED7EF958498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5" name="자유형: 도형 77">
              <a:extLst>
                <a:ext uri="{FF2B5EF4-FFF2-40B4-BE49-F238E27FC236}">
                  <a16:creationId xmlns:a16="http://schemas.microsoft.com/office/drawing/2014/main" id="{C364B6A1-BEE4-2643-C439-2F22E3AEEB38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6" name="자유형: 도형 78">
              <a:extLst>
                <a:ext uri="{FF2B5EF4-FFF2-40B4-BE49-F238E27FC236}">
                  <a16:creationId xmlns:a16="http://schemas.microsoft.com/office/drawing/2014/main" id="{B1C3C167-873C-51AC-AF3B-ED3CA38B4067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 dirty="0"/>
            </a:p>
          </p:txBody>
        </p:sp>
        <p:sp>
          <p:nvSpPr>
            <p:cNvPr id="227" name="자유형: 도형 79">
              <a:extLst>
                <a:ext uri="{FF2B5EF4-FFF2-40B4-BE49-F238E27FC236}">
                  <a16:creationId xmlns:a16="http://schemas.microsoft.com/office/drawing/2014/main" id="{9D3837BF-CB0E-BD2E-CD0A-3E5DCD689564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8" name="자유형: 도형 80">
              <a:extLst>
                <a:ext uri="{FF2B5EF4-FFF2-40B4-BE49-F238E27FC236}">
                  <a16:creationId xmlns:a16="http://schemas.microsoft.com/office/drawing/2014/main" id="{9C95350A-099F-D8F6-7B39-FFCC3E611258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9" name="자유형: 도형 81">
              <a:extLst>
                <a:ext uri="{FF2B5EF4-FFF2-40B4-BE49-F238E27FC236}">
                  <a16:creationId xmlns:a16="http://schemas.microsoft.com/office/drawing/2014/main" id="{BFCC7CE1-72F5-BF96-9302-1D1BF1EA2D4E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30" name="자유형: 도형 82">
              <a:extLst>
                <a:ext uri="{FF2B5EF4-FFF2-40B4-BE49-F238E27FC236}">
                  <a16:creationId xmlns:a16="http://schemas.microsoft.com/office/drawing/2014/main" id="{DE683B50-5328-C950-5619-F5E2D93B2778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232" name="직사각형 66">
            <a:extLst>
              <a:ext uri="{FF2B5EF4-FFF2-40B4-BE49-F238E27FC236}">
                <a16:creationId xmlns:a16="http://schemas.microsoft.com/office/drawing/2014/main" id="{1D992493-B1D3-99E7-CBAE-587693CBA85F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3" name="직사각형 67">
            <a:extLst>
              <a:ext uri="{FF2B5EF4-FFF2-40B4-BE49-F238E27FC236}">
                <a16:creationId xmlns:a16="http://schemas.microsoft.com/office/drawing/2014/main" id="{39D94A33-28F7-9BD2-EF9C-A969FFDBDD4C}"/>
              </a:ext>
            </a:extLst>
          </p:cNvPr>
          <p:cNvSpPr/>
          <p:nvPr/>
        </p:nvSpPr>
        <p:spPr>
          <a:xfrm>
            <a:off x="-3" y="1306416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직선 연결선 68">
            <a:extLst>
              <a:ext uri="{FF2B5EF4-FFF2-40B4-BE49-F238E27FC236}">
                <a16:creationId xmlns:a16="http://schemas.microsoft.com/office/drawing/2014/main" id="{9D59D722-6C5D-9D38-0BAA-DADEE6177987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TextBox 71">
            <a:extLst>
              <a:ext uri="{FF2B5EF4-FFF2-40B4-BE49-F238E27FC236}">
                <a16:creationId xmlns:a16="http://schemas.microsoft.com/office/drawing/2014/main" id="{2EE12D4E-3359-A9EC-DE8B-6896264F5C30}"/>
              </a:ext>
            </a:extLst>
          </p:cNvPr>
          <p:cNvSpPr txBox="1"/>
          <p:nvPr/>
        </p:nvSpPr>
        <p:spPr>
          <a:xfrm>
            <a:off x="446746" y="616129"/>
            <a:ext cx="84318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Background</a:t>
            </a:r>
          </a:p>
        </p:txBody>
      </p:sp>
      <p:sp>
        <p:nvSpPr>
          <p:cNvPr id="236" name="TextBox 2">
            <a:extLst>
              <a:ext uri="{FF2B5EF4-FFF2-40B4-BE49-F238E27FC236}">
                <a16:creationId xmlns:a16="http://schemas.microsoft.com/office/drawing/2014/main" id="{E8F7453B-393A-3279-87C2-FD1069757CE2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dirty="0"/>
              <a:t>We promise tomorrow</a:t>
            </a:r>
          </a:p>
        </p:txBody>
      </p:sp>
      <p:sp>
        <p:nvSpPr>
          <p:cNvPr id="238" name="TextBox 19">
            <a:extLst>
              <a:ext uri="{FF2B5EF4-FFF2-40B4-BE49-F238E27FC236}">
                <a16:creationId xmlns:a16="http://schemas.microsoft.com/office/drawing/2014/main" id="{F54D8113-8566-6E90-AB37-55D9AD18BDB9}"/>
              </a:ext>
            </a:extLst>
          </p:cNvPr>
          <p:cNvSpPr txBox="1"/>
          <p:nvPr/>
        </p:nvSpPr>
        <p:spPr>
          <a:xfrm>
            <a:off x="231362" y="6683130"/>
            <a:ext cx="1180530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900" spc="-30">
                <a:solidFill>
                  <a:srgbClr val="AFABAB"/>
                </a:solidFill>
                <a:latin typeface="Pretendard Thin"/>
                <a:ea typeface="Pretendard Thin"/>
                <a:cs typeface="Pretendard Thin"/>
                <a:sym typeface="Pretendard Thin"/>
              </a:defRPr>
            </a:pPr>
            <a:r>
              <a:rPr 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Source: IEA, Global Critical Minerals Outlook 2025; Benchmark Mineral Intelligence, China’s Battery Recycling Dominance, 2025; Earthworks, Filtered Tailing in Indonesia, 2026</a:t>
            </a:r>
            <a:endParaRPr lang="en-US" sz="1000" spc="-30" dirty="0">
              <a:solidFill>
                <a:srgbClr val="AFABAB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D3100B07-1569-FC54-5C38-F4A8FA31D4AC}"/>
              </a:ext>
            </a:extLst>
          </p:cNvPr>
          <p:cNvSpPr txBox="1"/>
          <p:nvPr/>
        </p:nvSpPr>
        <p:spPr>
          <a:xfrm>
            <a:off x="403759" y="805796"/>
            <a:ext cx="4381328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문제제기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환경 및 지정학적 요인</a:t>
            </a:r>
          </a:p>
        </p:txBody>
      </p:sp>
      <p:sp>
        <p:nvSpPr>
          <p:cNvPr id="193" name="슬라이드 번호 개체 틀 4">
            <a:extLst>
              <a:ext uri="{FF2B5EF4-FFF2-40B4-BE49-F238E27FC236}">
                <a16:creationId xmlns:a16="http://schemas.microsoft.com/office/drawing/2014/main" id="{51F4526D-7477-F32A-38B0-636AA4A7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608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1</a:t>
            </a:fld>
            <a:endParaRPr lang="ko-KR" altLang="en-US"/>
          </a:p>
        </p:txBody>
      </p:sp>
      <p:grpSp>
        <p:nvGrpSpPr>
          <p:cNvPr id="516" name="그룹 515">
            <a:extLst>
              <a:ext uri="{FF2B5EF4-FFF2-40B4-BE49-F238E27FC236}">
                <a16:creationId xmlns:a16="http://schemas.microsoft.com/office/drawing/2014/main" id="{6DC57EDD-1682-4132-412F-B9A9910C4F37}"/>
              </a:ext>
            </a:extLst>
          </p:cNvPr>
          <p:cNvGrpSpPr/>
          <p:nvPr/>
        </p:nvGrpSpPr>
        <p:grpSpPr>
          <a:xfrm>
            <a:off x="4472945" y="2639470"/>
            <a:ext cx="3500093" cy="3098505"/>
            <a:chOff x="396240" y="2855183"/>
            <a:chExt cx="3500093" cy="309850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15AE1D8-060E-736D-F729-2EDFF564E7ED}"/>
                </a:ext>
              </a:extLst>
            </p:cNvPr>
            <p:cNvGrpSpPr/>
            <p:nvPr/>
          </p:nvGrpSpPr>
          <p:grpSpPr>
            <a:xfrm>
              <a:off x="396240" y="2855183"/>
              <a:ext cx="3386790" cy="2793567"/>
              <a:chOff x="6148800" y="2524087"/>
              <a:chExt cx="5583244" cy="2969063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84709A-3187-E234-8568-77B7508123C3}"/>
                  </a:ext>
                </a:extLst>
              </p:cNvPr>
              <p:cNvGrpSpPr/>
              <p:nvPr/>
            </p:nvGrpSpPr>
            <p:grpSpPr>
              <a:xfrm>
                <a:off x="6556865" y="2524087"/>
                <a:ext cx="5175179" cy="2969063"/>
                <a:chOff x="6455265" y="2524087"/>
                <a:chExt cx="5175179" cy="2969063"/>
              </a:xfrm>
            </p:grpSpPr>
            <p:graphicFrame>
              <p:nvGraphicFramePr>
                <p:cNvPr id="10" name="차트 9">
                  <a:extLst>
                    <a:ext uri="{FF2B5EF4-FFF2-40B4-BE49-F238E27FC236}">
                      <a16:creationId xmlns:a16="http://schemas.microsoft.com/office/drawing/2014/main" id="{B48AE873-C4DC-F184-3025-39BC9F37B230}"/>
                    </a:ext>
                  </a:extLst>
                </p:cNvPr>
                <p:cNvGraphicFramePr/>
                <p:nvPr/>
              </p:nvGraphicFramePr>
              <p:xfrm>
                <a:off x="6455265" y="2524087"/>
                <a:ext cx="5175179" cy="296906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  <p:sp>
              <p:nvSpPr>
                <p:cNvPr id="11" name="TextBox 71">
                  <a:extLst>
                    <a:ext uri="{FF2B5EF4-FFF2-40B4-BE49-F238E27FC236}">
                      <a16:creationId xmlns:a16="http://schemas.microsoft.com/office/drawing/2014/main" id="{9033A6CD-1632-7B93-69C7-68435FDB7503}"/>
                    </a:ext>
                  </a:extLst>
                </p:cNvPr>
                <p:cNvSpPr txBox="1"/>
                <p:nvPr/>
              </p:nvSpPr>
              <p:spPr>
                <a:xfrm>
                  <a:off x="7999016" y="5184416"/>
                  <a:ext cx="374141" cy="1896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r>
                    <a:rPr lang="en-US" altLang="ko-KR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2030</a:t>
                  </a:r>
                </a:p>
              </p:txBody>
            </p:sp>
            <p:sp>
              <p:nvSpPr>
                <p:cNvPr id="12" name="TextBox 71">
                  <a:extLst>
                    <a:ext uri="{FF2B5EF4-FFF2-40B4-BE49-F238E27FC236}">
                      <a16:creationId xmlns:a16="http://schemas.microsoft.com/office/drawing/2014/main" id="{073BCB86-A32D-4DDB-C131-0B3E160F3805}"/>
                    </a:ext>
                  </a:extLst>
                </p:cNvPr>
                <p:cNvSpPr txBox="1"/>
                <p:nvPr/>
              </p:nvSpPr>
              <p:spPr>
                <a:xfrm>
                  <a:off x="10283542" y="5180034"/>
                  <a:ext cx="374141" cy="1896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r>
                    <a:rPr lang="en-US" altLang="ko-KR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2040</a:t>
                  </a:r>
                </a:p>
              </p:txBody>
            </p:sp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B569C162-6A9C-44D1-36A0-0AD4B2D0A32B}"/>
                    </a:ext>
                  </a:extLst>
                </p:cNvPr>
                <p:cNvCxnSpPr/>
                <p:nvPr/>
              </p:nvCxnSpPr>
              <p:spPr>
                <a:xfrm flipV="1">
                  <a:off x="7375283" y="2587807"/>
                  <a:ext cx="0" cy="255600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F42C56CB-9D69-81AE-6E21-29AC613921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76050" y="5143487"/>
                  <a:ext cx="3857574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71">
                <a:extLst>
                  <a:ext uri="{FF2B5EF4-FFF2-40B4-BE49-F238E27FC236}">
                    <a16:creationId xmlns:a16="http://schemas.microsoft.com/office/drawing/2014/main" id="{2FBC9008-A7CF-A0F9-CABC-1370140B14D1}"/>
                  </a:ext>
                </a:extLst>
              </p:cNvPr>
              <p:cNvSpPr txBox="1"/>
              <p:nvPr/>
            </p:nvSpPr>
            <p:spPr>
              <a:xfrm rot="16200000">
                <a:off x="5349015" y="3536891"/>
                <a:ext cx="1820849" cy="22127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lnSpc>
                    <a:spcPct val="110000"/>
                  </a:lnSpc>
                  <a:defRPr sz="1200" spc="20">
                    <a:solidFill>
                      <a:srgbClr val="808080">
                        <a:alpha val="70000"/>
                      </a:srgbClr>
                    </a:solidFill>
                    <a:latin typeface="Pretendard Light"/>
                    <a:ea typeface="Pretendard Light"/>
                    <a:cs typeface="Pretendard Light"/>
                    <a:sym typeface="Pretendard Light"/>
                  </a:defRPr>
                </a:lvl1pPr>
              </a:lstStyle>
              <a:p>
                <a:pPr algn="ctr"/>
                <a:r>
                  <a:rPr lang="ko-KR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리튬 수요량 </a:t>
                </a:r>
                <a:r>
                  <a:rPr lang="en-US" altLang="ko-K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(kt)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533409-4F84-734F-0D20-204C3042001D}"/>
                </a:ext>
              </a:extLst>
            </p:cNvPr>
            <p:cNvSpPr txBox="1"/>
            <p:nvPr/>
          </p:nvSpPr>
          <p:spPr>
            <a:xfrm>
              <a:off x="530469" y="5626867"/>
              <a:ext cx="3365864" cy="326821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>
                <a:lnSpc>
                  <a:spcPct val="100000"/>
                </a:lnSpc>
                <a:spcBef>
                  <a:spcPct val="0"/>
                </a:spcBef>
                <a:buNone/>
                <a:defRPr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엘리스 DX널리체 Bold" panose="020B0600000101010101" pitchFamily="50" charset="-127"/>
                  <a:ea typeface="엘리스 DX널리체 Bold" panose="020B0600000101010101" pitchFamily="50" charset="-127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[</a:t>
              </a:r>
              <a:r>
                <a:rPr lang="ko-KR" altLang="en-US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글로벌 양극재</a:t>
              </a:r>
              <a:r>
                <a:rPr lang="en-US" altLang="ko-KR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리튬</a:t>
              </a:r>
              <a:r>
                <a:rPr lang="en-US" altLang="ko-KR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lang="ko-KR" altLang="en-US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수요</a:t>
              </a:r>
              <a:r>
                <a:rPr lang="en-US" altLang="ko-KR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</a:t>
              </a:r>
              <a:r>
                <a:rPr lang="ko-KR" altLang="en-US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공급 전망</a:t>
              </a:r>
              <a:r>
                <a:rPr lang="en-US" altLang="ko-KR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]</a:t>
              </a:r>
              <a:r>
                <a:rPr lang="ko-KR" altLang="en-US" sz="16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endParaRPr lang="en-US" altLang="ko-KR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17" name="양극재 배터리 수요">
              <a:extLst>
                <a:ext uri="{FF2B5EF4-FFF2-40B4-BE49-F238E27FC236}">
                  <a16:creationId xmlns:a16="http://schemas.microsoft.com/office/drawing/2014/main" id="{891A087B-6FDF-4E04-63D6-1138318FF890}"/>
                </a:ext>
              </a:extLst>
            </p:cNvPr>
            <p:cNvSpPr txBox="1"/>
            <p:nvPr/>
          </p:nvSpPr>
          <p:spPr>
            <a:xfrm>
              <a:off x="2797098" y="3353169"/>
              <a:ext cx="609104" cy="434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1100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부족</a:t>
              </a:r>
            </a:p>
            <a:p>
              <a:r>
                <a:rPr lang="en-US" altLang="ko-KR" sz="1100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(250 kt)</a:t>
              </a:r>
            </a:p>
          </p:txBody>
        </p:sp>
        <p:sp>
          <p:nvSpPr>
            <p:cNvPr id="43" name="양극재 배터리 수요">
              <a:extLst>
                <a:ext uri="{FF2B5EF4-FFF2-40B4-BE49-F238E27FC236}">
                  <a16:creationId xmlns:a16="http://schemas.microsoft.com/office/drawing/2014/main" id="{3349930F-1004-AE8D-538D-8BF0DA2A516B}"/>
                </a:ext>
              </a:extLst>
            </p:cNvPr>
            <p:cNvSpPr txBox="1"/>
            <p:nvPr/>
          </p:nvSpPr>
          <p:spPr>
            <a:xfrm>
              <a:off x="2763991" y="4568193"/>
              <a:ext cx="675319" cy="434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11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채굴 공급</a:t>
              </a:r>
            </a:p>
            <a:p>
              <a:r>
                <a:rPr lang="en-US" altLang="ko-KR" sz="11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(750 kt)</a:t>
              </a:r>
            </a:p>
          </p:txBody>
        </p:sp>
        <p:sp>
          <p:nvSpPr>
            <p:cNvPr id="44" name="양극재 배터리 수요">
              <a:extLst>
                <a:ext uri="{FF2B5EF4-FFF2-40B4-BE49-F238E27FC236}">
                  <a16:creationId xmlns:a16="http://schemas.microsoft.com/office/drawing/2014/main" id="{7764FEE5-7880-8959-A978-049A9ED83080}"/>
                </a:ext>
              </a:extLst>
            </p:cNvPr>
            <p:cNvSpPr txBox="1"/>
            <p:nvPr/>
          </p:nvSpPr>
          <p:spPr>
            <a:xfrm>
              <a:off x="1270811" y="3937750"/>
              <a:ext cx="1004129" cy="4308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defPPr>
                <a:defRPr lang="ko-KR"/>
              </a:defPPr>
              <a:lvl1pPr marL="0" indent="0" algn="ctr" defTabSz="914400" rtl="0" eaLnBrk="1" latinLnBrk="1" hangingPunct="1">
                <a:defRPr sz="1600" kern="12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  <a:lvl2pPr marL="4572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부족</a:t>
              </a:r>
            </a:p>
            <a:p>
              <a:r>
                <a:rPr lang="en-US" altLang="ko-KR" sz="11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(1 kt)</a:t>
              </a:r>
            </a:p>
          </p:txBody>
        </p:sp>
        <p:sp>
          <p:nvSpPr>
            <p:cNvPr id="45" name="양극재 배터리 수요">
              <a:extLst>
                <a:ext uri="{FF2B5EF4-FFF2-40B4-BE49-F238E27FC236}">
                  <a16:creationId xmlns:a16="http://schemas.microsoft.com/office/drawing/2014/main" id="{D26AEBFC-F9AD-2896-1077-B9E27CCFB18F}"/>
                </a:ext>
              </a:extLst>
            </p:cNvPr>
            <p:cNvSpPr txBox="1"/>
            <p:nvPr/>
          </p:nvSpPr>
          <p:spPr>
            <a:xfrm>
              <a:off x="1435216" y="4554218"/>
              <a:ext cx="675319" cy="434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11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채굴 공급</a:t>
              </a:r>
            </a:p>
            <a:p>
              <a:r>
                <a:rPr lang="en-US" altLang="ko-KR" sz="1100" dirty="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(465 kt)</a:t>
              </a:r>
            </a:p>
          </p:txBody>
        </p:sp>
      </p:grpSp>
      <p:grpSp>
        <p:nvGrpSpPr>
          <p:cNvPr id="905" name="그룹 904">
            <a:extLst>
              <a:ext uri="{FF2B5EF4-FFF2-40B4-BE49-F238E27FC236}">
                <a16:creationId xmlns:a16="http://schemas.microsoft.com/office/drawing/2014/main" id="{8FC1F843-A7A3-02A2-E5F1-A27D107CE767}"/>
              </a:ext>
            </a:extLst>
          </p:cNvPr>
          <p:cNvGrpSpPr/>
          <p:nvPr/>
        </p:nvGrpSpPr>
        <p:grpSpPr>
          <a:xfrm>
            <a:off x="398145" y="1364850"/>
            <a:ext cx="3851029" cy="512102"/>
            <a:chOff x="396240" y="1364850"/>
            <a:chExt cx="4433654" cy="512102"/>
          </a:xfrm>
        </p:grpSpPr>
        <p:grpSp>
          <p:nvGrpSpPr>
            <p:cNvPr id="906" name="그룹 905">
              <a:extLst>
                <a:ext uri="{FF2B5EF4-FFF2-40B4-BE49-F238E27FC236}">
                  <a16:creationId xmlns:a16="http://schemas.microsoft.com/office/drawing/2014/main" id="{2A0FD5D7-BFA4-599E-D546-4BE9370CDC55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908" name="사각형: 둥근 모서리 41">
                <a:extLst>
                  <a:ext uri="{FF2B5EF4-FFF2-40B4-BE49-F238E27FC236}">
                    <a16:creationId xmlns:a16="http://schemas.microsoft.com/office/drawing/2014/main" id="{1CA0040F-448D-51E0-14DB-D52C4185239B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911" name="직사각형">
                  <a:extLst>
                    <a:ext uri="{FF2B5EF4-FFF2-40B4-BE49-F238E27FC236}">
                      <a16:creationId xmlns:a16="http://schemas.microsoft.com/office/drawing/2014/main" id="{405407C0-2667-3EA2-27C3-C251AC7A8BE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912" name="2023년 글로벌 전기차 1406.1만대 판매…">
                  <a:extLst>
                    <a:ext uri="{FF2B5EF4-FFF2-40B4-BE49-F238E27FC236}">
                      <a16:creationId xmlns:a16="http://schemas.microsoft.com/office/drawing/2014/main" id="{8076C158-8793-7CE8-A4EB-38A7188DC7D8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909" name="직선 연결선 43">
                <a:extLst>
                  <a:ext uri="{FF2B5EF4-FFF2-40B4-BE49-F238E27FC236}">
                    <a16:creationId xmlns:a16="http://schemas.microsoft.com/office/drawing/2014/main" id="{54D32B90-E1C6-668F-C340-2650F6AF8E5F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910" name="직선 연결선 44">
                <a:extLst>
                  <a:ext uri="{FF2B5EF4-FFF2-40B4-BE49-F238E27FC236}">
                    <a16:creationId xmlns:a16="http://schemas.microsoft.com/office/drawing/2014/main" id="{EF96173B-79CC-3286-6714-24DC3881FA77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907" name="양극재 배터리 수요">
              <a:extLst>
                <a:ext uri="{FF2B5EF4-FFF2-40B4-BE49-F238E27FC236}">
                  <a16:creationId xmlns:a16="http://schemas.microsoft.com/office/drawing/2014/main" id="{BBC98582-D782-26AD-73CA-C564AFA9BBBA}"/>
                </a:ext>
              </a:extLst>
            </p:cNvPr>
            <p:cNvSpPr txBox="1"/>
            <p:nvPr/>
          </p:nvSpPr>
          <p:spPr>
            <a:xfrm>
              <a:off x="517210" y="1418711"/>
              <a:ext cx="419171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환경 오염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F96D57D-9A48-CA51-A4CB-C5B970B42351}"/>
              </a:ext>
            </a:extLst>
          </p:cNvPr>
          <p:cNvGrpSpPr/>
          <p:nvPr/>
        </p:nvGrpSpPr>
        <p:grpSpPr>
          <a:xfrm>
            <a:off x="4297477" y="1364850"/>
            <a:ext cx="3851029" cy="512102"/>
            <a:chOff x="396240" y="1364850"/>
            <a:chExt cx="4433654" cy="512102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BD84867-60C2-8544-BBA7-B90349324A31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21" name="사각형: 둥근 모서리 41">
                <a:extLst>
                  <a:ext uri="{FF2B5EF4-FFF2-40B4-BE49-F238E27FC236}">
                    <a16:creationId xmlns:a16="http://schemas.microsoft.com/office/drawing/2014/main" id="{3944F634-523E-E7B6-7C95-0EBC20EA9D79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24" name="직사각형">
                  <a:extLst>
                    <a:ext uri="{FF2B5EF4-FFF2-40B4-BE49-F238E27FC236}">
                      <a16:creationId xmlns:a16="http://schemas.microsoft.com/office/drawing/2014/main" id="{8E43A5C9-BE52-D5E6-CA38-BC31672C89D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25" name="2023년 글로벌 전기차 1406.1만대 판매…">
                  <a:extLst>
                    <a:ext uri="{FF2B5EF4-FFF2-40B4-BE49-F238E27FC236}">
                      <a16:creationId xmlns:a16="http://schemas.microsoft.com/office/drawing/2014/main" id="{4135BE85-C422-E0E2-A5DA-08B6D3A47BE0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22" name="직선 연결선 43">
                <a:extLst>
                  <a:ext uri="{FF2B5EF4-FFF2-40B4-BE49-F238E27FC236}">
                    <a16:creationId xmlns:a16="http://schemas.microsoft.com/office/drawing/2014/main" id="{C6A4718E-BE66-E9BE-533C-A0DCEE4D5C48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23" name="직선 연결선 44">
                <a:extLst>
                  <a:ext uri="{FF2B5EF4-FFF2-40B4-BE49-F238E27FC236}">
                    <a16:creationId xmlns:a16="http://schemas.microsoft.com/office/drawing/2014/main" id="{57C0A5F6-A8E0-E358-7B47-0258ED32694C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20" name="양극재 배터리 수요">
              <a:extLst>
                <a:ext uri="{FF2B5EF4-FFF2-40B4-BE49-F238E27FC236}">
                  <a16:creationId xmlns:a16="http://schemas.microsoft.com/office/drawing/2014/main" id="{58498301-820B-C367-DF83-2446F41E9106}"/>
                </a:ext>
              </a:extLst>
            </p:cNvPr>
            <p:cNvSpPr txBox="1"/>
            <p:nvPr/>
          </p:nvSpPr>
          <p:spPr>
            <a:xfrm>
              <a:off x="517210" y="1418711"/>
              <a:ext cx="419171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핵심광물 고갈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75C11FC-EE73-2919-DD47-C9A746A07E4E}"/>
              </a:ext>
            </a:extLst>
          </p:cNvPr>
          <p:cNvGrpSpPr/>
          <p:nvPr/>
        </p:nvGrpSpPr>
        <p:grpSpPr>
          <a:xfrm>
            <a:off x="8217529" y="1364850"/>
            <a:ext cx="3851029" cy="512102"/>
            <a:chOff x="396240" y="1364850"/>
            <a:chExt cx="4433654" cy="512102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49DC57C-3E2C-11F3-7FAF-024684943E9F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29" name="사각형: 둥근 모서리 41">
                <a:extLst>
                  <a:ext uri="{FF2B5EF4-FFF2-40B4-BE49-F238E27FC236}">
                    <a16:creationId xmlns:a16="http://schemas.microsoft.com/office/drawing/2014/main" id="{57B12BBF-BB31-682D-FC74-A0E61373F6B0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32" name="직사각형">
                  <a:extLst>
                    <a:ext uri="{FF2B5EF4-FFF2-40B4-BE49-F238E27FC236}">
                      <a16:creationId xmlns:a16="http://schemas.microsoft.com/office/drawing/2014/main" id="{107E49D4-8EB9-FB81-CB93-6C5810B8B9E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33" name="2023년 글로벌 전기차 1406.1만대 판매…">
                  <a:extLst>
                    <a:ext uri="{FF2B5EF4-FFF2-40B4-BE49-F238E27FC236}">
                      <a16:creationId xmlns:a16="http://schemas.microsoft.com/office/drawing/2014/main" id="{15BCF062-DA80-E772-2C52-AEFF15954975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30" name="직선 연결선 43">
                <a:extLst>
                  <a:ext uri="{FF2B5EF4-FFF2-40B4-BE49-F238E27FC236}">
                    <a16:creationId xmlns:a16="http://schemas.microsoft.com/office/drawing/2014/main" id="{3D3013AA-3632-4003-3904-460332A16531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31" name="직선 연결선 44">
                <a:extLst>
                  <a:ext uri="{FF2B5EF4-FFF2-40B4-BE49-F238E27FC236}">
                    <a16:creationId xmlns:a16="http://schemas.microsoft.com/office/drawing/2014/main" id="{C3507803-8AF5-7054-F7F9-2CE50F64E4C6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28" name="양극재 배터리 수요">
              <a:extLst>
                <a:ext uri="{FF2B5EF4-FFF2-40B4-BE49-F238E27FC236}">
                  <a16:creationId xmlns:a16="http://schemas.microsoft.com/office/drawing/2014/main" id="{58D31FA0-BF13-BD57-48A9-CE95DCDFAC50}"/>
                </a:ext>
              </a:extLst>
            </p:cNvPr>
            <p:cNvSpPr txBox="1"/>
            <p:nvPr/>
          </p:nvSpPr>
          <p:spPr>
            <a:xfrm>
              <a:off x="517210" y="1418711"/>
              <a:ext cx="419171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특정국가에 편중된 공급망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45751A9-BBB5-E256-B0B0-27FEBF478EE9}"/>
              </a:ext>
            </a:extLst>
          </p:cNvPr>
          <p:cNvSpPr txBox="1"/>
          <p:nvPr/>
        </p:nvSpPr>
        <p:spPr>
          <a:xfrm>
            <a:off x="1029262" y="2042210"/>
            <a:ext cx="25887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0F1E1F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lvl1pPr>
          </a:lstStyle>
          <a:p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배터리 </a:t>
            </a:r>
            <a:r>
              <a:rPr lang="ko-KR" altLang="en-US" u="sng" dirty="0" err="1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밸류체인</a:t>
            </a:r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전반의 </a:t>
            </a:r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환경부하 및 사회적 비용</a:t>
            </a:r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5F3E60-6343-E754-75C8-4AD271120656}"/>
              </a:ext>
            </a:extLst>
          </p:cNvPr>
          <p:cNvSpPr txBox="1"/>
          <p:nvPr/>
        </p:nvSpPr>
        <p:spPr>
          <a:xfrm>
            <a:off x="4808121" y="2042210"/>
            <a:ext cx="2923578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0F1E1F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lvl1pPr>
          </a:lstStyle>
          <a:p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기준</a:t>
            </a:r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수요</a:t>
            </a:r>
            <a:r>
              <a:rPr lang="en-US" altLang="ko-KR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공급광산채굴 미스매치 발생</a:t>
            </a:r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548958-F30F-6888-796A-7D1491893520}"/>
              </a:ext>
            </a:extLst>
          </p:cNvPr>
          <p:cNvSpPr txBox="1"/>
          <p:nvPr/>
        </p:nvSpPr>
        <p:spPr>
          <a:xfrm>
            <a:off x="8681253" y="2042210"/>
            <a:ext cx="2923578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0F1E1F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lvl1pPr>
          </a:lstStyle>
          <a:p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중국이 장악한 </a:t>
            </a:r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글로벌 배터리 핵심광물 공급망</a:t>
            </a:r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F5A3F3-C1FE-66F8-D87E-7D8604CCCF46}"/>
              </a:ext>
            </a:extLst>
          </p:cNvPr>
          <p:cNvSpPr txBox="1"/>
          <p:nvPr/>
        </p:nvSpPr>
        <p:spPr>
          <a:xfrm>
            <a:off x="8355303" y="4605328"/>
            <a:ext cx="3468763" cy="115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전략광물 </a:t>
            </a:r>
            <a:r>
              <a:rPr lang="en-US" altLang="ko-KR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</a:t>
            </a: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 중 </a:t>
            </a:r>
            <a:r>
              <a:rPr lang="en-US" altLang="ko-KR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19</a:t>
            </a: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 정제 </a:t>
            </a:r>
            <a:r>
              <a:rPr lang="en-US" altLang="ko-KR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위</a:t>
            </a:r>
            <a:endParaRPr lang="en-US" altLang="ko-KR" sz="1600" spc="-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전략광물 정제 평균 점유율 </a:t>
            </a:r>
            <a:r>
              <a:rPr lang="en-US" altLang="ko-KR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70%</a:t>
            </a:r>
          </a:p>
          <a:p>
            <a:pPr algn="ctr">
              <a:lnSpc>
                <a:spcPct val="150000"/>
              </a:lnSpc>
            </a:pP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글로벌 </a:t>
            </a:r>
            <a:r>
              <a:rPr lang="ko-KR" altLang="en-US" sz="1600" spc="-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블랙매스</a:t>
            </a: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처리 비중 </a:t>
            </a:r>
            <a:r>
              <a:rPr lang="en-US" altLang="ko-KR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89%</a:t>
            </a:r>
            <a:endParaRPr lang="ko-KR" altLang="en-US" sz="1600" spc="-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865E6AF-94AA-82E9-4125-24868C6E1D5F}"/>
              </a:ext>
            </a:extLst>
          </p:cNvPr>
          <p:cNvGrpSpPr/>
          <p:nvPr/>
        </p:nvGrpSpPr>
        <p:grpSpPr>
          <a:xfrm>
            <a:off x="520165" y="2926744"/>
            <a:ext cx="3498271" cy="2151897"/>
            <a:chOff x="526597" y="2781383"/>
            <a:chExt cx="3498271" cy="2151897"/>
          </a:xfrm>
        </p:grpSpPr>
        <p:pic>
          <p:nvPicPr>
            <p:cNvPr id="3" name="그림 2" descr="République démocratique du Congo : les petits forçats du cobalt - Amnesty International France">
              <a:extLst>
                <a:ext uri="{FF2B5EF4-FFF2-40B4-BE49-F238E27FC236}">
                  <a16:creationId xmlns:a16="http://schemas.microsoft.com/office/drawing/2014/main" id="{EBC4086C-663C-C10F-B5EE-86615A6A4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7919" y="2783581"/>
              <a:ext cx="1644801" cy="1233601"/>
            </a:xfrm>
            <a:prstGeom prst="rect">
              <a:avLst/>
            </a:prstGeom>
          </p:spPr>
        </p:pic>
        <p:pic>
          <p:nvPicPr>
            <p:cNvPr id="4" name="그림 3" descr="INDONESIA-RIGHTS-MINING-ENVIRONMENT-CHINA">
              <a:extLst>
                <a:ext uri="{FF2B5EF4-FFF2-40B4-BE49-F238E27FC236}">
                  <a16:creationId xmlns:a16="http://schemas.microsoft.com/office/drawing/2014/main" id="{7053AD9F-B1A2-7688-862D-95970427F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597" y="2781383"/>
              <a:ext cx="1850858" cy="1233604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78B77EF-43FE-6405-2AF6-3EE5CAFB1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33757"/>
            <a:stretch>
              <a:fillRect/>
            </a:stretch>
          </p:blipFill>
          <p:spPr>
            <a:xfrm>
              <a:off x="535736" y="4007270"/>
              <a:ext cx="1866569" cy="917200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57985DF8-AD7E-9EE1-6458-4E04C304B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2537" y="4016080"/>
              <a:ext cx="1622331" cy="917200"/>
            </a:xfrm>
            <a:prstGeom prst="rect">
              <a:avLst/>
            </a:prstGeom>
          </p:spPr>
        </p:pic>
      </p:grpSp>
      <p:pic>
        <p:nvPicPr>
          <p:cNvPr id="897" name="그림 896">
            <a:extLst>
              <a:ext uri="{FF2B5EF4-FFF2-40B4-BE49-F238E27FC236}">
                <a16:creationId xmlns:a16="http://schemas.microsoft.com/office/drawing/2014/main" id="{6ECABB82-6524-4D73-78E7-7DBAABF8236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469" t="22948" r="9469" b="17553"/>
          <a:stretch>
            <a:fillRect/>
          </a:stretch>
        </p:blipFill>
        <p:spPr>
          <a:xfrm>
            <a:off x="8681253" y="2991363"/>
            <a:ext cx="2741898" cy="1502560"/>
          </a:xfrm>
          <a:prstGeom prst="rect">
            <a:avLst/>
          </a:prstGeom>
        </p:spPr>
      </p:pic>
      <p:sp>
        <p:nvSpPr>
          <p:cNvPr id="899" name="TextBox 898">
            <a:extLst>
              <a:ext uri="{FF2B5EF4-FFF2-40B4-BE49-F238E27FC236}">
                <a16:creationId xmlns:a16="http://schemas.microsoft.com/office/drawing/2014/main" id="{3B7CC6E9-9F05-01A0-0987-02A1A2ADB4F2}"/>
              </a:ext>
            </a:extLst>
          </p:cNvPr>
          <p:cNvSpPr txBox="1"/>
          <p:nvPr/>
        </p:nvSpPr>
        <p:spPr>
          <a:xfrm>
            <a:off x="690000" y="5170030"/>
            <a:ext cx="3139258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니켈 </a:t>
            </a:r>
            <a:r>
              <a:rPr lang="en-US" altLang="ko-KR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톤당 </a:t>
            </a:r>
            <a:r>
              <a:rPr lang="en-US" altLang="ko-KR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133</a:t>
            </a: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톤 폐기물 발생</a:t>
            </a:r>
            <a:endParaRPr lang="en-US" altLang="ko-KR" sz="1600" spc="-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채굴 산업의 노동 및 인권문제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410083-33C7-5F8C-C8C7-8C525D853A94}"/>
              </a:ext>
            </a:extLst>
          </p:cNvPr>
          <p:cNvCxnSpPr>
            <a:cxnSpLocks/>
          </p:cNvCxnSpPr>
          <p:nvPr/>
        </p:nvCxnSpPr>
        <p:spPr>
          <a:xfrm>
            <a:off x="4330436" y="2476637"/>
            <a:ext cx="0" cy="3744000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6250ABE-5518-8457-26E2-24B0DA4675C5}"/>
              </a:ext>
            </a:extLst>
          </p:cNvPr>
          <p:cNvCxnSpPr>
            <a:cxnSpLocks/>
          </p:cNvCxnSpPr>
          <p:nvPr/>
        </p:nvCxnSpPr>
        <p:spPr>
          <a:xfrm>
            <a:off x="8040352" y="2501171"/>
            <a:ext cx="0" cy="3744000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28482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B3BB-DCFE-0064-D5AB-20009AD53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그래픽 64">
            <a:extLst>
              <a:ext uri="{FF2B5EF4-FFF2-40B4-BE49-F238E27FC236}">
                <a16:creationId xmlns:a16="http://schemas.microsoft.com/office/drawing/2014/main" id="{2B48FFA8-570E-D71B-EBC1-965FDC6FCA24}"/>
              </a:ext>
            </a:extLst>
          </p:cNvPr>
          <p:cNvGrpSpPr/>
          <p:nvPr/>
        </p:nvGrpSpPr>
        <p:grpSpPr>
          <a:xfrm>
            <a:off x="436192" y="311127"/>
            <a:ext cx="1093353" cy="166691"/>
            <a:chOff x="0" y="0"/>
            <a:chExt cx="1093351" cy="166689"/>
          </a:xfrm>
        </p:grpSpPr>
        <p:sp>
          <p:nvSpPr>
            <p:cNvPr id="224" name="자유형: 도형 76">
              <a:extLst>
                <a:ext uri="{FF2B5EF4-FFF2-40B4-BE49-F238E27FC236}">
                  <a16:creationId xmlns:a16="http://schemas.microsoft.com/office/drawing/2014/main" id="{AF774AC3-CA1A-857B-0DB9-C78895FA6710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5" name="자유형: 도형 77">
              <a:extLst>
                <a:ext uri="{FF2B5EF4-FFF2-40B4-BE49-F238E27FC236}">
                  <a16:creationId xmlns:a16="http://schemas.microsoft.com/office/drawing/2014/main" id="{ED1F2DF4-DA24-0764-90A3-7E43E523B092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6" name="자유형: 도형 78">
              <a:extLst>
                <a:ext uri="{FF2B5EF4-FFF2-40B4-BE49-F238E27FC236}">
                  <a16:creationId xmlns:a16="http://schemas.microsoft.com/office/drawing/2014/main" id="{EB81F9A2-6464-9F02-D5E5-72A2EDEDD73C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7" name="자유형: 도형 79">
              <a:extLst>
                <a:ext uri="{FF2B5EF4-FFF2-40B4-BE49-F238E27FC236}">
                  <a16:creationId xmlns:a16="http://schemas.microsoft.com/office/drawing/2014/main" id="{0E0543C5-E231-4F01-C9FE-56B78264A0A1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8" name="자유형: 도형 80">
              <a:extLst>
                <a:ext uri="{FF2B5EF4-FFF2-40B4-BE49-F238E27FC236}">
                  <a16:creationId xmlns:a16="http://schemas.microsoft.com/office/drawing/2014/main" id="{1FCF446C-E555-4E07-B092-0838606DB403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9" name="자유형: 도형 81">
              <a:extLst>
                <a:ext uri="{FF2B5EF4-FFF2-40B4-BE49-F238E27FC236}">
                  <a16:creationId xmlns:a16="http://schemas.microsoft.com/office/drawing/2014/main" id="{98C2DF7A-E1FE-089F-D5E8-A8179C223D57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30" name="자유형: 도형 82">
              <a:extLst>
                <a:ext uri="{FF2B5EF4-FFF2-40B4-BE49-F238E27FC236}">
                  <a16:creationId xmlns:a16="http://schemas.microsoft.com/office/drawing/2014/main" id="{0AA4ACD9-2EE3-207C-BDBE-C7DCA1A3F0D2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232" name="직사각형 66">
            <a:extLst>
              <a:ext uri="{FF2B5EF4-FFF2-40B4-BE49-F238E27FC236}">
                <a16:creationId xmlns:a16="http://schemas.microsoft.com/office/drawing/2014/main" id="{BD713ABC-D107-15B3-084E-B9F8E4ABD228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3" name="직사각형 67">
            <a:extLst>
              <a:ext uri="{FF2B5EF4-FFF2-40B4-BE49-F238E27FC236}">
                <a16:creationId xmlns:a16="http://schemas.microsoft.com/office/drawing/2014/main" id="{F073BF2A-CFE5-9215-3138-647C6CED1ADB}"/>
              </a:ext>
            </a:extLst>
          </p:cNvPr>
          <p:cNvSpPr/>
          <p:nvPr/>
        </p:nvSpPr>
        <p:spPr>
          <a:xfrm>
            <a:off x="-3" y="1306416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직선 연결선 68">
            <a:extLst>
              <a:ext uri="{FF2B5EF4-FFF2-40B4-BE49-F238E27FC236}">
                <a16:creationId xmlns:a16="http://schemas.microsoft.com/office/drawing/2014/main" id="{13B58802-D99B-A6BD-5E62-7D1ABCE79F96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TextBox 71">
            <a:extLst>
              <a:ext uri="{FF2B5EF4-FFF2-40B4-BE49-F238E27FC236}">
                <a16:creationId xmlns:a16="http://schemas.microsoft.com/office/drawing/2014/main" id="{4DAA1A95-2CC4-3A67-32CE-168D1893B19B}"/>
              </a:ext>
            </a:extLst>
          </p:cNvPr>
          <p:cNvSpPr txBox="1"/>
          <p:nvPr/>
        </p:nvSpPr>
        <p:spPr>
          <a:xfrm>
            <a:off x="446746" y="616129"/>
            <a:ext cx="84318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Background</a:t>
            </a:r>
          </a:p>
        </p:txBody>
      </p:sp>
      <p:sp>
        <p:nvSpPr>
          <p:cNvPr id="236" name="TextBox 2">
            <a:extLst>
              <a:ext uri="{FF2B5EF4-FFF2-40B4-BE49-F238E27FC236}">
                <a16:creationId xmlns:a16="http://schemas.microsoft.com/office/drawing/2014/main" id="{4FE5B64E-3A8E-50DD-A2DE-0A244BECD2E2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dirty="0"/>
              <a:t>We promise tomorrow</a:t>
            </a:r>
          </a:p>
        </p:txBody>
      </p:sp>
      <p:sp>
        <p:nvSpPr>
          <p:cNvPr id="238" name="TextBox 19">
            <a:extLst>
              <a:ext uri="{FF2B5EF4-FFF2-40B4-BE49-F238E27FC236}">
                <a16:creationId xmlns:a16="http://schemas.microsoft.com/office/drawing/2014/main" id="{39598F3C-2974-7C94-5C3F-A3F509A2DEF5}"/>
              </a:ext>
            </a:extLst>
          </p:cNvPr>
          <p:cNvSpPr txBox="1"/>
          <p:nvPr/>
        </p:nvSpPr>
        <p:spPr>
          <a:xfrm>
            <a:off x="263134" y="6655963"/>
            <a:ext cx="1180530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900" spc="-30">
                <a:solidFill>
                  <a:srgbClr val="AFABAB"/>
                </a:solidFill>
                <a:latin typeface="Pretendard Thin"/>
                <a:ea typeface="Pretendard Thin"/>
                <a:cs typeface="Pretendard Thin"/>
                <a:sym typeface="Pretendard Thin"/>
              </a:defRPr>
            </a:pP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Sorece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 SNE Research (2023); Mirae Asset Securities Research Center (Jan. 2026); Korea Automotive Technology Institute (KATECH), Mobility Insight (Apr. 2024; citing SNE Research). 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87D0D790-8DBF-2979-8F58-B905F8E68291}"/>
              </a:ext>
            </a:extLst>
          </p:cNvPr>
          <p:cNvSpPr txBox="1"/>
          <p:nvPr/>
        </p:nvSpPr>
        <p:spPr>
          <a:xfrm>
            <a:off x="403759" y="805796"/>
            <a:ext cx="3580147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왜 지금인가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?-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산업적 요인</a:t>
            </a:r>
          </a:p>
        </p:txBody>
      </p:sp>
      <p:sp>
        <p:nvSpPr>
          <p:cNvPr id="193" name="슬라이드 번호 개체 틀 4">
            <a:extLst>
              <a:ext uri="{FF2B5EF4-FFF2-40B4-BE49-F238E27FC236}">
                <a16:creationId xmlns:a16="http://schemas.microsoft.com/office/drawing/2014/main" id="{359027BA-7196-7EE3-CCDB-BD695A95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608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2</a:t>
            </a:fld>
            <a:endParaRPr lang="ko-KR" altLang="en-US" dirty="0"/>
          </a:p>
        </p:txBody>
      </p:sp>
      <p:grpSp>
        <p:nvGrpSpPr>
          <p:cNvPr id="905" name="그룹 904">
            <a:extLst>
              <a:ext uri="{FF2B5EF4-FFF2-40B4-BE49-F238E27FC236}">
                <a16:creationId xmlns:a16="http://schemas.microsoft.com/office/drawing/2014/main" id="{594E87F4-48A8-242B-9973-28F026DD2791}"/>
              </a:ext>
            </a:extLst>
          </p:cNvPr>
          <p:cNvGrpSpPr/>
          <p:nvPr/>
        </p:nvGrpSpPr>
        <p:grpSpPr>
          <a:xfrm>
            <a:off x="398146" y="1364850"/>
            <a:ext cx="3576326" cy="512102"/>
            <a:chOff x="396240" y="1364850"/>
            <a:chExt cx="4433654" cy="512102"/>
          </a:xfrm>
        </p:grpSpPr>
        <p:grpSp>
          <p:nvGrpSpPr>
            <p:cNvPr id="906" name="그룹 905">
              <a:extLst>
                <a:ext uri="{FF2B5EF4-FFF2-40B4-BE49-F238E27FC236}">
                  <a16:creationId xmlns:a16="http://schemas.microsoft.com/office/drawing/2014/main" id="{4B7F39DA-3AA9-FD0B-AE4B-4DD43506FAC0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908" name="사각형: 둥근 모서리 41">
                <a:extLst>
                  <a:ext uri="{FF2B5EF4-FFF2-40B4-BE49-F238E27FC236}">
                    <a16:creationId xmlns:a16="http://schemas.microsoft.com/office/drawing/2014/main" id="{3D788159-005F-DAC1-AE44-F35A306DAD1D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911" name="직사각형">
                  <a:extLst>
                    <a:ext uri="{FF2B5EF4-FFF2-40B4-BE49-F238E27FC236}">
                      <a16:creationId xmlns:a16="http://schemas.microsoft.com/office/drawing/2014/main" id="{532ECAFD-C214-AC47-F479-8357BB1B4FB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912" name="2023년 글로벌 전기차 1406.1만대 판매…">
                  <a:extLst>
                    <a:ext uri="{FF2B5EF4-FFF2-40B4-BE49-F238E27FC236}">
                      <a16:creationId xmlns:a16="http://schemas.microsoft.com/office/drawing/2014/main" id="{1941754C-0F2A-F126-8E82-79960E803211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909" name="직선 연결선 43">
                <a:extLst>
                  <a:ext uri="{FF2B5EF4-FFF2-40B4-BE49-F238E27FC236}">
                    <a16:creationId xmlns:a16="http://schemas.microsoft.com/office/drawing/2014/main" id="{EA730A1F-E993-A407-78DB-E96DB00F5A2D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910" name="직선 연결선 44">
                <a:extLst>
                  <a:ext uri="{FF2B5EF4-FFF2-40B4-BE49-F238E27FC236}">
                    <a16:creationId xmlns:a16="http://schemas.microsoft.com/office/drawing/2014/main" id="{056EF30B-5E2E-BCC1-63CD-0436B207B815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907" name="양극재 배터리 수요">
              <a:extLst>
                <a:ext uri="{FF2B5EF4-FFF2-40B4-BE49-F238E27FC236}">
                  <a16:creationId xmlns:a16="http://schemas.microsoft.com/office/drawing/2014/main" id="{BA6BFA03-ACD3-919E-0121-6F5FB9DF13BC}"/>
                </a:ext>
              </a:extLst>
            </p:cNvPr>
            <p:cNvSpPr txBox="1"/>
            <p:nvPr/>
          </p:nvSpPr>
          <p:spPr>
            <a:xfrm>
              <a:off x="517210" y="1418711"/>
              <a:ext cx="419171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2000" dirty="0"/>
                <a:t>2030</a:t>
              </a:r>
              <a:r>
                <a:rPr lang="ko-KR" altLang="en-US" sz="2000" dirty="0"/>
                <a:t>년 기점 폭발적 증가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DBCB854-B1C3-D1DD-5016-51145626CC10}"/>
              </a:ext>
            </a:extLst>
          </p:cNvPr>
          <p:cNvGrpSpPr/>
          <p:nvPr/>
        </p:nvGrpSpPr>
        <p:grpSpPr>
          <a:xfrm>
            <a:off x="321472" y="2380715"/>
            <a:ext cx="3968832" cy="3283873"/>
            <a:chOff x="489889" y="2790605"/>
            <a:chExt cx="3968832" cy="328387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0B0FF1B-04C8-5AFA-C99B-19BE375EADC6}"/>
                </a:ext>
              </a:extLst>
            </p:cNvPr>
            <p:cNvGrpSpPr/>
            <p:nvPr/>
          </p:nvGrpSpPr>
          <p:grpSpPr>
            <a:xfrm>
              <a:off x="489889" y="2790605"/>
              <a:ext cx="3968832" cy="3283873"/>
              <a:chOff x="441569" y="2439766"/>
              <a:chExt cx="3968832" cy="3661933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07D907AE-FA26-CEE1-071E-34CD0A90B99C}"/>
                  </a:ext>
                </a:extLst>
              </p:cNvPr>
              <p:cNvGrpSpPr/>
              <p:nvPr/>
            </p:nvGrpSpPr>
            <p:grpSpPr>
              <a:xfrm>
                <a:off x="441569" y="2439766"/>
                <a:ext cx="3968832" cy="3388310"/>
                <a:chOff x="304614" y="2397957"/>
                <a:chExt cx="4645338" cy="3388310"/>
              </a:xfrm>
            </p:grpSpPr>
            <p:sp>
              <p:nvSpPr>
                <p:cNvPr id="38" name="TextBox 71">
                  <a:extLst>
                    <a:ext uri="{FF2B5EF4-FFF2-40B4-BE49-F238E27FC236}">
                      <a16:creationId xmlns:a16="http://schemas.microsoft.com/office/drawing/2014/main" id="{2B081F91-608A-3B55-1B01-CBC29B21D250}"/>
                    </a:ext>
                  </a:extLst>
                </p:cNvPr>
                <p:cNvSpPr txBox="1"/>
                <p:nvPr/>
              </p:nvSpPr>
              <p:spPr>
                <a:xfrm rot="16200000">
                  <a:off x="-1260042" y="3962613"/>
                  <a:ext cx="3388310" cy="25899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pPr algn="ctr"/>
                  <a:r>
                    <a:rPr lang="ko-KR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폐배터리 발생 기준 에너지 용량 </a:t>
                  </a:r>
                  <a:r>
                    <a:rPr lang="en-US" altLang="ko-KR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(GWh)</a:t>
                  </a:r>
                </a:p>
              </p:txBody>
            </p: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C91DE5C1-54CB-0915-D69C-D66955E1E646}"/>
                    </a:ext>
                  </a:extLst>
                </p:cNvPr>
                <p:cNvGrpSpPr/>
                <p:nvPr/>
              </p:nvGrpSpPr>
              <p:grpSpPr>
                <a:xfrm>
                  <a:off x="680763" y="2774828"/>
                  <a:ext cx="4269189" cy="2946245"/>
                  <a:chOff x="403759" y="2534248"/>
                  <a:chExt cx="4269189" cy="2946245"/>
                </a:xfrm>
              </p:grpSpPr>
              <p:graphicFrame>
                <p:nvGraphicFramePr>
                  <p:cNvPr id="40" name="차트 39">
                    <a:extLst>
                      <a:ext uri="{FF2B5EF4-FFF2-40B4-BE49-F238E27FC236}">
                        <a16:creationId xmlns:a16="http://schemas.microsoft.com/office/drawing/2014/main" id="{A52AB45F-F79B-721A-C639-37F7F9120744}"/>
                      </a:ext>
                    </a:extLst>
                  </p:cNvPr>
                  <p:cNvGraphicFramePr/>
                  <p:nvPr/>
                </p:nvGraphicFramePr>
                <p:xfrm>
                  <a:off x="403759" y="2620373"/>
                  <a:ext cx="4269189" cy="286012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867EB977-22FE-6573-D5F2-F34FFB04D70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72981" y="2534248"/>
                    <a:ext cx="0" cy="255600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9C0B7387-289E-D625-1925-4822B4284E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2981" y="5090248"/>
                    <a:ext cx="3166792" cy="9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TextBox 71">
                    <a:extLst>
                      <a:ext uri="{FF2B5EF4-FFF2-40B4-BE49-F238E27FC236}">
                        <a16:creationId xmlns:a16="http://schemas.microsoft.com/office/drawing/2014/main" id="{E2F1133A-F355-85AB-A664-AA340E8457A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290" y="5144522"/>
                    <a:ext cx="439791" cy="189667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lnSpc>
                        <a:spcPct val="110000"/>
                      </a:lnSpc>
                      <a:defRPr sz="1200" spc="20">
                        <a:solidFill>
                          <a:srgbClr val="808080">
                            <a:alpha val="70000"/>
                          </a:srgbClr>
                        </a:solidFill>
                        <a:latin typeface="Pretendard Light"/>
                        <a:ea typeface="Pretendard Light"/>
                        <a:cs typeface="Pretendard Light"/>
                        <a:sym typeface="Pretendard Light"/>
                      </a:defRPr>
                    </a:lvl1pPr>
                  </a:lstStyle>
                  <a:p>
                    <a:r>
                      <a:rPr lang="en-US" altLang="ko-KR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2023</a:t>
                    </a:r>
                  </a:p>
                </p:txBody>
              </p:sp>
              <p:sp>
                <p:nvSpPr>
                  <p:cNvPr id="50" name="TextBox 71">
                    <a:extLst>
                      <a:ext uri="{FF2B5EF4-FFF2-40B4-BE49-F238E27FC236}">
                        <a16:creationId xmlns:a16="http://schemas.microsoft.com/office/drawing/2014/main" id="{A495F6E3-EDF2-0536-CECB-72685052F45B}"/>
                      </a:ext>
                    </a:extLst>
                  </p:cNvPr>
                  <p:cNvSpPr txBox="1"/>
                  <p:nvPr/>
                </p:nvSpPr>
                <p:spPr>
                  <a:xfrm>
                    <a:off x="2162609" y="5144522"/>
                    <a:ext cx="374141" cy="189667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lnSpc>
                        <a:spcPct val="110000"/>
                      </a:lnSpc>
                      <a:defRPr sz="1200" spc="20">
                        <a:solidFill>
                          <a:srgbClr val="808080">
                            <a:alpha val="70000"/>
                          </a:srgbClr>
                        </a:solidFill>
                        <a:latin typeface="Pretendard Light"/>
                        <a:ea typeface="Pretendard Light"/>
                        <a:cs typeface="Pretendard Light"/>
                        <a:sym typeface="Pretendard Light"/>
                      </a:defRPr>
                    </a:lvl1pPr>
                  </a:lstStyle>
                  <a:p>
                    <a:r>
                      <a:rPr lang="en-US" altLang="ko-KR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2030</a:t>
                    </a:r>
                  </a:p>
                </p:txBody>
              </p:sp>
              <p:sp>
                <p:nvSpPr>
                  <p:cNvPr id="51" name="TextBox 71">
                    <a:extLst>
                      <a:ext uri="{FF2B5EF4-FFF2-40B4-BE49-F238E27FC236}">
                        <a16:creationId xmlns:a16="http://schemas.microsoft.com/office/drawing/2014/main" id="{87B958A7-B4CA-9F57-F166-9C9B6E65CA37}"/>
                      </a:ext>
                    </a:extLst>
                  </p:cNvPr>
                  <p:cNvSpPr txBox="1"/>
                  <p:nvPr/>
                </p:nvSpPr>
                <p:spPr>
                  <a:xfrm>
                    <a:off x="3417832" y="5144522"/>
                    <a:ext cx="437915" cy="189667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lnSpc>
                        <a:spcPct val="110000"/>
                      </a:lnSpc>
                      <a:defRPr sz="1200" spc="20">
                        <a:solidFill>
                          <a:srgbClr val="808080">
                            <a:alpha val="70000"/>
                          </a:srgbClr>
                        </a:solidFill>
                        <a:latin typeface="Pretendard Light"/>
                        <a:ea typeface="Pretendard Light"/>
                        <a:cs typeface="Pretendard Light"/>
                        <a:sym typeface="Pretendard Light"/>
                      </a:defRPr>
                    </a:lvl1pPr>
                  </a:lstStyle>
                  <a:p>
                    <a:r>
                      <a:rPr lang="en-US" altLang="ko-KR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2040</a:t>
                    </a:r>
                  </a:p>
                </p:txBody>
              </p:sp>
            </p:grpSp>
          </p:grp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8D7DC423-31D0-BE44-CFA0-3DB815ECF77F}"/>
                  </a:ext>
                </a:extLst>
              </p:cNvPr>
              <p:cNvSpPr/>
              <p:nvPr/>
            </p:nvSpPr>
            <p:spPr>
              <a:xfrm>
                <a:off x="1363114" y="3245335"/>
                <a:ext cx="1889702" cy="1777172"/>
              </a:xfrm>
              <a:custGeom>
                <a:avLst/>
                <a:gdLst>
                  <a:gd name="csX0" fmla="*/ 0 w 1828800"/>
                  <a:gd name="csY0" fmla="*/ 1335024 h 1335024"/>
                  <a:gd name="csX1" fmla="*/ 1048512 w 1828800"/>
                  <a:gd name="csY1" fmla="*/ 1048512 h 1335024"/>
                  <a:gd name="csX2" fmla="*/ 1828800 w 1828800"/>
                  <a:gd name="csY2" fmla="*/ 0 h 1335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828800" h="1335024">
                    <a:moveTo>
                      <a:pt x="0" y="1335024"/>
                    </a:moveTo>
                    <a:cubicBezTo>
                      <a:pt x="371856" y="1303020"/>
                      <a:pt x="743712" y="1271016"/>
                      <a:pt x="1048512" y="1048512"/>
                    </a:cubicBezTo>
                    <a:cubicBezTo>
                      <a:pt x="1353312" y="826008"/>
                      <a:pt x="1591056" y="413004"/>
                      <a:pt x="1828800" y="0"/>
                    </a:cubicBezTo>
                  </a:path>
                </a:pathLst>
              </a:custGeom>
              <a:noFill/>
              <a:ln w="38100">
                <a:solidFill>
                  <a:srgbClr val="AFE2E3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4C26D6-C4D4-ECDC-FA82-E042207E70E2}"/>
                  </a:ext>
                </a:extLst>
              </p:cNvPr>
              <p:cNvSpPr txBox="1"/>
              <p:nvPr/>
            </p:nvSpPr>
            <p:spPr>
              <a:xfrm>
                <a:off x="1064478" y="5737252"/>
                <a:ext cx="2873889" cy="364447"/>
              </a:xfrm>
              <a:prstGeom prst="rect">
                <a:avLst/>
              </a:prstGeom>
            </p:spPr>
            <p:txBody>
              <a:bodyPr vert="horz" wrap="square" lIns="0" tIns="0" rIns="0" bIns="0" rtlCol="0" anchor="ctr">
                <a:spAutoFit/>
              </a:bodyPr>
              <a:lstStyle>
                <a:lvl1pPr>
                  <a:lnSpc>
                    <a:spcPct val="100000"/>
                  </a:lnSpc>
                  <a:spcBef>
                    <a:spcPct val="0"/>
                  </a:spcBef>
                  <a:buNone/>
                  <a:def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엘리스 DX널리체 Bold" panose="020B0600000101010101" pitchFamily="50" charset="-127"/>
                    <a:ea typeface="엘리스 DX널리체 Bold" panose="020B0600000101010101" pitchFamily="50" charset="-127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/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[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글로벌 전기차 폐배터리 발생 전망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]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endParaRPr lang="en-US" altLang="ko-KR" sz="16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2ACE54-B330-117F-8A45-6087F787B176}"/>
                </a:ext>
              </a:extLst>
            </p:cNvPr>
            <p:cNvSpPr txBox="1"/>
            <p:nvPr/>
          </p:nvSpPr>
          <p:spPr>
            <a:xfrm>
              <a:off x="1212148" y="3228931"/>
              <a:ext cx="118603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Pretendard SemiBold"/>
                </a:rPr>
                <a:t>배터리 </a:t>
              </a:r>
              <a:endPara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Pretendard SemiBold"/>
              </a:endParaRPr>
            </a:p>
            <a:p>
              <a:pPr algn="ctr"/>
              <a:r>
                <a:rPr lang="ko-KR" alt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Pretendard SemiBold"/>
                </a:rPr>
                <a:t>수명 </a:t>
              </a:r>
              <a:r>
                <a:rPr lang="en-US" altLang="ko-KR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Pretendard SemiBold"/>
                </a:rPr>
                <a:t>10</a:t>
              </a:r>
              <a:r>
                <a:rPr lang="ko-KR" alt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Pretendard SemiBold"/>
                </a:rPr>
                <a:t>년 </a:t>
              </a:r>
              <a:endPara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Pretendard SemiBold"/>
              </a:endParaRPr>
            </a:p>
          </p:txBody>
        </p:sp>
      </p:grpSp>
      <p:grpSp>
        <p:nvGrpSpPr>
          <p:cNvPr id="517" name="그룹 516">
            <a:extLst>
              <a:ext uri="{FF2B5EF4-FFF2-40B4-BE49-F238E27FC236}">
                <a16:creationId xmlns:a16="http://schemas.microsoft.com/office/drawing/2014/main" id="{631C0830-1E8F-5A0C-3B2B-654316293D8A}"/>
              </a:ext>
            </a:extLst>
          </p:cNvPr>
          <p:cNvGrpSpPr/>
          <p:nvPr/>
        </p:nvGrpSpPr>
        <p:grpSpPr>
          <a:xfrm>
            <a:off x="8037271" y="1364850"/>
            <a:ext cx="4031287" cy="512102"/>
            <a:chOff x="396240" y="1364850"/>
            <a:chExt cx="4433654" cy="512102"/>
          </a:xfrm>
        </p:grpSpPr>
        <p:grpSp>
          <p:nvGrpSpPr>
            <p:cNvPr id="519" name="그룹 518">
              <a:extLst>
                <a:ext uri="{FF2B5EF4-FFF2-40B4-BE49-F238E27FC236}">
                  <a16:creationId xmlns:a16="http://schemas.microsoft.com/office/drawing/2014/main" id="{B98485ED-F130-33D8-887C-A239B9CBCDEB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521" name="사각형: 둥근 모서리 41">
                <a:extLst>
                  <a:ext uri="{FF2B5EF4-FFF2-40B4-BE49-F238E27FC236}">
                    <a16:creationId xmlns:a16="http://schemas.microsoft.com/office/drawing/2014/main" id="{EA388EAE-ED4C-4CF3-CD71-6FD529AE861A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524" name="직사각형">
                  <a:extLst>
                    <a:ext uri="{FF2B5EF4-FFF2-40B4-BE49-F238E27FC236}">
                      <a16:creationId xmlns:a16="http://schemas.microsoft.com/office/drawing/2014/main" id="{F54597F8-0B60-30AE-8C2B-6162CF277FC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525" name="2023년 글로벌 전기차 1406.1만대 판매…">
                  <a:extLst>
                    <a:ext uri="{FF2B5EF4-FFF2-40B4-BE49-F238E27FC236}">
                      <a16:creationId xmlns:a16="http://schemas.microsoft.com/office/drawing/2014/main" id="{091E623B-923F-337C-D5EE-68BE4F10C4BC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522" name="직선 연결선 43">
                <a:extLst>
                  <a:ext uri="{FF2B5EF4-FFF2-40B4-BE49-F238E27FC236}">
                    <a16:creationId xmlns:a16="http://schemas.microsoft.com/office/drawing/2014/main" id="{3EAD14BF-AB54-B7E4-2B34-FC8676AD80B3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523" name="직선 연결선 44">
                <a:extLst>
                  <a:ext uri="{FF2B5EF4-FFF2-40B4-BE49-F238E27FC236}">
                    <a16:creationId xmlns:a16="http://schemas.microsoft.com/office/drawing/2014/main" id="{DF34309F-4E7C-A697-1168-0DC1632F6416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520" name="양극재 배터리 수요">
              <a:extLst>
                <a:ext uri="{FF2B5EF4-FFF2-40B4-BE49-F238E27FC236}">
                  <a16:creationId xmlns:a16="http://schemas.microsoft.com/office/drawing/2014/main" id="{A815098F-413C-EAFE-CCB0-1F3B3DF8C56C}"/>
                </a:ext>
              </a:extLst>
            </p:cNvPr>
            <p:cNvSpPr txBox="1"/>
            <p:nvPr/>
          </p:nvSpPr>
          <p:spPr>
            <a:xfrm>
              <a:off x="443771" y="1418711"/>
              <a:ext cx="434940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ko-KR" sz="2000" dirty="0"/>
                <a:t>시장 개화</a:t>
              </a:r>
              <a:r>
                <a:rPr lang="en-US" altLang="ko-KR" sz="2000" dirty="0"/>
                <a:t> </a:t>
              </a:r>
              <a:r>
                <a:rPr lang="ko-KR" altLang="ko-KR" sz="2000" dirty="0"/>
                <a:t>전 재료 및 공정 확보 필요</a:t>
              </a:r>
              <a:endParaRPr lang="ko-KR" altLang="en-US" sz="2000" dirty="0"/>
            </a:p>
          </p:txBody>
        </p:sp>
      </p:grpSp>
      <p:grpSp>
        <p:nvGrpSpPr>
          <p:cNvPr id="526" name="그룹 525">
            <a:extLst>
              <a:ext uri="{FF2B5EF4-FFF2-40B4-BE49-F238E27FC236}">
                <a16:creationId xmlns:a16="http://schemas.microsoft.com/office/drawing/2014/main" id="{5F2DE320-22F4-EA0C-2B4B-CA9DD4E372C9}"/>
              </a:ext>
            </a:extLst>
          </p:cNvPr>
          <p:cNvGrpSpPr/>
          <p:nvPr/>
        </p:nvGrpSpPr>
        <p:grpSpPr>
          <a:xfrm>
            <a:off x="8080488" y="3271680"/>
            <a:ext cx="3996799" cy="2625497"/>
            <a:chOff x="8070658" y="2954476"/>
            <a:chExt cx="3996799" cy="2625497"/>
          </a:xfrm>
        </p:grpSpPr>
        <p:sp>
          <p:nvSpPr>
            <p:cNvPr id="527" name="양극재 배터리 수요">
              <a:extLst>
                <a:ext uri="{FF2B5EF4-FFF2-40B4-BE49-F238E27FC236}">
                  <a16:creationId xmlns:a16="http://schemas.microsoft.com/office/drawing/2014/main" id="{09736D63-43A2-966D-1A3A-40F12DB91EAE}"/>
                </a:ext>
              </a:extLst>
            </p:cNvPr>
            <p:cNvSpPr txBox="1"/>
            <p:nvPr/>
          </p:nvSpPr>
          <p:spPr>
            <a:xfrm>
              <a:off x="8170790" y="2954476"/>
              <a:ext cx="3896667" cy="18858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“Historically, it typically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takes 10 to 20 years to move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a material from initial discovery to market.” </a:t>
              </a: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9C39A981-766A-BCE9-1EAD-A5B8A9BE73C6}"/>
                </a:ext>
              </a:extLst>
            </p:cNvPr>
            <p:cNvSpPr txBox="1"/>
            <p:nvPr/>
          </p:nvSpPr>
          <p:spPr>
            <a:xfrm>
              <a:off x="8070658" y="4933642"/>
              <a:ext cx="398349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i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Pretendard SemiBold"/>
                </a:rPr>
                <a:t>White House Office of Science and Technology Policy</a:t>
              </a:r>
            </a:p>
          </p:txBody>
        </p:sp>
      </p:grpSp>
      <p:pic>
        <p:nvPicPr>
          <p:cNvPr id="529" name="그림 528">
            <a:extLst>
              <a:ext uri="{FF2B5EF4-FFF2-40B4-BE49-F238E27FC236}">
                <a16:creationId xmlns:a16="http://schemas.microsoft.com/office/drawing/2014/main" id="{F8BEC480-0637-05DF-E452-FE642BB72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7330" y="2176117"/>
            <a:ext cx="2285789" cy="1085122"/>
          </a:xfrm>
          <a:prstGeom prst="rect">
            <a:avLst/>
          </a:prstGeom>
        </p:spPr>
      </p:pic>
      <p:grpSp>
        <p:nvGrpSpPr>
          <p:cNvPr id="530" name="그룹 529">
            <a:extLst>
              <a:ext uri="{FF2B5EF4-FFF2-40B4-BE49-F238E27FC236}">
                <a16:creationId xmlns:a16="http://schemas.microsoft.com/office/drawing/2014/main" id="{EB23E472-BABF-BEA7-DAD2-57DB246B133A}"/>
              </a:ext>
            </a:extLst>
          </p:cNvPr>
          <p:cNvGrpSpPr/>
          <p:nvPr/>
        </p:nvGrpSpPr>
        <p:grpSpPr>
          <a:xfrm>
            <a:off x="4081169" y="1364850"/>
            <a:ext cx="3851029" cy="512102"/>
            <a:chOff x="396240" y="1364850"/>
            <a:chExt cx="4433654" cy="512102"/>
          </a:xfrm>
        </p:grpSpPr>
        <p:grpSp>
          <p:nvGrpSpPr>
            <p:cNvPr id="531" name="그룹 530">
              <a:extLst>
                <a:ext uri="{FF2B5EF4-FFF2-40B4-BE49-F238E27FC236}">
                  <a16:creationId xmlns:a16="http://schemas.microsoft.com/office/drawing/2014/main" id="{35BE93C4-EE9F-6F52-150D-A38F04ACCF0D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533" name="사각형: 둥근 모서리 41">
                <a:extLst>
                  <a:ext uri="{FF2B5EF4-FFF2-40B4-BE49-F238E27FC236}">
                    <a16:creationId xmlns:a16="http://schemas.microsoft.com/office/drawing/2014/main" id="{9C99840E-A461-7638-40A8-7DF9FF7BB206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536" name="직사각형">
                  <a:extLst>
                    <a:ext uri="{FF2B5EF4-FFF2-40B4-BE49-F238E27FC236}">
                      <a16:creationId xmlns:a16="http://schemas.microsoft.com/office/drawing/2014/main" id="{A5E96207-8C7E-E869-B2AE-DF940B59EB7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537" name="2023년 글로벌 전기차 1406.1만대 판매…">
                  <a:extLst>
                    <a:ext uri="{FF2B5EF4-FFF2-40B4-BE49-F238E27FC236}">
                      <a16:creationId xmlns:a16="http://schemas.microsoft.com/office/drawing/2014/main" id="{7C09CAD8-9648-8F70-A272-37584D66438E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534" name="직선 연결선 43">
                <a:extLst>
                  <a:ext uri="{FF2B5EF4-FFF2-40B4-BE49-F238E27FC236}">
                    <a16:creationId xmlns:a16="http://schemas.microsoft.com/office/drawing/2014/main" id="{90BA8E6A-54E7-D5A3-D50A-3803BC22F944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535" name="직선 연결선 44">
                <a:extLst>
                  <a:ext uri="{FF2B5EF4-FFF2-40B4-BE49-F238E27FC236}">
                    <a16:creationId xmlns:a16="http://schemas.microsoft.com/office/drawing/2014/main" id="{E944D424-E379-BA57-2822-170C779F05F0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532" name="양극재 배터리 수요">
              <a:extLst>
                <a:ext uri="{FF2B5EF4-FFF2-40B4-BE49-F238E27FC236}">
                  <a16:creationId xmlns:a16="http://schemas.microsoft.com/office/drawing/2014/main" id="{4BCBAA0C-D5A3-4E6E-F400-61299966AB7F}"/>
                </a:ext>
              </a:extLst>
            </p:cNvPr>
            <p:cNvSpPr txBox="1"/>
            <p:nvPr/>
          </p:nvSpPr>
          <p:spPr>
            <a:xfrm>
              <a:off x="517210" y="1418711"/>
              <a:ext cx="4191713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2000" dirty="0"/>
                <a:t>ESS </a:t>
              </a:r>
              <a:r>
                <a:rPr lang="ko-KR" altLang="en-US" sz="2000" dirty="0"/>
                <a:t>시장의 고성장 전환</a:t>
              </a:r>
            </a:p>
          </p:txBody>
        </p:sp>
      </p:grpSp>
      <p:cxnSp>
        <p:nvCxnSpPr>
          <p:cNvPr id="538" name="직선 연결선 537">
            <a:extLst>
              <a:ext uri="{FF2B5EF4-FFF2-40B4-BE49-F238E27FC236}">
                <a16:creationId xmlns:a16="http://schemas.microsoft.com/office/drawing/2014/main" id="{D3468035-4D14-C91B-3206-545A0FF8635C}"/>
              </a:ext>
            </a:extLst>
          </p:cNvPr>
          <p:cNvCxnSpPr>
            <a:cxnSpLocks/>
          </p:cNvCxnSpPr>
          <p:nvPr/>
        </p:nvCxnSpPr>
        <p:spPr>
          <a:xfrm>
            <a:off x="3860536" y="2476637"/>
            <a:ext cx="0" cy="3744000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539" name="직선 연결선 538">
            <a:extLst>
              <a:ext uri="{FF2B5EF4-FFF2-40B4-BE49-F238E27FC236}">
                <a16:creationId xmlns:a16="http://schemas.microsoft.com/office/drawing/2014/main" id="{EE1702F0-3964-28F9-051E-F9A5CFDCBB4D}"/>
              </a:ext>
            </a:extLst>
          </p:cNvPr>
          <p:cNvCxnSpPr>
            <a:cxnSpLocks/>
          </p:cNvCxnSpPr>
          <p:nvPr/>
        </p:nvCxnSpPr>
        <p:spPr>
          <a:xfrm>
            <a:off x="8040352" y="2501171"/>
            <a:ext cx="0" cy="3744000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540" name="TextBox 539">
            <a:extLst>
              <a:ext uri="{FF2B5EF4-FFF2-40B4-BE49-F238E27FC236}">
                <a16:creationId xmlns:a16="http://schemas.microsoft.com/office/drawing/2014/main" id="{5DAF2E24-23C4-03C4-793B-7AD8A4FCC36C}"/>
              </a:ext>
            </a:extLst>
          </p:cNvPr>
          <p:cNvSpPr txBox="1"/>
          <p:nvPr/>
        </p:nvSpPr>
        <p:spPr>
          <a:xfrm>
            <a:off x="6609696" y="5453127"/>
            <a:ext cx="162955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0F1E1F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lvl1pPr>
          </a:lstStyle>
          <a:p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41" name="TextBox 71">
            <a:extLst>
              <a:ext uri="{FF2B5EF4-FFF2-40B4-BE49-F238E27FC236}">
                <a16:creationId xmlns:a16="http://schemas.microsoft.com/office/drawing/2014/main" id="{A9E8A7CE-CFB7-E4C8-41A6-29ED1805B718}"/>
              </a:ext>
            </a:extLst>
          </p:cNvPr>
          <p:cNvSpPr txBox="1"/>
          <p:nvPr/>
        </p:nvSpPr>
        <p:spPr>
          <a:xfrm rot="16200000">
            <a:off x="3430597" y="3731828"/>
            <a:ext cx="1820849" cy="221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에너지 용량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(GWh)</a:t>
            </a:r>
          </a:p>
        </p:txBody>
      </p:sp>
      <p:sp>
        <p:nvSpPr>
          <p:cNvPr id="542" name="원호 541">
            <a:extLst>
              <a:ext uri="{FF2B5EF4-FFF2-40B4-BE49-F238E27FC236}">
                <a16:creationId xmlns:a16="http://schemas.microsoft.com/office/drawing/2014/main" id="{F98D6B0F-D9B9-E030-B6A6-528DB40C005A}"/>
              </a:ext>
            </a:extLst>
          </p:cNvPr>
          <p:cNvSpPr/>
          <p:nvPr/>
        </p:nvSpPr>
        <p:spPr>
          <a:xfrm rot="14748667" flipH="1">
            <a:off x="4669951" y="1957232"/>
            <a:ext cx="1172193" cy="2974129"/>
          </a:xfrm>
          <a:prstGeom prst="arc">
            <a:avLst>
              <a:gd name="adj1" fmla="val 19338899"/>
              <a:gd name="adj2" fmla="val 4859095"/>
            </a:avLst>
          </a:prstGeom>
          <a:ln w="28575">
            <a:solidFill>
              <a:srgbClr val="03444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215" dirty="0"/>
          </a:p>
        </p:txBody>
      </p:sp>
      <p:grpSp>
        <p:nvGrpSpPr>
          <p:cNvPr id="543" name="그룹 542">
            <a:extLst>
              <a:ext uri="{FF2B5EF4-FFF2-40B4-BE49-F238E27FC236}">
                <a16:creationId xmlns:a16="http://schemas.microsoft.com/office/drawing/2014/main" id="{7D48B9BB-5B23-24DB-AC9C-3D7C36B36FBD}"/>
              </a:ext>
            </a:extLst>
          </p:cNvPr>
          <p:cNvGrpSpPr/>
          <p:nvPr/>
        </p:nvGrpSpPr>
        <p:grpSpPr>
          <a:xfrm>
            <a:off x="4510770" y="2455417"/>
            <a:ext cx="3149522" cy="2946245"/>
            <a:chOff x="574786" y="2676488"/>
            <a:chExt cx="5567377" cy="2946245"/>
          </a:xfrm>
        </p:grpSpPr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FB555F96-FBE3-A413-F843-508853BD642A}"/>
                </a:ext>
              </a:extLst>
            </p:cNvPr>
            <p:cNvGrpSpPr/>
            <p:nvPr/>
          </p:nvGrpSpPr>
          <p:grpSpPr>
            <a:xfrm>
              <a:off x="574786" y="2676488"/>
              <a:ext cx="5567377" cy="2946245"/>
              <a:chOff x="403757" y="2534248"/>
              <a:chExt cx="5567377" cy="2946245"/>
            </a:xfrm>
          </p:grpSpPr>
          <p:graphicFrame>
            <p:nvGraphicFramePr>
              <p:cNvPr id="546" name="차트 545">
                <a:extLst>
                  <a:ext uri="{FF2B5EF4-FFF2-40B4-BE49-F238E27FC236}">
                    <a16:creationId xmlns:a16="http://schemas.microsoft.com/office/drawing/2014/main" id="{5D69AD3F-DE21-95F0-1108-F109D5D0BA4C}"/>
                  </a:ext>
                </a:extLst>
              </p:cNvPr>
              <p:cNvGraphicFramePr/>
              <p:nvPr/>
            </p:nvGraphicFramePr>
            <p:xfrm>
              <a:off x="403757" y="2620373"/>
              <a:ext cx="5495392" cy="286012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cxnSp>
            <p:nvCxnSpPr>
              <p:cNvPr id="547" name="직선 연결선 546">
                <a:extLst>
                  <a:ext uri="{FF2B5EF4-FFF2-40B4-BE49-F238E27FC236}">
                    <a16:creationId xmlns:a16="http://schemas.microsoft.com/office/drawing/2014/main" id="{216B4F73-25BE-3977-3B0D-B167FA79A3F8}"/>
                  </a:ext>
                </a:extLst>
              </p:cNvPr>
              <p:cNvCxnSpPr/>
              <p:nvPr/>
            </p:nvCxnSpPr>
            <p:spPr>
              <a:xfrm flipV="1">
                <a:off x="1093476" y="2534248"/>
                <a:ext cx="0" cy="2556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직선 연결선 547">
                <a:extLst>
                  <a:ext uri="{FF2B5EF4-FFF2-40B4-BE49-F238E27FC236}">
                    <a16:creationId xmlns:a16="http://schemas.microsoft.com/office/drawing/2014/main" id="{B5B2DE01-207E-5831-59B4-2F34A0DA7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7660" y="5089626"/>
                <a:ext cx="4893474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9" name="그룹 548">
                <a:extLst>
                  <a:ext uri="{FF2B5EF4-FFF2-40B4-BE49-F238E27FC236}">
                    <a16:creationId xmlns:a16="http://schemas.microsoft.com/office/drawing/2014/main" id="{466EFD3D-3BFA-9CFA-4A11-47D16EB56EBB}"/>
                  </a:ext>
                </a:extLst>
              </p:cNvPr>
              <p:cNvGrpSpPr/>
              <p:nvPr/>
            </p:nvGrpSpPr>
            <p:grpSpPr>
              <a:xfrm>
                <a:off x="1488697" y="5125135"/>
                <a:ext cx="4220271" cy="189667"/>
                <a:chOff x="-1403304" y="5161423"/>
                <a:chExt cx="4220271" cy="189667"/>
              </a:xfrm>
            </p:grpSpPr>
            <p:sp>
              <p:nvSpPr>
                <p:cNvPr id="550" name="TextBox 71">
                  <a:extLst>
                    <a:ext uri="{FF2B5EF4-FFF2-40B4-BE49-F238E27FC236}">
                      <a16:creationId xmlns:a16="http://schemas.microsoft.com/office/drawing/2014/main" id="{DE364A60-A9CC-364C-68E6-F0B206EB1773}"/>
                    </a:ext>
                  </a:extLst>
                </p:cNvPr>
                <p:cNvSpPr txBox="1"/>
                <p:nvPr/>
              </p:nvSpPr>
              <p:spPr>
                <a:xfrm>
                  <a:off x="-1403304" y="5161423"/>
                  <a:ext cx="383758" cy="1896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r>
                    <a:rPr lang="en-US" altLang="ko-KR" b="1" dirty="0">
                      <a:solidFill>
                        <a:srgbClr val="034443"/>
                      </a:solidFill>
                    </a:rPr>
                    <a:t>2024</a:t>
                  </a:r>
                </a:p>
              </p:txBody>
            </p:sp>
            <p:sp>
              <p:nvSpPr>
                <p:cNvPr id="551" name="TextBox 71">
                  <a:extLst>
                    <a:ext uri="{FF2B5EF4-FFF2-40B4-BE49-F238E27FC236}">
                      <a16:creationId xmlns:a16="http://schemas.microsoft.com/office/drawing/2014/main" id="{A1C35CB3-5D87-7166-7FB5-CFEDCE75AFF8}"/>
                    </a:ext>
                  </a:extLst>
                </p:cNvPr>
                <p:cNvSpPr txBox="1"/>
                <p:nvPr/>
              </p:nvSpPr>
              <p:spPr>
                <a:xfrm>
                  <a:off x="-430338" y="5161423"/>
                  <a:ext cx="378950" cy="1896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r>
                    <a:rPr lang="en-US" altLang="ko-KR" b="1" dirty="0">
                      <a:solidFill>
                        <a:srgbClr val="034443"/>
                      </a:solidFill>
                    </a:rPr>
                    <a:t>2025</a:t>
                  </a:r>
                </a:p>
              </p:txBody>
            </p:sp>
            <p:sp>
              <p:nvSpPr>
                <p:cNvPr id="552" name="TextBox 71">
                  <a:extLst>
                    <a:ext uri="{FF2B5EF4-FFF2-40B4-BE49-F238E27FC236}">
                      <a16:creationId xmlns:a16="http://schemas.microsoft.com/office/drawing/2014/main" id="{0AA5FDBE-DDB4-A99A-EE02-28800057C0EB}"/>
                    </a:ext>
                  </a:extLst>
                </p:cNvPr>
                <p:cNvSpPr txBox="1"/>
                <p:nvPr/>
              </p:nvSpPr>
              <p:spPr>
                <a:xfrm>
                  <a:off x="517550" y="5161423"/>
                  <a:ext cx="382156" cy="1896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r>
                    <a:rPr lang="en-US" altLang="ko-KR" b="1" dirty="0">
                      <a:solidFill>
                        <a:srgbClr val="034443"/>
                      </a:solidFill>
                    </a:rPr>
                    <a:t>2026</a:t>
                  </a:r>
                </a:p>
              </p:txBody>
            </p:sp>
            <p:sp>
              <p:nvSpPr>
                <p:cNvPr id="553" name="TextBox 71">
                  <a:extLst>
                    <a:ext uri="{FF2B5EF4-FFF2-40B4-BE49-F238E27FC236}">
                      <a16:creationId xmlns:a16="http://schemas.microsoft.com/office/drawing/2014/main" id="{899BD8A5-88AC-BA94-3A1E-957ACFCE6D86}"/>
                    </a:ext>
                  </a:extLst>
                </p:cNvPr>
                <p:cNvSpPr txBox="1"/>
                <p:nvPr/>
              </p:nvSpPr>
              <p:spPr>
                <a:xfrm>
                  <a:off x="1563666" y="5161423"/>
                  <a:ext cx="372537" cy="1896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r>
                    <a:rPr lang="en-US" altLang="ko-KR" b="1" dirty="0">
                      <a:solidFill>
                        <a:srgbClr val="034443"/>
                      </a:solidFill>
                    </a:rPr>
                    <a:t>2027</a:t>
                  </a:r>
                </a:p>
              </p:txBody>
            </p:sp>
            <p:sp>
              <p:nvSpPr>
                <p:cNvPr id="554" name="TextBox 71">
                  <a:extLst>
                    <a:ext uri="{FF2B5EF4-FFF2-40B4-BE49-F238E27FC236}">
                      <a16:creationId xmlns:a16="http://schemas.microsoft.com/office/drawing/2014/main" id="{8F6A8E82-C303-4AB3-1CAA-12939B2759CF}"/>
                    </a:ext>
                  </a:extLst>
                </p:cNvPr>
                <p:cNvSpPr txBox="1"/>
                <p:nvPr/>
              </p:nvSpPr>
              <p:spPr>
                <a:xfrm>
                  <a:off x="2434811" y="5161423"/>
                  <a:ext cx="382156" cy="1896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110000"/>
                    </a:lnSpc>
                    <a:defRPr sz="1200" spc="20">
                      <a:solidFill>
                        <a:srgbClr val="808080">
                          <a:alpha val="70000"/>
                        </a:srgbClr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lvl1pPr>
                </a:lstStyle>
                <a:p>
                  <a:r>
                    <a:rPr lang="en-US" altLang="ko-KR" b="1" dirty="0">
                      <a:solidFill>
                        <a:srgbClr val="034443"/>
                      </a:solidFill>
                    </a:rPr>
                    <a:t>2028</a:t>
                  </a:r>
                </a:p>
              </p:txBody>
            </p:sp>
          </p:grpSp>
        </p:grpSp>
        <p:sp>
          <p:nvSpPr>
            <p:cNvPr id="545" name="양극재 배터리 수요">
              <a:extLst>
                <a:ext uri="{FF2B5EF4-FFF2-40B4-BE49-F238E27FC236}">
                  <a16:creationId xmlns:a16="http://schemas.microsoft.com/office/drawing/2014/main" id="{23DA44B8-7C88-5FAA-BDD7-7193F1493860}"/>
                </a:ext>
              </a:extLst>
            </p:cNvPr>
            <p:cNvSpPr txBox="1"/>
            <p:nvPr/>
          </p:nvSpPr>
          <p:spPr>
            <a:xfrm>
              <a:off x="1248690" y="3096515"/>
              <a:ext cx="2984096" cy="5847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dirty="0">
                  <a:solidFill>
                    <a:srgbClr val="034443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ESS </a:t>
              </a:r>
              <a:r>
                <a:rPr lang="ko-KR" altLang="en-US" dirty="0">
                  <a:solidFill>
                    <a:srgbClr val="034443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시장 </a:t>
              </a:r>
              <a:endParaRPr lang="en-US" altLang="ko-KR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r>
                <a:rPr lang="ko-KR" altLang="en-US" dirty="0">
                  <a:solidFill>
                    <a:srgbClr val="034443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급격한 성장</a:t>
              </a:r>
            </a:p>
          </p:txBody>
        </p:sp>
      </p:grpSp>
      <p:sp>
        <p:nvSpPr>
          <p:cNvPr id="555" name="양극재 배터리 수요">
            <a:extLst>
              <a:ext uri="{FF2B5EF4-FFF2-40B4-BE49-F238E27FC236}">
                <a16:creationId xmlns:a16="http://schemas.microsoft.com/office/drawing/2014/main" id="{E7309A7A-7BD1-4403-9021-8F038167ACF6}"/>
              </a:ext>
            </a:extLst>
          </p:cNvPr>
          <p:cNvSpPr txBox="1"/>
          <p:nvPr/>
        </p:nvSpPr>
        <p:spPr>
          <a:xfrm>
            <a:off x="6228713" y="2616351"/>
            <a:ext cx="168813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1600">
                <a:solidFill>
                  <a:srgbClr val="0F1E1F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r>
              <a:rPr lang="en-US" altLang="ko-KR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CAGR: 31.6%</a:t>
            </a:r>
            <a:endParaRPr lang="ko-KR" altLang="en-US" dirty="0">
              <a:solidFill>
                <a:srgbClr val="03444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3431405A-3850-CF8A-5FBF-4B390EB9F67D}"/>
              </a:ext>
            </a:extLst>
          </p:cNvPr>
          <p:cNvSpPr txBox="1"/>
          <p:nvPr/>
        </p:nvSpPr>
        <p:spPr>
          <a:xfrm>
            <a:off x="5018121" y="5337767"/>
            <a:ext cx="2768288" cy="3268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엘리스 DX널리체 Bold" panose="020B0600000101010101" pitchFamily="50" charset="-127"/>
                <a:ea typeface="엘리스 DX널리체 Bold" panose="020B0600000101010101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북미 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ESS</a:t>
            </a: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시장 성장 전망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16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95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2902-4423-3EB5-C4CB-93D4093D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그래픽 64">
            <a:extLst>
              <a:ext uri="{FF2B5EF4-FFF2-40B4-BE49-F238E27FC236}">
                <a16:creationId xmlns:a16="http://schemas.microsoft.com/office/drawing/2014/main" id="{FF10DEB2-99E8-F73A-4615-F96328D0E1F9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224" name="자유형: 도형 76">
              <a:extLst>
                <a:ext uri="{FF2B5EF4-FFF2-40B4-BE49-F238E27FC236}">
                  <a16:creationId xmlns:a16="http://schemas.microsoft.com/office/drawing/2014/main" id="{DE211A96-E624-36D5-5B7B-BA56F40060F1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5" name="자유형: 도형 77">
              <a:extLst>
                <a:ext uri="{FF2B5EF4-FFF2-40B4-BE49-F238E27FC236}">
                  <a16:creationId xmlns:a16="http://schemas.microsoft.com/office/drawing/2014/main" id="{7E1C61FD-225A-DEA8-BD1D-79E741A5DA1B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6" name="자유형: 도형 78">
              <a:extLst>
                <a:ext uri="{FF2B5EF4-FFF2-40B4-BE49-F238E27FC236}">
                  <a16:creationId xmlns:a16="http://schemas.microsoft.com/office/drawing/2014/main" id="{4D2CA7B9-8AB8-CD40-A189-BCEA3265E95E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7" name="자유형: 도형 79">
              <a:extLst>
                <a:ext uri="{FF2B5EF4-FFF2-40B4-BE49-F238E27FC236}">
                  <a16:creationId xmlns:a16="http://schemas.microsoft.com/office/drawing/2014/main" id="{88DACD2C-4ADC-E452-5A85-714D9F87AAB2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8" name="자유형: 도형 80">
              <a:extLst>
                <a:ext uri="{FF2B5EF4-FFF2-40B4-BE49-F238E27FC236}">
                  <a16:creationId xmlns:a16="http://schemas.microsoft.com/office/drawing/2014/main" id="{2FE11FAB-798A-4AA6-7A70-BBAD1C841C2C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9" name="자유형: 도형 81">
              <a:extLst>
                <a:ext uri="{FF2B5EF4-FFF2-40B4-BE49-F238E27FC236}">
                  <a16:creationId xmlns:a16="http://schemas.microsoft.com/office/drawing/2014/main" id="{83945EDE-7173-DE34-0DA0-6B53DD427B3D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30" name="자유형: 도형 82">
              <a:extLst>
                <a:ext uri="{FF2B5EF4-FFF2-40B4-BE49-F238E27FC236}">
                  <a16:creationId xmlns:a16="http://schemas.microsoft.com/office/drawing/2014/main" id="{45837082-61B9-274B-B0E7-1BED13E130AB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232" name="직사각형 66">
            <a:extLst>
              <a:ext uri="{FF2B5EF4-FFF2-40B4-BE49-F238E27FC236}">
                <a16:creationId xmlns:a16="http://schemas.microsoft.com/office/drawing/2014/main" id="{D6B0F400-C17B-D61F-10EE-4EA5248845B5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3" name="직사각형 67">
            <a:extLst>
              <a:ext uri="{FF2B5EF4-FFF2-40B4-BE49-F238E27FC236}">
                <a16:creationId xmlns:a16="http://schemas.microsoft.com/office/drawing/2014/main" id="{DE40A38A-04B1-8A54-B52E-43A4380996BA}"/>
              </a:ext>
            </a:extLst>
          </p:cNvPr>
          <p:cNvSpPr/>
          <p:nvPr/>
        </p:nvSpPr>
        <p:spPr>
          <a:xfrm>
            <a:off x="396" y="1308099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직선 연결선 68">
            <a:extLst>
              <a:ext uri="{FF2B5EF4-FFF2-40B4-BE49-F238E27FC236}">
                <a16:creationId xmlns:a16="http://schemas.microsoft.com/office/drawing/2014/main" id="{0458A771-27EA-2561-C5A2-3F4846542DA7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TextBox 71">
            <a:extLst>
              <a:ext uri="{FF2B5EF4-FFF2-40B4-BE49-F238E27FC236}">
                <a16:creationId xmlns:a16="http://schemas.microsoft.com/office/drawing/2014/main" id="{00D55523-A0D8-6418-B055-6C2684A7225A}"/>
              </a:ext>
            </a:extLst>
          </p:cNvPr>
          <p:cNvSpPr txBox="1"/>
          <p:nvPr/>
        </p:nvSpPr>
        <p:spPr>
          <a:xfrm>
            <a:off x="446746" y="616129"/>
            <a:ext cx="84318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Background</a:t>
            </a:r>
          </a:p>
        </p:txBody>
      </p:sp>
      <p:sp>
        <p:nvSpPr>
          <p:cNvPr id="236" name="TextBox 2">
            <a:extLst>
              <a:ext uri="{FF2B5EF4-FFF2-40B4-BE49-F238E27FC236}">
                <a16:creationId xmlns:a16="http://schemas.microsoft.com/office/drawing/2014/main" id="{F1206CC4-7926-8511-4169-E0EA35063261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dirty="0"/>
              <a:t>We promise tomorrow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E4217AD1-13FE-B199-F56F-B7DB56ADE69E}"/>
              </a:ext>
            </a:extLst>
          </p:cNvPr>
          <p:cNvSpPr txBox="1"/>
          <p:nvPr/>
        </p:nvSpPr>
        <p:spPr>
          <a:xfrm>
            <a:off x="403759" y="805796"/>
            <a:ext cx="1919115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비즈니스 모델</a:t>
            </a:r>
          </a:p>
        </p:txBody>
      </p:sp>
      <p:sp>
        <p:nvSpPr>
          <p:cNvPr id="193" name="슬라이드 번호 개체 틀 4">
            <a:extLst>
              <a:ext uri="{FF2B5EF4-FFF2-40B4-BE49-F238E27FC236}">
                <a16:creationId xmlns:a16="http://schemas.microsoft.com/office/drawing/2014/main" id="{6898B9B6-0AFB-449D-77F9-85E75F077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608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3086CA6-2B9D-7AE6-F820-7566323EEFE6}"/>
              </a:ext>
            </a:extLst>
          </p:cNvPr>
          <p:cNvGrpSpPr/>
          <p:nvPr/>
        </p:nvGrpSpPr>
        <p:grpSpPr>
          <a:xfrm>
            <a:off x="4318939" y="1364850"/>
            <a:ext cx="3651359" cy="512102"/>
            <a:chOff x="396240" y="1364850"/>
            <a:chExt cx="4433654" cy="512102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249D53-8281-BB3F-F8FC-0E89FF610851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21" name="사각형: 둥근 모서리 41">
                <a:extLst>
                  <a:ext uri="{FF2B5EF4-FFF2-40B4-BE49-F238E27FC236}">
                    <a16:creationId xmlns:a16="http://schemas.microsoft.com/office/drawing/2014/main" id="{2712DE9D-7A7B-FC60-D902-FE3FCF738AF8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24" name="직사각형">
                  <a:extLst>
                    <a:ext uri="{FF2B5EF4-FFF2-40B4-BE49-F238E27FC236}">
                      <a16:creationId xmlns:a16="http://schemas.microsoft.com/office/drawing/2014/main" id="{5CA7C953-CBBD-422B-144F-FD0F882939F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25" name="2023년 글로벌 전기차 1406.1만대 판매…">
                  <a:extLst>
                    <a:ext uri="{FF2B5EF4-FFF2-40B4-BE49-F238E27FC236}">
                      <a16:creationId xmlns:a16="http://schemas.microsoft.com/office/drawing/2014/main" id="{47533433-443E-C97A-E1D3-00C7C0D4B2B9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22" name="직선 연결선 43">
                <a:extLst>
                  <a:ext uri="{FF2B5EF4-FFF2-40B4-BE49-F238E27FC236}">
                    <a16:creationId xmlns:a16="http://schemas.microsoft.com/office/drawing/2014/main" id="{7A7F5260-B17A-D802-8D24-467AB9D916D0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23" name="직선 연결선 44">
                <a:extLst>
                  <a:ext uri="{FF2B5EF4-FFF2-40B4-BE49-F238E27FC236}">
                    <a16:creationId xmlns:a16="http://schemas.microsoft.com/office/drawing/2014/main" id="{CA6027F3-3E5B-2E3F-0B4F-A38A5A67D229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20" name="양극재 배터리 수요">
              <a:extLst>
                <a:ext uri="{FF2B5EF4-FFF2-40B4-BE49-F238E27FC236}">
                  <a16:creationId xmlns:a16="http://schemas.microsoft.com/office/drawing/2014/main" id="{665BEFBB-746C-3016-F561-A40F60DA6D0F}"/>
                </a:ext>
              </a:extLst>
            </p:cNvPr>
            <p:cNvSpPr txBox="1"/>
            <p:nvPr/>
          </p:nvSpPr>
          <p:spPr>
            <a:xfrm>
              <a:off x="517210" y="1418711"/>
              <a:ext cx="4191713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도시광산 구축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96B5080-1609-F18E-ECBD-2888E9A2ABF2}"/>
              </a:ext>
            </a:extLst>
          </p:cNvPr>
          <p:cNvGrpSpPr/>
          <p:nvPr/>
        </p:nvGrpSpPr>
        <p:grpSpPr>
          <a:xfrm>
            <a:off x="8195390" y="1362714"/>
            <a:ext cx="3822271" cy="512102"/>
            <a:chOff x="396240" y="1364850"/>
            <a:chExt cx="4433654" cy="512102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85161BC-5BB3-98BF-B480-3FB3AE22D63B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29" name="사각형: 둥근 모서리 41">
                <a:extLst>
                  <a:ext uri="{FF2B5EF4-FFF2-40B4-BE49-F238E27FC236}">
                    <a16:creationId xmlns:a16="http://schemas.microsoft.com/office/drawing/2014/main" id="{89F5092A-B4BB-DBB5-B12C-6D8FABC1D950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32" name="직사각형">
                  <a:extLst>
                    <a:ext uri="{FF2B5EF4-FFF2-40B4-BE49-F238E27FC236}">
                      <a16:creationId xmlns:a16="http://schemas.microsoft.com/office/drawing/2014/main" id="{2D5FFD89-F7D7-9AB0-1C9D-AE49653DF0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33" name="2023년 글로벌 전기차 1406.1만대 판매…">
                  <a:extLst>
                    <a:ext uri="{FF2B5EF4-FFF2-40B4-BE49-F238E27FC236}">
                      <a16:creationId xmlns:a16="http://schemas.microsoft.com/office/drawing/2014/main" id="{4DA5E5D8-BA64-BCED-5DFE-4833EC1C47BD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30" name="직선 연결선 43">
                <a:extLst>
                  <a:ext uri="{FF2B5EF4-FFF2-40B4-BE49-F238E27FC236}">
                    <a16:creationId xmlns:a16="http://schemas.microsoft.com/office/drawing/2014/main" id="{1CB4F764-D391-CD83-5FBF-D1324EF36852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31" name="직선 연결선 44">
                <a:extLst>
                  <a:ext uri="{FF2B5EF4-FFF2-40B4-BE49-F238E27FC236}">
                    <a16:creationId xmlns:a16="http://schemas.microsoft.com/office/drawing/2014/main" id="{70E2C671-62CD-7B8F-02E5-9B1A548FCFC5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28" name="양극재 배터리 수요">
              <a:extLst>
                <a:ext uri="{FF2B5EF4-FFF2-40B4-BE49-F238E27FC236}">
                  <a16:creationId xmlns:a16="http://schemas.microsoft.com/office/drawing/2014/main" id="{F29E2E05-9895-8A09-828A-A5DA2A83A16F}"/>
                </a:ext>
              </a:extLst>
            </p:cNvPr>
            <p:cNvSpPr txBox="1"/>
            <p:nvPr/>
          </p:nvSpPr>
          <p:spPr>
            <a:xfrm>
              <a:off x="517210" y="1418711"/>
              <a:ext cx="419171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新공급망 구축</a:t>
              </a:r>
            </a:p>
          </p:txBody>
        </p:sp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BD5F5EC-6EF6-D32E-D533-E46A00129D9C}"/>
              </a:ext>
            </a:extLst>
          </p:cNvPr>
          <p:cNvCxnSpPr>
            <a:cxnSpLocks/>
          </p:cNvCxnSpPr>
          <p:nvPr/>
        </p:nvCxnSpPr>
        <p:spPr>
          <a:xfrm>
            <a:off x="8040352" y="2254089"/>
            <a:ext cx="0" cy="3744000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928" name="TextBox 927">
            <a:extLst>
              <a:ext uri="{FF2B5EF4-FFF2-40B4-BE49-F238E27FC236}">
                <a16:creationId xmlns:a16="http://schemas.microsoft.com/office/drawing/2014/main" id="{4D725185-ECB4-DC72-7B08-D81CFB85D1FB}"/>
              </a:ext>
            </a:extLst>
          </p:cNvPr>
          <p:cNvSpPr txBox="1"/>
          <p:nvPr/>
        </p:nvSpPr>
        <p:spPr>
          <a:xfrm>
            <a:off x="6298200" y="5249927"/>
            <a:ext cx="162955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0F1E1F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lvl1pPr>
          </a:lstStyle>
          <a:p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5D039A06-E331-22A5-C754-D9D7D931D84B}"/>
              </a:ext>
            </a:extLst>
          </p:cNvPr>
          <p:cNvSpPr txBox="1"/>
          <p:nvPr/>
        </p:nvSpPr>
        <p:spPr>
          <a:xfrm>
            <a:off x="9249536" y="1911440"/>
            <a:ext cx="172011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0F1E1F"/>
                </a:solidFill>
                <a:latin typeface="Pretendard ExtraBold"/>
                <a:ea typeface="Pretendard ExtraBold"/>
                <a:cs typeface="Pretendard ExtraBold"/>
                <a:sym typeface="Pretendard ExtraBold"/>
              </a:defRPr>
            </a:lvl1pPr>
          </a:lstStyle>
          <a:p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Pretendard Medium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B46B268-4149-0B07-54B8-FAC66304B74D}"/>
              </a:ext>
            </a:extLst>
          </p:cNvPr>
          <p:cNvGrpSpPr/>
          <p:nvPr/>
        </p:nvGrpSpPr>
        <p:grpSpPr>
          <a:xfrm>
            <a:off x="442488" y="1354232"/>
            <a:ext cx="3651359" cy="512102"/>
            <a:chOff x="396240" y="1364850"/>
            <a:chExt cx="4433654" cy="512102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37DF71E-814E-CBA8-D186-3EE6AE3B7AEE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41" name="사각형: 둥근 모서리 41">
                <a:extLst>
                  <a:ext uri="{FF2B5EF4-FFF2-40B4-BE49-F238E27FC236}">
                    <a16:creationId xmlns:a16="http://schemas.microsoft.com/office/drawing/2014/main" id="{E309746D-8DE0-BCBD-BC0B-E02313D9A3C2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44" name="직사각형">
                  <a:extLst>
                    <a:ext uri="{FF2B5EF4-FFF2-40B4-BE49-F238E27FC236}">
                      <a16:creationId xmlns:a16="http://schemas.microsoft.com/office/drawing/2014/main" id="{D12C5244-7494-143B-7150-C077F403B6A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45" name="2023년 글로벌 전기차 1406.1만대 판매…">
                  <a:extLst>
                    <a:ext uri="{FF2B5EF4-FFF2-40B4-BE49-F238E27FC236}">
                      <a16:creationId xmlns:a16="http://schemas.microsoft.com/office/drawing/2014/main" id="{892EF53F-EE48-4886-3E01-C8EA03AB239F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42" name="직선 연결선 43">
                <a:extLst>
                  <a:ext uri="{FF2B5EF4-FFF2-40B4-BE49-F238E27FC236}">
                    <a16:creationId xmlns:a16="http://schemas.microsoft.com/office/drawing/2014/main" id="{2F346F17-9247-82C1-2705-3D8E937C7D89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43" name="직선 연결선 44">
                <a:extLst>
                  <a:ext uri="{FF2B5EF4-FFF2-40B4-BE49-F238E27FC236}">
                    <a16:creationId xmlns:a16="http://schemas.microsoft.com/office/drawing/2014/main" id="{E57056A8-EE63-F697-8380-A93B1E70BD2D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40" name="양극재 배터리 수요">
              <a:extLst>
                <a:ext uri="{FF2B5EF4-FFF2-40B4-BE49-F238E27FC236}">
                  <a16:creationId xmlns:a16="http://schemas.microsoft.com/office/drawing/2014/main" id="{4E8B750A-F1F6-7752-0EAB-1EB8E85F2F37}"/>
                </a:ext>
              </a:extLst>
            </p:cNvPr>
            <p:cNvSpPr txBox="1"/>
            <p:nvPr/>
          </p:nvSpPr>
          <p:spPr>
            <a:xfrm>
              <a:off x="517210" y="1418711"/>
              <a:ext cx="4191713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환경오염 저감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84F8AA8-3D92-1148-BFBC-834602CF68C8}"/>
              </a:ext>
            </a:extLst>
          </p:cNvPr>
          <p:cNvCxnSpPr>
            <a:cxnSpLocks/>
          </p:cNvCxnSpPr>
          <p:nvPr/>
        </p:nvCxnSpPr>
        <p:spPr>
          <a:xfrm>
            <a:off x="4173202" y="2254089"/>
            <a:ext cx="0" cy="3744000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pic>
        <p:nvPicPr>
          <p:cNvPr id="49" name="그래픽 48" descr="식물을 든 펼친 손 단색으로 채워진">
            <a:extLst>
              <a:ext uri="{FF2B5EF4-FFF2-40B4-BE49-F238E27FC236}">
                <a16:creationId xmlns:a16="http://schemas.microsoft.com/office/drawing/2014/main" id="{9D958D39-8D1E-ECA8-4E79-60C3C93F2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1188" y="2682424"/>
            <a:ext cx="2125331" cy="2125331"/>
          </a:xfrm>
          <a:prstGeom prst="rect">
            <a:avLst/>
          </a:prstGeom>
        </p:spPr>
      </p:pic>
      <p:pic>
        <p:nvPicPr>
          <p:cNvPr id="51" name="그래픽 50" descr="화살표 원 단색으로 채워진">
            <a:extLst>
              <a:ext uri="{FF2B5EF4-FFF2-40B4-BE49-F238E27FC236}">
                <a16:creationId xmlns:a16="http://schemas.microsoft.com/office/drawing/2014/main" id="{5D1D4EAA-64F8-A8F2-E3DE-C3B867DC2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4965" y="2782632"/>
            <a:ext cx="1924915" cy="1924915"/>
          </a:xfrm>
          <a:prstGeom prst="rect">
            <a:avLst/>
          </a:prstGeom>
        </p:spPr>
      </p:pic>
      <p:pic>
        <p:nvPicPr>
          <p:cNvPr id="53" name="그래픽 52" descr="크리스탈 단색으로 채워진">
            <a:extLst>
              <a:ext uri="{FF2B5EF4-FFF2-40B4-BE49-F238E27FC236}">
                <a16:creationId xmlns:a16="http://schemas.microsoft.com/office/drawing/2014/main" id="{B94BCDFB-2992-858A-87CD-5A540D322B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3703" y="2837764"/>
            <a:ext cx="1814651" cy="181465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2CE7E2F-8396-1CA1-1B60-27D72A5C2149}"/>
              </a:ext>
            </a:extLst>
          </p:cNvPr>
          <p:cNvSpPr txBox="1"/>
          <p:nvPr/>
        </p:nvSpPr>
        <p:spPr>
          <a:xfrm>
            <a:off x="4896456" y="4807755"/>
            <a:ext cx="2620783" cy="6961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엘리스 DX널리체 Bold" panose="020B0600000101010101" pitchFamily="50" charset="-127"/>
                <a:ea typeface="엘리스 DX널리체 Bold" panose="020B0600000101010101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폐자원으로부터 핵심 광물 확보로 배터리 </a:t>
            </a:r>
            <a:r>
              <a:rPr lang="ko-KR" altLang="en-US" sz="16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원재료 수요부족 해결</a:t>
            </a:r>
            <a:endParaRPr lang="en-US" altLang="ko-KR" sz="16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DF311D-017A-2487-2908-37C7756FACBC}"/>
              </a:ext>
            </a:extLst>
          </p:cNvPr>
          <p:cNvSpPr txBox="1"/>
          <p:nvPr/>
        </p:nvSpPr>
        <p:spPr>
          <a:xfrm>
            <a:off x="608995" y="4807755"/>
            <a:ext cx="3065252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유해물질 억제 및 온실가스 감축으로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환경 오염 저감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06" name="TextBox 905">
            <a:extLst>
              <a:ext uri="{FF2B5EF4-FFF2-40B4-BE49-F238E27FC236}">
                <a16:creationId xmlns:a16="http://schemas.microsoft.com/office/drawing/2014/main" id="{7F68CCD8-CDE2-AC47-83D3-4EF6C8B3C799}"/>
              </a:ext>
            </a:extLst>
          </p:cNvPr>
          <p:cNvSpPr txBox="1"/>
          <p:nvPr/>
        </p:nvSpPr>
        <p:spPr>
          <a:xfrm>
            <a:off x="8751064" y="4808268"/>
            <a:ext cx="2812717" cy="69512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엘리스 DX널리체 Bold" panose="020B0600000101010101" pitchFamily="50" charset="-127"/>
                <a:ea typeface="엘리스 DX널리체 Bold" panose="020B0600000101010101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제조 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재활용 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제조로 이어지는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재활용 기반 </a:t>
            </a:r>
            <a:r>
              <a:rPr lang="ko-KR" altLang="en-US" sz="1600" dirty="0"/>
              <a:t>新</a:t>
            </a:r>
            <a:r>
              <a:rPr lang="ko-KR" altLang="en-US" sz="16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공급망 구축</a:t>
            </a:r>
            <a:endParaRPr lang="en-US" altLang="ko-KR" sz="16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461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315</Words>
  <Application>Microsoft Office PowerPoint</Application>
  <PresentationFormat>와이드스크린</PresentationFormat>
  <Paragraphs>70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Arial</vt:lpstr>
      <vt:lpstr>Pretendard ExtraBold</vt:lpstr>
      <vt:lpstr>Pretendard Light</vt:lpstr>
      <vt:lpstr>Pretendard SemiBold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2026-08-13T08:23:15Z</dcterms:created>
  <dcterms:modified xsi:type="dcterms:W3CDTF">2026-08-13T08:24:20Z</dcterms:modified>
</cp:coreProperties>
</file>