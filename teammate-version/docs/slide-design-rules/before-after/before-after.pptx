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944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3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498D1-0A0B-4C83-A28F-99B669CDC908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7ECEC7-B05A-4753-8F2D-7F165B520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38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8BF8D-8F86-0184-BE36-E0F920A1B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8CFD4C-F1F6-FEB1-5394-0B46A07FC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271CD4-CF8C-94C4-99D0-C59BA47BD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E57026-1CF4-E3A4-5603-C8139650E1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1152427B-846B-4F71-945F-6017590F10DC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6541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EE932-EFC1-B587-3721-1C2ACD219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06A9EC-BB3B-3D0E-7732-BFC3B47F7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32AA62-FEDF-9477-34C6-5AD44C5D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4F782F-74E0-6CEB-7D2C-CF54544C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C791CA-060E-5084-65BA-E64DFA58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39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61DA2-CE0D-C7AC-F622-34449F48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F09367-D523-A5EC-05F4-05A4134C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A038D-D106-2F21-4371-5E0B93ABE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9C47E6-C40C-71E1-7470-72A3C8F10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37868E-5630-A66E-C0A9-90F7ACF9F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26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B668E-0E1B-8689-3596-EE9209DE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81B2E4-EBE1-13F2-3B5E-82E3320EC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19B4D-F3E3-EACB-B491-1E4E323FE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03AAD6-D951-4664-1966-C6E732AC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02B433-C418-556F-A4BE-F2C8A116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3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0343E-ECD1-C714-AA99-C6D1B3156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34AD54-E60C-B586-DB74-058379599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4ECE84-98CD-34AF-EC90-CD5287B2E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74C84-06CC-C15E-0042-B4B0C3B3E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F894E2-CAAE-5068-9A40-7E2EFBE7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C1FE28-AC6A-8349-B9E6-21EAC9F6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783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13033-892D-2C59-E487-1C4FA620C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A5C45B-A39D-D06D-EEF8-4E6F66AD9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716C97-39A8-861F-F48A-8F5B8C1F2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890521-0FF4-9466-BAD6-6327954A1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655361-0940-F048-FAC1-280E50576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CC1C1D-F68E-0DCA-B421-E74961A8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796F4B-2EBE-FED7-A3E3-A7B2153F3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4EFF3A-19E6-9C38-B16E-82A76EAA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82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CA4E8A-9812-2C2F-C330-9F7B91684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258B3F-613D-36BC-5270-0A9AF035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D3B58B-7524-ADAF-2968-513705A13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9ADC77-E8D8-4611-EA20-566DA65A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177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1B9F33-AA13-5842-1E17-1B40480B7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E175F03-138E-F47E-8364-3C44D79B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5D78CC-1781-F103-7DA8-10537BCA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EC7E8-FCFD-D258-D9E7-10B5F3790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75E359-52FC-A380-8AA9-57D5132DF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69F532-21B9-8BFB-6373-FA658841B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2D173E-9698-268E-D785-56F224C5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7555F5-63A5-5BAF-DA3F-23E81C59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4C74BC-BF5A-BA67-C7DC-C5D21F98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527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53ADC-8F8D-2F98-05A3-5A822F4A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B72B2E-2DE1-AF07-8F49-D37A39862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46CD0A-BFD5-96E4-62BA-C96BC7B7B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1B793B-A9FA-12F6-2486-2D5F95AB1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145971-D45C-BC5B-82B1-962BF6297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106E0A-08F8-5CDD-FF91-E08549D8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213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C63F5-FA82-CA0A-0A1E-8F7C389DF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AAA8FA-0821-A155-46DB-0C4D4947C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5AD077-3B40-6697-EBCC-64DC4769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1AA78C-5F2A-688E-C06C-9AF41178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4C006F-E5D0-8A15-541B-DCA12B31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57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B99F0B-92AA-0BFA-CDF8-F37F201ACC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E90971-59C3-AD7F-8735-3E4B238BE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F4AEEC-5E24-07CF-6A7A-A737ACBA5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E0892-2653-BF95-67FF-510D9ADE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E9C5EE-16B7-ED3A-BA46-A7068BAD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49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C9C1648-66E6-52CF-BE99-F5B9831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7B86AF-CA55-A880-5214-78C062B2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EEB17-259C-B557-A745-CFB18EC88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4383E-8EBF-49D6-A50C-C7D840017D4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A059A2-5285-C941-653C-26D64DCD5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ECA62F-469B-176D-C558-30B84AF9E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2C43E-4F00-4E31-9B33-875CD83C3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80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4472F-8DEB-C01A-BA96-207B55340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그래픽 64">
            <a:extLst>
              <a:ext uri="{FF2B5EF4-FFF2-40B4-BE49-F238E27FC236}">
                <a16:creationId xmlns:a16="http://schemas.microsoft.com/office/drawing/2014/main" id="{DA9649F3-867F-8D79-3435-E075E7AB6B62}"/>
              </a:ext>
            </a:extLst>
          </p:cNvPr>
          <p:cNvGrpSpPr/>
          <p:nvPr/>
        </p:nvGrpSpPr>
        <p:grpSpPr>
          <a:xfrm>
            <a:off x="442489" y="294939"/>
            <a:ext cx="1093353" cy="166691"/>
            <a:chOff x="0" y="0"/>
            <a:chExt cx="1093351" cy="166689"/>
          </a:xfrm>
        </p:grpSpPr>
        <p:sp>
          <p:nvSpPr>
            <p:cNvPr id="481" name="자유형: 도형 76">
              <a:extLst>
                <a:ext uri="{FF2B5EF4-FFF2-40B4-BE49-F238E27FC236}">
                  <a16:creationId xmlns:a16="http://schemas.microsoft.com/office/drawing/2014/main" id="{C69B4FF5-3A48-7293-75F1-2EA09CA75442}"/>
                </a:ext>
              </a:extLst>
            </p:cNvPr>
            <p:cNvSpPr/>
            <p:nvPr/>
          </p:nvSpPr>
          <p:spPr>
            <a:xfrm>
              <a:off x="357283" y="1"/>
              <a:ext cx="118583" cy="166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5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7" y="20921"/>
                  </a:cubicBezTo>
                  <a:cubicBezTo>
                    <a:pt x="12340" y="20944"/>
                    <a:pt x="13592" y="20745"/>
                    <a:pt x="14723" y="20341"/>
                  </a:cubicBezTo>
                  <a:cubicBezTo>
                    <a:pt x="15880" y="20004"/>
                    <a:pt x="16892" y="19454"/>
                    <a:pt x="17655" y="18748"/>
                  </a:cubicBezTo>
                  <a:cubicBezTo>
                    <a:pt x="18349" y="18096"/>
                    <a:pt x="18722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8"/>
                  </a:cubicBezTo>
                  <a:cubicBezTo>
                    <a:pt x="14505" y="12643"/>
                    <a:pt x="13123" y="12176"/>
                    <a:pt x="11320" y="11617"/>
                  </a:cubicBezTo>
                  <a:lnTo>
                    <a:pt x="10059" y="11232"/>
                  </a:lnTo>
                  <a:cubicBezTo>
                    <a:pt x="7594" y="10459"/>
                    <a:pt x="5707" y="9815"/>
                    <a:pt x="4400" y="9300"/>
                  </a:cubicBezTo>
                  <a:cubicBezTo>
                    <a:pt x="3241" y="8870"/>
                    <a:pt x="2208" y="8286"/>
                    <a:pt x="1357" y="7578"/>
                  </a:cubicBezTo>
                  <a:cubicBezTo>
                    <a:pt x="627" y="6938"/>
                    <a:pt x="239" y="6133"/>
                    <a:pt x="263" y="5307"/>
                  </a:cubicBezTo>
                  <a:cubicBezTo>
                    <a:pt x="246" y="4289"/>
                    <a:pt x="743" y="3301"/>
                    <a:pt x="1662" y="2522"/>
                  </a:cubicBezTo>
                  <a:cubicBezTo>
                    <a:pt x="2655" y="1688"/>
                    <a:pt x="3928" y="1047"/>
                    <a:pt x="5362" y="659"/>
                  </a:cubicBezTo>
                  <a:cubicBezTo>
                    <a:pt x="7168" y="214"/>
                    <a:pt x="9066" y="-9"/>
                    <a:pt x="10977" y="0"/>
                  </a:cubicBezTo>
                  <a:cubicBezTo>
                    <a:pt x="12985" y="-6"/>
                    <a:pt x="14966" y="336"/>
                    <a:pt x="16748" y="997"/>
                  </a:cubicBezTo>
                  <a:cubicBezTo>
                    <a:pt x="18421" y="1571"/>
                    <a:pt x="19783" y="2521"/>
                    <a:pt x="20626" y="3701"/>
                  </a:cubicBezTo>
                  <a:lnTo>
                    <a:pt x="20040" y="4216"/>
                  </a:lnTo>
                  <a:cubicBezTo>
                    <a:pt x="19250" y="3073"/>
                    <a:pt x="17949" y="2150"/>
                    <a:pt x="16343" y="1593"/>
                  </a:cubicBezTo>
                  <a:cubicBezTo>
                    <a:pt x="14719" y="976"/>
                    <a:pt x="12911" y="650"/>
                    <a:pt x="11072" y="643"/>
                  </a:cubicBezTo>
                  <a:cubicBezTo>
                    <a:pt x="9674" y="628"/>
                    <a:pt x="8287" y="814"/>
                    <a:pt x="6991" y="1189"/>
                  </a:cubicBezTo>
                  <a:cubicBezTo>
                    <a:pt x="5875" y="1500"/>
                    <a:pt x="4894" y="2017"/>
                    <a:pt x="4149" y="2686"/>
                  </a:cubicBezTo>
                  <a:cubicBezTo>
                    <a:pt x="3489" y="3287"/>
                    <a:pt x="3131" y="4030"/>
                    <a:pt x="3135" y="4794"/>
                  </a:cubicBezTo>
                  <a:cubicBezTo>
                    <a:pt x="3105" y="5478"/>
                    <a:pt x="3408" y="6149"/>
                    <a:pt x="3991" y="6693"/>
                  </a:cubicBezTo>
                  <a:cubicBezTo>
                    <a:pt x="4619" y="7241"/>
                    <a:pt x="5393" y="7696"/>
                    <a:pt x="6269" y="8029"/>
                  </a:cubicBezTo>
                  <a:cubicBezTo>
                    <a:pt x="7639" y="8547"/>
                    <a:pt x="9047" y="9014"/>
                    <a:pt x="10484" y="9428"/>
                  </a:cubicBezTo>
                  <a:lnTo>
                    <a:pt x="12288" y="9974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1"/>
                    <a:pt x="21600" y="15043"/>
                    <a:pt x="21577" y="15897"/>
                  </a:cubicBezTo>
                  <a:cubicBezTo>
                    <a:pt x="21571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2" name="자유형: 도형 77">
              <a:extLst>
                <a:ext uri="{FF2B5EF4-FFF2-40B4-BE49-F238E27FC236}">
                  <a16:creationId xmlns:a16="http://schemas.microsoft.com/office/drawing/2014/main" id="{69D1D62F-3A9E-BAE4-C81A-F692870E54E0}"/>
                </a:ext>
              </a:extLst>
            </p:cNvPr>
            <p:cNvSpPr/>
            <p:nvPr/>
          </p:nvSpPr>
          <p:spPr>
            <a:xfrm>
              <a:off x="-1" y="-1"/>
              <a:ext cx="149075" cy="1666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73" extrusionOk="0">
                  <a:moveTo>
                    <a:pt x="21584" y="17806"/>
                  </a:moveTo>
                  <a:cubicBezTo>
                    <a:pt x="20467" y="18987"/>
                    <a:pt x="19078" y="19937"/>
                    <a:pt x="17512" y="20591"/>
                  </a:cubicBezTo>
                  <a:cubicBezTo>
                    <a:pt x="15933" y="21249"/>
                    <a:pt x="14212" y="21584"/>
                    <a:pt x="12471" y="21573"/>
                  </a:cubicBezTo>
                  <a:cubicBezTo>
                    <a:pt x="10204" y="21587"/>
                    <a:pt x="7969" y="21089"/>
                    <a:pt x="5973" y="20124"/>
                  </a:cubicBezTo>
                  <a:cubicBezTo>
                    <a:pt x="4164" y="19178"/>
                    <a:pt x="2661" y="17824"/>
                    <a:pt x="1614" y="16197"/>
                  </a:cubicBezTo>
                  <a:cubicBezTo>
                    <a:pt x="542" y="14557"/>
                    <a:pt x="-16" y="12688"/>
                    <a:pt x="0" y="10787"/>
                  </a:cubicBezTo>
                  <a:cubicBezTo>
                    <a:pt x="-16" y="8886"/>
                    <a:pt x="542" y="7017"/>
                    <a:pt x="1615" y="5378"/>
                  </a:cubicBezTo>
                  <a:cubicBezTo>
                    <a:pt x="2662" y="3750"/>
                    <a:pt x="4165" y="2396"/>
                    <a:pt x="5974" y="1449"/>
                  </a:cubicBezTo>
                  <a:cubicBezTo>
                    <a:pt x="7970" y="485"/>
                    <a:pt x="10205" y="-13"/>
                    <a:pt x="12472" y="0"/>
                  </a:cubicBezTo>
                  <a:cubicBezTo>
                    <a:pt x="14108" y="-6"/>
                    <a:pt x="15726" y="296"/>
                    <a:pt x="17223" y="886"/>
                  </a:cubicBezTo>
                  <a:cubicBezTo>
                    <a:pt x="18723" y="1478"/>
                    <a:pt x="20072" y="2338"/>
                    <a:pt x="21190" y="3413"/>
                  </a:cubicBezTo>
                  <a:lnTo>
                    <a:pt x="20688" y="3863"/>
                  </a:lnTo>
                  <a:cubicBezTo>
                    <a:pt x="18577" y="1799"/>
                    <a:pt x="15594" y="630"/>
                    <a:pt x="12472" y="644"/>
                  </a:cubicBezTo>
                  <a:cubicBezTo>
                    <a:pt x="10644" y="633"/>
                    <a:pt x="8859" y="1146"/>
                    <a:pt x="7378" y="2108"/>
                  </a:cubicBezTo>
                  <a:cubicBezTo>
                    <a:pt x="5843" y="3089"/>
                    <a:pt x="4609" y="4402"/>
                    <a:pt x="3790" y="5924"/>
                  </a:cubicBezTo>
                  <a:cubicBezTo>
                    <a:pt x="2060" y="8993"/>
                    <a:pt x="2067" y="12619"/>
                    <a:pt x="3809" y="15682"/>
                  </a:cubicBezTo>
                  <a:cubicBezTo>
                    <a:pt x="4632" y="17197"/>
                    <a:pt x="5865" y="18502"/>
                    <a:pt x="7394" y="19480"/>
                  </a:cubicBezTo>
                  <a:cubicBezTo>
                    <a:pt x="8872" y="20434"/>
                    <a:pt x="10650" y="20941"/>
                    <a:pt x="12470" y="20928"/>
                  </a:cubicBezTo>
                  <a:cubicBezTo>
                    <a:pt x="15803" y="20966"/>
                    <a:pt x="18973" y="19639"/>
                    <a:pt x="21082" y="17323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3" name="자유형: 도형 78">
              <a:extLst>
                <a:ext uri="{FF2B5EF4-FFF2-40B4-BE49-F238E27FC236}">
                  <a16:creationId xmlns:a16="http://schemas.microsoft.com/office/drawing/2014/main" id="{1F5B615E-8D9A-B433-012F-5FDC4C05BEC1}"/>
                </a:ext>
              </a:extLst>
            </p:cNvPr>
            <p:cNvSpPr/>
            <p:nvPr/>
          </p:nvSpPr>
          <p:spPr>
            <a:xfrm>
              <a:off x="166506" y="1"/>
              <a:ext cx="168633" cy="166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5" extrusionOk="0">
                  <a:moveTo>
                    <a:pt x="16294" y="1449"/>
                  </a:moveTo>
                  <a:cubicBezTo>
                    <a:pt x="17892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8"/>
                    <a:pt x="20146" y="16197"/>
                  </a:cubicBezTo>
                  <a:cubicBezTo>
                    <a:pt x="19219" y="17824"/>
                    <a:pt x="17892" y="19178"/>
                    <a:pt x="16293" y="20125"/>
                  </a:cubicBezTo>
                  <a:cubicBezTo>
                    <a:pt x="14696" y="21086"/>
                    <a:pt x="12872" y="21587"/>
                    <a:pt x="11016" y="21574"/>
                  </a:cubicBezTo>
                  <a:cubicBezTo>
                    <a:pt x="9014" y="21587"/>
                    <a:pt x="7041" y="21089"/>
                    <a:pt x="5278" y="20125"/>
                  </a:cubicBezTo>
                  <a:cubicBezTo>
                    <a:pt x="3680" y="19178"/>
                    <a:pt x="2352" y="17824"/>
                    <a:pt x="1426" y="16197"/>
                  </a:cubicBezTo>
                  <a:cubicBezTo>
                    <a:pt x="479" y="14558"/>
                    <a:pt x="-14" y="12688"/>
                    <a:pt x="0" y="10787"/>
                  </a:cubicBezTo>
                  <a:cubicBezTo>
                    <a:pt x="-14" y="8887"/>
                    <a:pt x="479" y="7017"/>
                    <a:pt x="1426" y="5378"/>
                  </a:cubicBezTo>
                  <a:cubicBezTo>
                    <a:pt x="2352" y="3750"/>
                    <a:pt x="3680" y="2396"/>
                    <a:pt x="5278" y="1449"/>
                  </a:cubicBezTo>
                  <a:cubicBezTo>
                    <a:pt x="7042" y="485"/>
                    <a:pt x="9015" y="-13"/>
                    <a:pt x="11017" y="0"/>
                  </a:cubicBezTo>
                  <a:cubicBezTo>
                    <a:pt x="12873" y="-13"/>
                    <a:pt x="14698" y="488"/>
                    <a:pt x="16295" y="1449"/>
                  </a:cubicBezTo>
                  <a:moveTo>
                    <a:pt x="6516" y="2108"/>
                  </a:moveTo>
                  <a:cubicBezTo>
                    <a:pt x="5160" y="3089"/>
                    <a:pt x="4070" y="4401"/>
                    <a:pt x="3346" y="5923"/>
                  </a:cubicBezTo>
                  <a:cubicBezTo>
                    <a:pt x="1818" y="8993"/>
                    <a:pt x="1824" y="12619"/>
                    <a:pt x="3362" y="15683"/>
                  </a:cubicBezTo>
                  <a:cubicBezTo>
                    <a:pt x="4090" y="17198"/>
                    <a:pt x="5180" y="18504"/>
                    <a:pt x="6532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1"/>
                  </a:cubicBezTo>
                  <a:cubicBezTo>
                    <a:pt x="16391" y="18503"/>
                    <a:pt x="17481" y="17197"/>
                    <a:pt x="18209" y="15682"/>
                  </a:cubicBezTo>
                  <a:cubicBezTo>
                    <a:pt x="19747" y="12618"/>
                    <a:pt x="19753" y="8992"/>
                    <a:pt x="18226" y="5923"/>
                  </a:cubicBezTo>
                  <a:cubicBezTo>
                    <a:pt x="17501" y="4401"/>
                    <a:pt x="16410" y="3089"/>
                    <a:pt x="15055" y="2108"/>
                  </a:cubicBezTo>
                  <a:cubicBezTo>
                    <a:pt x="13919" y="1155"/>
                    <a:pt x="12490" y="636"/>
                    <a:pt x="11017" y="644"/>
                  </a:cubicBezTo>
                  <a:cubicBezTo>
                    <a:pt x="9402" y="633"/>
                    <a:pt x="7825" y="1146"/>
                    <a:pt x="6516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4" name="자유형: 도형 79">
              <a:extLst>
                <a:ext uri="{FF2B5EF4-FFF2-40B4-BE49-F238E27FC236}">
                  <a16:creationId xmlns:a16="http://schemas.microsoft.com/office/drawing/2014/main" id="{A5B3D511-2603-1FAE-2EEC-3CB63799D104}"/>
                </a:ext>
              </a:extLst>
            </p:cNvPr>
            <p:cNvSpPr/>
            <p:nvPr/>
          </p:nvSpPr>
          <p:spPr>
            <a:xfrm>
              <a:off x="499224" y="-1"/>
              <a:ext cx="168657" cy="1666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3" h="21574" extrusionOk="0">
                  <a:moveTo>
                    <a:pt x="16294" y="1450"/>
                  </a:moveTo>
                  <a:cubicBezTo>
                    <a:pt x="17893" y="2396"/>
                    <a:pt x="19220" y="3750"/>
                    <a:pt x="20146" y="5377"/>
                  </a:cubicBezTo>
                  <a:cubicBezTo>
                    <a:pt x="21093" y="7017"/>
                    <a:pt x="21586" y="8886"/>
                    <a:pt x="21572" y="10787"/>
                  </a:cubicBezTo>
                  <a:cubicBezTo>
                    <a:pt x="21586" y="12688"/>
                    <a:pt x="21093" y="14557"/>
                    <a:pt x="20146" y="16197"/>
                  </a:cubicBezTo>
                  <a:cubicBezTo>
                    <a:pt x="19220" y="17824"/>
                    <a:pt x="17893" y="19178"/>
                    <a:pt x="16294" y="20124"/>
                  </a:cubicBezTo>
                  <a:cubicBezTo>
                    <a:pt x="14697" y="21085"/>
                    <a:pt x="12873" y="21586"/>
                    <a:pt x="11017" y="21574"/>
                  </a:cubicBezTo>
                  <a:cubicBezTo>
                    <a:pt x="9014" y="21587"/>
                    <a:pt x="7040" y="21089"/>
                    <a:pt x="5276" y="20124"/>
                  </a:cubicBezTo>
                  <a:cubicBezTo>
                    <a:pt x="3678" y="19177"/>
                    <a:pt x="2351" y="17824"/>
                    <a:pt x="1426" y="16197"/>
                  </a:cubicBezTo>
                  <a:cubicBezTo>
                    <a:pt x="478" y="14557"/>
                    <a:pt x="-14" y="12688"/>
                    <a:pt x="0" y="10787"/>
                  </a:cubicBezTo>
                  <a:cubicBezTo>
                    <a:pt x="-14" y="8886"/>
                    <a:pt x="478" y="7017"/>
                    <a:pt x="1426" y="5377"/>
                  </a:cubicBezTo>
                  <a:cubicBezTo>
                    <a:pt x="2352" y="3750"/>
                    <a:pt x="3678" y="2397"/>
                    <a:pt x="5276" y="1450"/>
                  </a:cubicBezTo>
                  <a:cubicBezTo>
                    <a:pt x="7040" y="485"/>
                    <a:pt x="9015" y="-13"/>
                    <a:pt x="11018" y="0"/>
                  </a:cubicBezTo>
                  <a:cubicBezTo>
                    <a:pt x="12874" y="-12"/>
                    <a:pt x="14698" y="489"/>
                    <a:pt x="16295" y="1450"/>
                  </a:cubicBezTo>
                  <a:moveTo>
                    <a:pt x="6517" y="2108"/>
                  </a:moveTo>
                  <a:cubicBezTo>
                    <a:pt x="5162" y="3089"/>
                    <a:pt x="4071" y="4401"/>
                    <a:pt x="3347" y="5924"/>
                  </a:cubicBezTo>
                  <a:cubicBezTo>
                    <a:pt x="1819" y="8993"/>
                    <a:pt x="1826" y="12619"/>
                    <a:pt x="3363" y="15683"/>
                  </a:cubicBezTo>
                  <a:cubicBezTo>
                    <a:pt x="4091" y="17198"/>
                    <a:pt x="5181" y="18504"/>
                    <a:pt x="6533" y="19482"/>
                  </a:cubicBezTo>
                  <a:cubicBezTo>
                    <a:pt x="7838" y="20436"/>
                    <a:pt x="9409" y="20944"/>
                    <a:pt x="11017" y="20931"/>
                  </a:cubicBezTo>
                  <a:cubicBezTo>
                    <a:pt x="12484" y="20941"/>
                    <a:pt x="13907" y="20428"/>
                    <a:pt x="15039" y="19482"/>
                  </a:cubicBezTo>
                  <a:cubicBezTo>
                    <a:pt x="16390" y="18504"/>
                    <a:pt x="17480" y="17198"/>
                    <a:pt x="18208" y="15683"/>
                  </a:cubicBezTo>
                  <a:cubicBezTo>
                    <a:pt x="19745" y="12619"/>
                    <a:pt x="19751" y="8993"/>
                    <a:pt x="18224" y="5924"/>
                  </a:cubicBezTo>
                  <a:cubicBezTo>
                    <a:pt x="17500" y="4402"/>
                    <a:pt x="16410" y="3089"/>
                    <a:pt x="15055" y="2108"/>
                  </a:cubicBezTo>
                  <a:cubicBezTo>
                    <a:pt x="13920" y="1155"/>
                    <a:pt x="12491" y="637"/>
                    <a:pt x="11018" y="645"/>
                  </a:cubicBezTo>
                  <a:cubicBezTo>
                    <a:pt x="9403" y="633"/>
                    <a:pt x="7826" y="1146"/>
                    <a:pt x="6517" y="2108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5" name="자유형: 도형 80">
              <a:extLst>
                <a:ext uri="{FF2B5EF4-FFF2-40B4-BE49-F238E27FC236}">
                  <a16:creationId xmlns:a16="http://schemas.microsoft.com/office/drawing/2014/main" id="{9C4D7D07-CF50-1F98-E6DA-E37DCE40B10D}"/>
                </a:ext>
              </a:extLst>
            </p:cNvPr>
            <p:cNvSpPr/>
            <p:nvPr/>
          </p:nvSpPr>
          <p:spPr>
            <a:xfrm>
              <a:off x="696933" y="1498"/>
              <a:ext cx="106736" cy="163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241" y="20943"/>
                  </a:moveTo>
                  <a:lnTo>
                    <a:pt x="21600" y="20943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3240" y="0"/>
                  </a:ln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6" name="자유형: 도형 81">
              <a:extLst>
                <a:ext uri="{FF2B5EF4-FFF2-40B4-BE49-F238E27FC236}">
                  <a16:creationId xmlns:a16="http://schemas.microsoft.com/office/drawing/2014/main" id="{44D68B47-831C-2BA0-6024-5D5C36AACE70}"/>
                </a:ext>
              </a:extLst>
            </p:cNvPr>
            <p:cNvSpPr/>
            <p:nvPr/>
          </p:nvSpPr>
          <p:spPr>
            <a:xfrm>
              <a:off x="818625" y="1491"/>
              <a:ext cx="128272" cy="1651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4" h="21533" extrusionOk="0">
                  <a:moveTo>
                    <a:pt x="20791" y="0"/>
                  </a:moveTo>
                  <a:lnTo>
                    <a:pt x="21584" y="0"/>
                  </a:lnTo>
                  <a:lnTo>
                    <a:pt x="21584" y="12610"/>
                  </a:lnTo>
                  <a:cubicBezTo>
                    <a:pt x="21600" y="14095"/>
                    <a:pt x="21253" y="15569"/>
                    <a:pt x="20562" y="16954"/>
                  </a:cubicBezTo>
                  <a:cubicBezTo>
                    <a:pt x="19885" y="18289"/>
                    <a:pt x="18709" y="19436"/>
                    <a:pt x="17184" y="20245"/>
                  </a:cubicBezTo>
                  <a:cubicBezTo>
                    <a:pt x="15368" y="21153"/>
                    <a:pt x="13233" y="21600"/>
                    <a:pt x="11076" y="21525"/>
                  </a:cubicBezTo>
                  <a:cubicBezTo>
                    <a:pt x="9679" y="21523"/>
                    <a:pt x="8286" y="21403"/>
                    <a:pt x="6922" y="21168"/>
                  </a:cubicBezTo>
                  <a:cubicBezTo>
                    <a:pt x="5616" y="20883"/>
                    <a:pt x="4415" y="20361"/>
                    <a:pt x="3419" y="19644"/>
                  </a:cubicBezTo>
                  <a:cubicBezTo>
                    <a:pt x="1139" y="18088"/>
                    <a:pt x="0" y="15690"/>
                    <a:pt x="0" y="12448"/>
                  </a:cubicBezTo>
                  <a:lnTo>
                    <a:pt x="0" y="0"/>
                  </a:lnTo>
                  <a:lnTo>
                    <a:pt x="2653" y="0"/>
                  </a:lnTo>
                  <a:lnTo>
                    <a:pt x="2653" y="13096"/>
                  </a:lnTo>
                  <a:cubicBezTo>
                    <a:pt x="2653" y="15733"/>
                    <a:pt x="3495" y="17689"/>
                    <a:pt x="5180" y="18963"/>
                  </a:cubicBezTo>
                  <a:cubicBezTo>
                    <a:pt x="6933" y="20261"/>
                    <a:pt x="9288" y="20951"/>
                    <a:pt x="11706" y="20877"/>
                  </a:cubicBezTo>
                  <a:cubicBezTo>
                    <a:pt x="13499" y="20924"/>
                    <a:pt x="15266" y="20527"/>
                    <a:pt x="16751" y="19742"/>
                  </a:cubicBezTo>
                  <a:cubicBezTo>
                    <a:pt x="18115" y="18984"/>
                    <a:pt x="19171" y="17938"/>
                    <a:pt x="19794" y="16727"/>
                  </a:cubicBezTo>
                  <a:cubicBezTo>
                    <a:pt x="20475" y="15420"/>
                    <a:pt x="20815" y="14021"/>
                    <a:pt x="20795" y="12610"/>
                  </a:cubicBezTo>
                  <a:close/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  <p:sp>
          <p:nvSpPr>
            <p:cNvPr id="487" name="자유형: 도형 82">
              <a:extLst>
                <a:ext uri="{FF2B5EF4-FFF2-40B4-BE49-F238E27FC236}">
                  <a16:creationId xmlns:a16="http://schemas.microsoft.com/office/drawing/2014/main" id="{CC7715F7-06EA-4921-FFC2-F6CAD885579A}"/>
                </a:ext>
              </a:extLst>
            </p:cNvPr>
            <p:cNvSpPr/>
            <p:nvPr/>
          </p:nvSpPr>
          <p:spPr>
            <a:xfrm>
              <a:off x="974769" y="-1"/>
              <a:ext cx="118583" cy="166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567" extrusionOk="0">
                  <a:moveTo>
                    <a:pt x="11072" y="21567"/>
                  </a:moveTo>
                  <a:cubicBezTo>
                    <a:pt x="9036" y="21563"/>
                    <a:pt x="7023" y="21250"/>
                    <a:pt x="5169" y="20649"/>
                  </a:cubicBezTo>
                  <a:cubicBezTo>
                    <a:pt x="3040" y="19852"/>
                    <a:pt x="1254" y="18659"/>
                    <a:pt x="0" y="17195"/>
                  </a:cubicBezTo>
                  <a:lnTo>
                    <a:pt x="541" y="16680"/>
                  </a:lnTo>
                  <a:cubicBezTo>
                    <a:pt x="1732" y="18098"/>
                    <a:pt x="3440" y="19258"/>
                    <a:pt x="5485" y="20036"/>
                  </a:cubicBezTo>
                  <a:cubicBezTo>
                    <a:pt x="7238" y="20614"/>
                    <a:pt x="9145" y="20915"/>
                    <a:pt x="11076" y="20921"/>
                  </a:cubicBezTo>
                  <a:cubicBezTo>
                    <a:pt x="12340" y="20944"/>
                    <a:pt x="13592" y="20745"/>
                    <a:pt x="14722" y="20341"/>
                  </a:cubicBezTo>
                  <a:cubicBezTo>
                    <a:pt x="15879" y="20004"/>
                    <a:pt x="16891" y="19454"/>
                    <a:pt x="17654" y="18748"/>
                  </a:cubicBezTo>
                  <a:cubicBezTo>
                    <a:pt x="18349" y="18096"/>
                    <a:pt x="18721" y="17298"/>
                    <a:pt x="18714" y="16478"/>
                  </a:cubicBezTo>
                  <a:cubicBezTo>
                    <a:pt x="18748" y="15739"/>
                    <a:pt x="18430" y="15013"/>
                    <a:pt x="17813" y="14418"/>
                  </a:cubicBezTo>
                  <a:cubicBezTo>
                    <a:pt x="17177" y="13840"/>
                    <a:pt x="16378" y="13363"/>
                    <a:pt x="15468" y="13019"/>
                  </a:cubicBezTo>
                  <a:cubicBezTo>
                    <a:pt x="14505" y="12643"/>
                    <a:pt x="13123" y="12176"/>
                    <a:pt x="11320" y="11618"/>
                  </a:cubicBezTo>
                  <a:lnTo>
                    <a:pt x="10059" y="11232"/>
                  </a:lnTo>
                  <a:cubicBezTo>
                    <a:pt x="7594" y="10459"/>
                    <a:pt x="5707" y="9816"/>
                    <a:pt x="4400" y="9300"/>
                  </a:cubicBezTo>
                  <a:cubicBezTo>
                    <a:pt x="3241" y="8870"/>
                    <a:pt x="2208" y="8286"/>
                    <a:pt x="1357" y="7579"/>
                  </a:cubicBezTo>
                  <a:cubicBezTo>
                    <a:pt x="631" y="6938"/>
                    <a:pt x="247" y="6133"/>
                    <a:pt x="274" y="5309"/>
                  </a:cubicBezTo>
                  <a:cubicBezTo>
                    <a:pt x="257" y="4291"/>
                    <a:pt x="753" y="3303"/>
                    <a:pt x="1673" y="2524"/>
                  </a:cubicBezTo>
                  <a:cubicBezTo>
                    <a:pt x="2663" y="1691"/>
                    <a:pt x="3932" y="1049"/>
                    <a:pt x="5362" y="660"/>
                  </a:cubicBezTo>
                  <a:cubicBezTo>
                    <a:pt x="7169" y="214"/>
                    <a:pt x="9069" y="-9"/>
                    <a:pt x="10982" y="0"/>
                  </a:cubicBezTo>
                  <a:cubicBezTo>
                    <a:pt x="12990" y="-6"/>
                    <a:pt x="14971" y="337"/>
                    <a:pt x="16753" y="998"/>
                  </a:cubicBezTo>
                  <a:cubicBezTo>
                    <a:pt x="18425" y="1571"/>
                    <a:pt x="19787" y="2521"/>
                    <a:pt x="20630" y="3701"/>
                  </a:cubicBezTo>
                  <a:lnTo>
                    <a:pt x="20044" y="4216"/>
                  </a:lnTo>
                  <a:cubicBezTo>
                    <a:pt x="19254" y="3073"/>
                    <a:pt x="17953" y="2150"/>
                    <a:pt x="16347" y="1593"/>
                  </a:cubicBezTo>
                  <a:cubicBezTo>
                    <a:pt x="14722" y="976"/>
                    <a:pt x="12912" y="650"/>
                    <a:pt x="11072" y="643"/>
                  </a:cubicBezTo>
                  <a:cubicBezTo>
                    <a:pt x="9674" y="629"/>
                    <a:pt x="8287" y="815"/>
                    <a:pt x="6991" y="1190"/>
                  </a:cubicBezTo>
                  <a:cubicBezTo>
                    <a:pt x="5875" y="1501"/>
                    <a:pt x="4894" y="2017"/>
                    <a:pt x="4149" y="2687"/>
                  </a:cubicBezTo>
                  <a:cubicBezTo>
                    <a:pt x="3488" y="3288"/>
                    <a:pt x="3131" y="4030"/>
                    <a:pt x="3135" y="4794"/>
                  </a:cubicBezTo>
                  <a:cubicBezTo>
                    <a:pt x="3105" y="5479"/>
                    <a:pt x="3408" y="6149"/>
                    <a:pt x="3991" y="6693"/>
                  </a:cubicBezTo>
                  <a:cubicBezTo>
                    <a:pt x="4619" y="7242"/>
                    <a:pt x="5393" y="7696"/>
                    <a:pt x="6269" y="8029"/>
                  </a:cubicBezTo>
                  <a:cubicBezTo>
                    <a:pt x="7640" y="8547"/>
                    <a:pt x="9046" y="9014"/>
                    <a:pt x="10484" y="9428"/>
                  </a:cubicBezTo>
                  <a:lnTo>
                    <a:pt x="12288" y="9975"/>
                  </a:lnTo>
                  <a:cubicBezTo>
                    <a:pt x="14052" y="10510"/>
                    <a:pt x="15775" y="11112"/>
                    <a:pt x="17451" y="11777"/>
                  </a:cubicBezTo>
                  <a:cubicBezTo>
                    <a:pt x="18595" y="12230"/>
                    <a:pt x="19611" y="12830"/>
                    <a:pt x="20450" y="13547"/>
                  </a:cubicBezTo>
                  <a:cubicBezTo>
                    <a:pt x="21201" y="14212"/>
                    <a:pt x="21600" y="15043"/>
                    <a:pt x="21577" y="15897"/>
                  </a:cubicBezTo>
                  <a:cubicBezTo>
                    <a:pt x="21570" y="16899"/>
                    <a:pt x="21120" y="17873"/>
                    <a:pt x="20291" y="18682"/>
                  </a:cubicBezTo>
                  <a:cubicBezTo>
                    <a:pt x="19349" y="19600"/>
                    <a:pt x="18080" y="20322"/>
                    <a:pt x="16616" y="20773"/>
                  </a:cubicBezTo>
                  <a:cubicBezTo>
                    <a:pt x="14870" y="21322"/>
                    <a:pt x="12977" y="21591"/>
                    <a:pt x="11070" y="21562"/>
                  </a:cubicBezTo>
                </a:path>
              </a:pathLst>
            </a:custGeom>
            <a:solidFill>
              <a:srgbClr val="47868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478689"/>
                  </a:solidFill>
                </a:defRPr>
              </a:pPr>
              <a:endParaRPr/>
            </a:p>
          </p:txBody>
        </p:sp>
      </p:grpSp>
      <p:sp>
        <p:nvSpPr>
          <p:cNvPr id="489" name="직사각형 66">
            <a:extLst>
              <a:ext uri="{FF2B5EF4-FFF2-40B4-BE49-F238E27FC236}">
                <a16:creationId xmlns:a16="http://schemas.microsoft.com/office/drawing/2014/main" id="{9EF362D1-DAB5-362B-439B-D945FAB8B6FE}"/>
              </a:ext>
            </a:extLst>
          </p:cNvPr>
          <p:cNvSpPr/>
          <p:nvPr/>
        </p:nvSpPr>
        <p:spPr>
          <a:xfrm>
            <a:off x="-3" y="-2"/>
            <a:ext cx="132084" cy="1308101"/>
          </a:xfrm>
          <a:prstGeom prst="rect">
            <a:avLst/>
          </a:prstGeom>
          <a:solidFill>
            <a:srgbClr val="294F5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0" name="직사각형 67">
            <a:extLst>
              <a:ext uri="{FF2B5EF4-FFF2-40B4-BE49-F238E27FC236}">
                <a16:creationId xmlns:a16="http://schemas.microsoft.com/office/drawing/2014/main" id="{FA25EA08-7783-549B-A897-7C976D55A979}"/>
              </a:ext>
            </a:extLst>
          </p:cNvPr>
          <p:cNvSpPr/>
          <p:nvPr/>
        </p:nvSpPr>
        <p:spPr>
          <a:xfrm>
            <a:off x="-3" y="1310818"/>
            <a:ext cx="132084" cy="5551585"/>
          </a:xfrm>
          <a:prstGeom prst="rect">
            <a:avLst/>
          </a:prstGeom>
          <a:solidFill>
            <a:srgbClr val="DFF1F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1" name="직선 연결선 68">
            <a:extLst>
              <a:ext uri="{FF2B5EF4-FFF2-40B4-BE49-F238E27FC236}">
                <a16:creationId xmlns:a16="http://schemas.microsoft.com/office/drawing/2014/main" id="{DFB1F776-C100-CCC8-F6E8-EF12942DA91A}"/>
              </a:ext>
            </a:extLst>
          </p:cNvPr>
          <p:cNvSpPr/>
          <p:nvPr/>
        </p:nvSpPr>
        <p:spPr>
          <a:xfrm>
            <a:off x="396240" y="548640"/>
            <a:ext cx="11795761" cy="1"/>
          </a:xfrm>
          <a:prstGeom prst="line">
            <a:avLst/>
          </a:prstGeom>
          <a:ln w="6350">
            <a:solidFill>
              <a:srgbClr val="478689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3" name="TextBox 2">
            <a:extLst>
              <a:ext uri="{FF2B5EF4-FFF2-40B4-BE49-F238E27FC236}">
                <a16:creationId xmlns:a16="http://schemas.microsoft.com/office/drawing/2014/main" id="{A3500551-8181-78D7-89FF-FF6C1214B78C}"/>
              </a:ext>
            </a:extLst>
          </p:cNvPr>
          <p:cNvSpPr txBox="1"/>
          <p:nvPr/>
        </p:nvSpPr>
        <p:spPr>
          <a:xfrm>
            <a:off x="9480707" y="225474"/>
            <a:ext cx="258785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r">
              <a:defRPr sz="1400">
                <a:solidFill>
                  <a:srgbClr val="478689"/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pPr>
            <a:r>
              <a:rPr lang="en-US" altLang="ko-KR" dirty="0"/>
              <a:t>We promise tomorrow</a:t>
            </a:r>
          </a:p>
        </p:txBody>
      </p:sp>
      <p:sp>
        <p:nvSpPr>
          <p:cNvPr id="3" name="TextBox 71">
            <a:extLst>
              <a:ext uri="{FF2B5EF4-FFF2-40B4-BE49-F238E27FC236}">
                <a16:creationId xmlns:a16="http://schemas.microsoft.com/office/drawing/2014/main" id="{EA4D6EEE-DA54-F546-27E1-6192BE349D79}"/>
              </a:ext>
            </a:extLst>
          </p:cNvPr>
          <p:cNvSpPr txBox="1"/>
          <p:nvPr/>
        </p:nvSpPr>
        <p:spPr>
          <a:xfrm>
            <a:off x="446746" y="616129"/>
            <a:ext cx="827150" cy="189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0000"/>
              </a:lnSpc>
              <a:defRPr sz="1200" spc="20">
                <a:solidFill>
                  <a:srgbClr val="808080">
                    <a:alpha val="70000"/>
                  </a:srgbClr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lvl1pPr>
          </a:lstStyle>
          <a:p>
            <a:r>
              <a:rPr lang="en-US" altLang="ko-KR" dirty="0"/>
              <a:t>Technology</a:t>
            </a: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108CAEF1-2651-4C79-6574-806F165285E6}"/>
              </a:ext>
            </a:extLst>
          </p:cNvPr>
          <p:cNvSpPr txBox="1"/>
          <p:nvPr/>
        </p:nvSpPr>
        <p:spPr>
          <a:xfrm>
            <a:off x="396239" y="792581"/>
            <a:ext cx="9796610" cy="442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10000"/>
              </a:lnSpc>
              <a:defRPr sz="3000" spc="-30">
                <a:solidFill>
                  <a:srgbClr val="0F1E1F"/>
                </a:solidFill>
                <a:latin typeface="G마켓 산스 Bold"/>
                <a:ea typeface="G마켓 산스 Bold"/>
                <a:cs typeface="G마켓 산스 Bold"/>
                <a:sym typeface="G마켓 산스 Bold"/>
              </a:defRPr>
            </a:lvl1pPr>
          </a:lstStyle>
          <a:p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[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솔루션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1-2]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직접 리튬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en-US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추출 </a:t>
            </a:r>
            <a:r>
              <a:rPr lang="en-US" altLang="ko-KR" sz="2800" dirty="0"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(DLE, Direct Lithium Extraction) 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F9EC322A-EFD0-9015-2A6E-C463E915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63982"/>
            <a:ext cx="2743200" cy="365125"/>
          </a:xfrm>
        </p:spPr>
        <p:txBody>
          <a:bodyPr/>
          <a:lstStyle/>
          <a:p>
            <a:fld id="{37ED9AAF-E0B1-45D5-BDDA-4E50A2DB2EEA}" type="slidenum">
              <a:rPr lang="ko-KR" altLang="en-US" smtClean="0"/>
              <a:t>1</a:t>
            </a:fld>
            <a:endParaRPr lang="ko-KR" altLang="en-US"/>
          </a:p>
        </p:txBody>
      </p:sp>
      <p:grpSp>
        <p:nvGrpSpPr>
          <p:cNvPr id="549" name="그룹 43">
            <a:extLst>
              <a:ext uri="{FF2B5EF4-FFF2-40B4-BE49-F238E27FC236}">
                <a16:creationId xmlns:a16="http://schemas.microsoft.com/office/drawing/2014/main" id="{DBF09793-B1B7-B61E-3054-8FAB5ADACD77}"/>
              </a:ext>
            </a:extLst>
          </p:cNvPr>
          <p:cNvGrpSpPr/>
          <p:nvPr/>
        </p:nvGrpSpPr>
        <p:grpSpPr>
          <a:xfrm>
            <a:off x="5731144" y="3475898"/>
            <a:ext cx="729713" cy="628362"/>
            <a:chOff x="0" y="0"/>
            <a:chExt cx="729711" cy="726108"/>
          </a:xfrm>
        </p:grpSpPr>
        <p:pic>
          <p:nvPicPr>
            <p:cNvPr id="550" name="그래픽 38" descr="그래픽 38">
              <a:extLst>
                <a:ext uri="{FF2B5EF4-FFF2-40B4-BE49-F238E27FC236}">
                  <a16:creationId xmlns:a16="http://schemas.microsoft.com/office/drawing/2014/main" id="{5898F358-B72F-7E53-5327-5CF98920E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066" y="0"/>
              <a:ext cx="508646" cy="7261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1" name="그래픽 39" descr="그래픽 39">
              <a:extLst>
                <a:ext uri="{FF2B5EF4-FFF2-40B4-BE49-F238E27FC236}">
                  <a16:creationId xmlns:a16="http://schemas.microsoft.com/office/drawing/2014/main" id="{0AE2B1B6-3A4E-EE38-0499-5DD87D30A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47473"/>
              <a:ext cx="442134" cy="6311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552" name="그룹 551">
            <a:extLst>
              <a:ext uri="{FF2B5EF4-FFF2-40B4-BE49-F238E27FC236}">
                <a16:creationId xmlns:a16="http://schemas.microsoft.com/office/drawing/2014/main" id="{C68E02FA-E88E-4373-6C87-06899C2CC506}"/>
              </a:ext>
            </a:extLst>
          </p:cNvPr>
          <p:cNvGrpSpPr/>
          <p:nvPr/>
        </p:nvGrpSpPr>
        <p:grpSpPr>
          <a:xfrm>
            <a:off x="341875" y="1484441"/>
            <a:ext cx="5157893" cy="512690"/>
            <a:chOff x="946573" y="1709220"/>
            <a:chExt cx="4818437" cy="512690"/>
          </a:xfrm>
        </p:grpSpPr>
        <p:sp>
          <p:nvSpPr>
            <p:cNvPr id="553" name="사각형: 둥근 모서리 85">
              <a:extLst>
                <a:ext uri="{FF2B5EF4-FFF2-40B4-BE49-F238E27FC236}">
                  <a16:creationId xmlns:a16="http://schemas.microsoft.com/office/drawing/2014/main" id="{5B799271-DE24-1415-C685-62622F4B9F6F}"/>
                </a:ext>
              </a:extLst>
            </p:cNvPr>
            <p:cNvSpPr/>
            <p:nvPr/>
          </p:nvSpPr>
          <p:spPr>
            <a:xfrm>
              <a:off x="946573" y="1709220"/>
              <a:ext cx="4818436" cy="51269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algn="ctr">
                <a:defRPr sz="1200">
                  <a:solidFill>
                    <a:srgbClr val="0F1E1F"/>
                  </a:solidFill>
                  <a:latin typeface="Pretendard Light"/>
                  <a:ea typeface="Pretendard Light"/>
                  <a:cs typeface="Pretendard Light"/>
                  <a:sym typeface="Pretendard Light"/>
                </a:defRPr>
              </a:pPr>
              <a:endParaRPr/>
            </a:p>
          </p:txBody>
        </p:sp>
        <p:grpSp>
          <p:nvGrpSpPr>
            <p:cNvPr id="554" name="그룹 92">
              <a:extLst>
                <a:ext uri="{FF2B5EF4-FFF2-40B4-BE49-F238E27FC236}">
                  <a16:creationId xmlns:a16="http://schemas.microsoft.com/office/drawing/2014/main" id="{C732D672-4739-A90B-BDD2-288D59759F1C}"/>
                </a:ext>
              </a:extLst>
            </p:cNvPr>
            <p:cNvGrpSpPr/>
            <p:nvPr/>
          </p:nvGrpSpPr>
          <p:grpSpPr>
            <a:xfrm>
              <a:off x="946573" y="1711649"/>
              <a:ext cx="4818437" cy="507832"/>
              <a:chOff x="0" y="0"/>
              <a:chExt cx="3726893" cy="507831"/>
            </a:xfrm>
          </p:grpSpPr>
          <p:sp>
            <p:nvSpPr>
              <p:cNvPr id="556" name="직선 연결선 86">
                <a:extLst>
                  <a:ext uri="{FF2B5EF4-FFF2-40B4-BE49-F238E27FC236}">
                    <a16:creationId xmlns:a16="http://schemas.microsoft.com/office/drawing/2014/main" id="{AFB3A93F-B439-B6A7-578B-BCAB131E0A85}"/>
                  </a:ext>
                </a:extLst>
              </p:cNvPr>
              <p:cNvSpPr/>
              <p:nvPr/>
            </p:nvSpPr>
            <p:spPr>
              <a:xfrm>
                <a:off x="-1" y="0"/>
                <a:ext cx="3726895" cy="1"/>
              </a:xfrm>
              <a:prstGeom prst="line">
                <a:avLst/>
              </a:prstGeom>
              <a:noFill/>
              <a:ln w="9525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557" name="직선 연결선 87">
                <a:extLst>
                  <a:ext uri="{FF2B5EF4-FFF2-40B4-BE49-F238E27FC236}">
                    <a16:creationId xmlns:a16="http://schemas.microsoft.com/office/drawing/2014/main" id="{325B0280-F41D-CA37-5D6E-DE87B0B0088E}"/>
                  </a:ext>
                </a:extLst>
              </p:cNvPr>
              <p:cNvSpPr/>
              <p:nvPr/>
            </p:nvSpPr>
            <p:spPr>
              <a:xfrm>
                <a:off x="-1" y="507831"/>
                <a:ext cx="3726895" cy="1"/>
              </a:xfrm>
              <a:prstGeom prst="line">
                <a:avLst/>
              </a:prstGeom>
              <a:noFill/>
              <a:ln w="6350" cap="flat">
                <a:solidFill>
                  <a:schemeClr val="bg2">
                    <a:lumMod val="20000"/>
                    <a:lumOff val="80000"/>
                  </a:schemeClr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555" name="TextBox 35">
              <a:extLst>
                <a:ext uri="{FF2B5EF4-FFF2-40B4-BE49-F238E27FC236}">
                  <a16:creationId xmlns:a16="http://schemas.microsoft.com/office/drawing/2014/main" id="{670A5C89-06CD-9D42-619F-0B300487AA43}"/>
                </a:ext>
              </a:extLst>
            </p:cNvPr>
            <p:cNvSpPr txBox="1"/>
            <p:nvPr/>
          </p:nvSpPr>
          <p:spPr>
            <a:xfrm>
              <a:off x="1913825" y="1811677"/>
              <a:ext cx="2883932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ctr">
                <a:defRPr sz="2000" spc="-3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ko-KR" altLang="en-US" dirty="0"/>
                <a:t>현재</a:t>
              </a:r>
              <a:r>
                <a:rPr lang="en-US" dirty="0"/>
                <a:t> Li </a:t>
              </a:r>
              <a:r>
                <a:rPr lang="ko-KR" altLang="en-US" dirty="0"/>
                <a:t>재활용</a:t>
              </a:r>
              <a:endParaRPr dirty="0"/>
            </a:p>
          </p:txBody>
        </p:sp>
      </p:grpSp>
      <p:grpSp>
        <p:nvGrpSpPr>
          <p:cNvPr id="558" name="그룹 557">
            <a:extLst>
              <a:ext uri="{FF2B5EF4-FFF2-40B4-BE49-F238E27FC236}">
                <a16:creationId xmlns:a16="http://schemas.microsoft.com/office/drawing/2014/main" id="{38F3F004-A560-5271-71B1-F3231AD78224}"/>
              </a:ext>
            </a:extLst>
          </p:cNvPr>
          <p:cNvGrpSpPr/>
          <p:nvPr/>
        </p:nvGrpSpPr>
        <p:grpSpPr>
          <a:xfrm>
            <a:off x="6621887" y="1484441"/>
            <a:ext cx="5306971" cy="512690"/>
            <a:chOff x="7016419" y="1709220"/>
            <a:chExt cx="4957704" cy="512690"/>
          </a:xfrm>
        </p:grpSpPr>
        <p:sp>
          <p:nvSpPr>
            <p:cNvPr id="559" name="사각형: 둥근 모서리 85">
              <a:extLst>
                <a:ext uri="{FF2B5EF4-FFF2-40B4-BE49-F238E27FC236}">
                  <a16:creationId xmlns:a16="http://schemas.microsoft.com/office/drawing/2014/main" id="{7D4851CA-E21C-28EA-A249-FC4A8139864D}"/>
                </a:ext>
              </a:extLst>
            </p:cNvPr>
            <p:cNvSpPr/>
            <p:nvPr/>
          </p:nvSpPr>
          <p:spPr>
            <a:xfrm>
              <a:off x="7086053" y="1709220"/>
              <a:ext cx="4818436" cy="512690"/>
            </a:xfrm>
            <a:prstGeom prst="roundRect">
              <a:avLst>
                <a:gd name="adj" fmla="val 0"/>
              </a:avLst>
            </a:prstGeom>
            <a:solidFill>
              <a:srgbClr val="F4FAFA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algn="ctr">
                <a:defRPr sz="1200">
                  <a:solidFill>
                    <a:srgbClr val="0F1E1F"/>
                  </a:solidFill>
                  <a:latin typeface="Pretendard Light"/>
                  <a:ea typeface="Pretendard Light"/>
                  <a:cs typeface="Pretendard Light"/>
                  <a:sym typeface="Pretendard Light"/>
                </a:defRPr>
              </a:pPr>
              <a:endParaRPr/>
            </a:p>
          </p:txBody>
        </p:sp>
        <p:grpSp>
          <p:nvGrpSpPr>
            <p:cNvPr id="560" name="그룹 92">
              <a:extLst>
                <a:ext uri="{FF2B5EF4-FFF2-40B4-BE49-F238E27FC236}">
                  <a16:creationId xmlns:a16="http://schemas.microsoft.com/office/drawing/2014/main" id="{8A415993-624F-4692-AE58-5D567BE2C7B8}"/>
                </a:ext>
              </a:extLst>
            </p:cNvPr>
            <p:cNvGrpSpPr/>
            <p:nvPr/>
          </p:nvGrpSpPr>
          <p:grpSpPr>
            <a:xfrm>
              <a:off x="7086053" y="1711649"/>
              <a:ext cx="4818437" cy="507832"/>
              <a:chOff x="0" y="0"/>
              <a:chExt cx="3726893" cy="507831"/>
            </a:xfrm>
          </p:grpSpPr>
          <p:sp>
            <p:nvSpPr>
              <p:cNvPr id="562" name="직선 연결선 86">
                <a:extLst>
                  <a:ext uri="{FF2B5EF4-FFF2-40B4-BE49-F238E27FC236}">
                    <a16:creationId xmlns:a16="http://schemas.microsoft.com/office/drawing/2014/main" id="{50A5BF46-1545-A35A-8344-6CC3C2231271}"/>
                  </a:ext>
                </a:extLst>
              </p:cNvPr>
              <p:cNvSpPr/>
              <p:nvPr/>
            </p:nvSpPr>
            <p:spPr>
              <a:xfrm>
                <a:off x="-1" y="0"/>
                <a:ext cx="3726895" cy="1"/>
              </a:xfrm>
              <a:prstGeom prst="line">
                <a:avLst/>
              </a:prstGeom>
              <a:noFill/>
              <a:ln w="9525" cap="flat">
                <a:solidFill>
                  <a:srgbClr val="478689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563" name="직선 연결선 87">
                <a:extLst>
                  <a:ext uri="{FF2B5EF4-FFF2-40B4-BE49-F238E27FC236}">
                    <a16:creationId xmlns:a16="http://schemas.microsoft.com/office/drawing/2014/main" id="{26EAA6FD-C454-DFB4-AED8-0A9BBC83F26C}"/>
                  </a:ext>
                </a:extLst>
              </p:cNvPr>
              <p:cNvSpPr/>
              <p:nvPr/>
            </p:nvSpPr>
            <p:spPr>
              <a:xfrm>
                <a:off x="-1" y="507831"/>
                <a:ext cx="3726895" cy="1"/>
              </a:xfrm>
              <a:prstGeom prst="line">
                <a:avLst/>
              </a:prstGeom>
              <a:noFill/>
              <a:ln w="6350" cap="flat">
                <a:solidFill>
                  <a:srgbClr val="478689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561" name="TextBox 35">
              <a:extLst>
                <a:ext uri="{FF2B5EF4-FFF2-40B4-BE49-F238E27FC236}">
                  <a16:creationId xmlns:a16="http://schemas.microsoft.com/office/drawing/2014/main" id="{6672C4BE-B4DC-4FBB-11C8-ED3D758B2433}"/>
                </a:ext>
              </a:extLst>
            </p:cNvPr>
            <p:cNvSpPr txBox="1"/>
            <p:nvPr/>
          </p:nvSpPr>
          <p:spPr>
            <a:xfrm>
              <a:off x="7016419" y="1813604"/>
              <a:ext cx="4957704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 algn="ctr">
                <a:defRPr sz="2000" spc="-30">
                  <a:solidFill>
                    <a:srgbClr val="0F1E1F"/>
                  </a:solidFill>
                  <a:latin typeface="Pretendard SemiBold"/>
                  <a:ea typeface="Pretendard SemiBold"/>
                  <a:cs typeface="Pretendard SemiBold"/>
                  <a:sym typeface="Pretendard SemiBold"/>
                </a:defRPr>
              </a:lvl1pPr>
            </a:lstStyle>
            <a:p>
              <a:r>
                <a:rPr lang="en-US" altLang="ko-KR" dirty="0"/>
                <a:t>COSOLUS DLE</a:t>
              </a:r>
              <a:r>
                <a:rPr lang="ko-KR" altLang="en-US" dirty="0"/>
                <a:t> 기반</a:t>
              </a:r>
              <a:r>
                <a:rPr lang="en-US" altLang="ko-KR" dirty="0"/>
                <a:t> Li </a:t>
              </a:r>
              <a:r>
                <a:rPr lang="ko-KR" altLang="en-US" dirty="0"/>
                <a:t>재활용</a:t>
              </a:r>
              <a:endParaRPr dirty="0"/>
            </a:p>
          </p:txBody>
        </p:sp>
      </p:grpSp>
      <p:sp>
        <p:nvSpPr>
          <p:cNvPr id="564" name="Text 5">
            <a:extLst>
              <a:ext uri="{FF2B5EF4-FFF2-40B4-BE49-F238E27FC236}">
                <a16:creationId xmlns:a16="http://schemas.microsoft.com/office/drawing/2014/main" id="{AC33891D-F8AD-D7AE-1B6F-75219C4BC1D1}"/>
              </a:ext>
            </a:extLst>
          </p:cNvPr>
          <p:cNvSpPr/>
          <p:nvPr/>
        </p:nvSpPr>
        <p:spPr>
          <a:xfrm>
            <a:off x="2078765" y="2008244"/>
            <a:ext cx="1616667" cy="552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NCM </a:t>
            </a:r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스크랩</a:t>
            </a:r>
            <a:endParaRPr lang="en-US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65" name="Shape 6">
            <a:extLst>
              <a:ext uri="{FF2B5EF4-FFF2-40B4-BE49-F238E27FC236}">
                <a16:creationId xmlns:a16="http://schemas.microsoft.com/office/drawing/2014/main" id="{936A6107-F75F-FC6A-4476-7DA4531D54D3}"/>
              </a:ext>
            </a:extLst>
          </p:cNvPr>
          <p:cNvSpPr/>
          <p:nvPr/>
        </p:nvSpPr>
        <p:spPr>
          <a:xfrm>
            <a:off x="2891330" y="2537012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66" name="Shape 9">
            <a:extLst>
              <a:ext uri="{FF2B5EF4-FFF2-40B4-BE49-F238E27FC236}">
                <a16:creationId xmlns:a16="http://schemas.microsoft.com/office/drawing/2014/main" id="{75C8B61E-0702-DC8E-37C2-61853F624525}"/>
              </a:ext>
            </a:extLst>
          </p:cNvPr>
          <p:cNvSpPr/>
          <p:nvPr/>
        </p:nvSpPr>
        <p:spPr>
          <a:xfrm>
            <a:off x="2082997" y="2693464"/>
            <a:ext cx="1750738" cy="37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67" name="Text 10">
            <a:extLst>
              <a:ext uri="{FF2B5EF4-FFF2-40B4-BE49-F238E27FC236}">
                <a16:creationId xmlns:a16="http://schemas.microsoft.com/office/drawing/2014/main" id="{9B6839B0-2575-7613-70D8-48CD46A208CE}"/>
              </a:ext>
            </a:extLst>
          </p:cNvPr>
          <p:cNvSpPr/>
          <p:nvPr/>
        </p:nvSpPr>
        <p:spPr>
          <a:xfrm>
            <a:off x="2082997" y="2693464"/>
            <a:ext cx="1616667" cy="37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b="1" dirty="0" err="1">
                <a:solidFill>
                  <a:srgbClr val="11182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침출</a:t>
            </a:r>
            <a:endParaRPr lang="en-US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68" name="Shape 16">
            <a:extLst>
              <a:ext uri="{FF2B5EF4-FFF2-40B4-BE49-F238E27FC236}">
                <a16:creationId xmlns:a16="http://schemas.microsoft.com/office/drawing/2014/main" id="{A9F32DC2-62AE-9C81-EA14-11FAC66A20FA}"/>
              </a:ext>
            </a:extLst>
          </p:cNvPr>
          <p:cNvSpPr/>
          <p:nvPr/>
        </p:nvSpPr>
        <p:spPr>
          <a:xfrm>
            <a:off x="2891330" y="3068948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69" name="Shape 19">
            <a:extLst>
              <a:ext uri="{FF2B5EF4-FFF2-40B4-BE49-F238E27FC236}">
                <a16:creationId xmlns:a16="http://schemas.microsoft.com/office/drawing/2014/main" id="{109B6C83-0ACB-A762-B43D-E285F79CFE90}"/>
              </a:ext>
            </a:extLst>
          </p:cNvPr>
          <p:cNvSpPr/>
          <p:nvPr/>
        </p:nvSpPr>
        <p:spPr>
          <a:xfrm>
            <a:off x="2082997" y="3225400"/>
            <a:ext cx="1750738" cy="37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ctr"/>
            <a:endParaRPr lang="ko-KR" altLang="en-US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70" name="Text 20">
            <a:extLst>
              <a:ext uri="{FF2B5EF4-FFF2-40B4-BE49-F238E27FC236}">
                <a16:creationId xmlns:a16="http://schemas.microsoft.com/office/drawing/2014/main" id="{0416D2E4-0DC0-71B1-841A-6C68FE1144A6}"/>
              </a:ext>
            </a:extLst>
          </p:cNvPr>
          <p:cNvSpPr/>
          <p:nvPr/>
        </p:nvSpPr>
        <p:spPr>
          <a:xfrm>
            <a:off x="2082997" y="3225400"/>
            <a:ext cx="1750738" cy="37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b="1" dirty="0">
                <a:solidFill>
                  <a:srgbClr val="11182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불순물 제거</a:t>
            </a:r>
            <a:endParaRPr lang="en-US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71" name="Shape 26">
            <a:extLst>
              <a:ext uri="{FF2B5EF4-FFF2-40B4-BE49-F238E27FC236}">
                <a16:creationId xmlns:a16="http://schemas.microsoft.com/office/drawing/2014/main" id="{CEDFAF91-303B-1790-9602-DE388FABCF4F}"/>
              </a:ext>
            </a:extLst>
          </p:cNvPr>
          <p:cNvSpPr/>
          <p:nvPr/>
        </p:nvSpPr>
        <p:spPr>
          <a:xfrm>
            <a:off x="2891330" y="3600884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72" name="Shape 27">
            <a:extLst>
              <a:ext uri="{FF2B5EF4-FFF2-40B4-BE49-F238E27FC236}">
                <a16:creationId xmlns:a16="http://schemas.microsoft.com/office/drawing/2014/main" id="{4BB6058F-1A63-871F-DCBA-C40DD18A9197}"/>
              </a:ext>
            </a:extLst>
          </p:cNvPr>
          <p:cNvSpPr/>
          <p:nvPr/>
        </p:nvSpPr>
        <p:spPr>
          <a:xfrm>
            <a:off x="1811814" y="3840776"/>
            <a:ext cx="208602" cy="20860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ko-KR" altLang="en-US" sz="2053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73" name="Text 28">
            <a:extLst>
              <a:ext uri="{FF2B5EF4-FFF2-40B4-BE49-F238E27FC236}">
                <a16:creationId xmlns:a16="http://schemas.microsoft.com/office/drawing/2014/main" id="{597CF5FB-D2E0-471B-6149-6A55CE0ABCFB}"/>
              </a:ext>
            </a:extLst>
          </p:cNvPr>
          <p:cNvSpPr/>
          <p:nvPr/>
        </p:nvSpPr>
        <p:spPr>
          <a:xfrm>
            <a:off x="1811814" y="3840776"/>
            <a:ext cx="208602" cy="20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13" b="1" dirty="0">
                <a:solidFill>
                  <a:srgbClr val="FFFF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endParaRPr lang="en-US" sz="91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74" name="Shape 29">
            <a:extLst>
              <a:ext uri="{FF2B5EF4-FFF2-40B4-BE49-F238E27FC236}">
                <a16:creationId xmlns:a16="http://schemas.microsoft.com/office/drawing/2014/main" id="{8208A9D3-E3ED-50D1-4DFF-3F8E4E1532B5}"/>
              </a:ext>
            </a:extLst>
          </p:cNvPr>
          <p:cNvSpPr/>
          <p:nvPr/>
        </p:nvSpPr>
        <p:spPr>
          <a:xfrm>
            <a:off x="2073597" y="3780598"/>
            <a:ext cx="1750738" cy="37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75" name="Text 30">
            <a:extLst>
              <a:ext uri="{FF2B5EF4-FFF2-40B4-BE49-F238E27FC236}">
                <a16:creationId xmlns:a16="http://schemas.microsoft.com/office/drawing/2014/main" id="{F8E7EEDA-4E54-9CA8-7995-D89EF4423DFF}"/>
              </a:ext>
            </a:extLst>
          </p:cNvPr>
          <p:cNvSpPr/>
          <p:nvPr/>
        </p:nvSpPr>
        <p:spPr>
          <a:xfrm>
            <a:off x="2082997" y="3757335"/>
            <a:ext cx="1616667" cy="37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1182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Mn </a:t>
            </a:r>
            <a:r>
              <a:rPr lang="ko-KR" altLang="en-US" sz="1600" b="1" dirty="0">
                <a:solidFill>
                  <a:srgbClr val="11182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추출</a:t>
            </a:r>
            <a:endParaRPr lang="en-US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76" name="Shape 33">
            <a:extLst>
              <a:ext uri="{FF2B5EF4-FFF2-40B4-BE49-F238E27FC236}">
                <a16:creationId xmlns:a16="http://schemas.microsoft.com/office/drawing/2014/main" id="{59C9707E-C1CA-8BEF-192B-6FD99759AD4C}"/>
              </a:ext>
            </a:extLst>
          </p:cNvPr>
          <p:cNvSpPr/>
          <p:nvPr/>
        </p:nvSpPr>
        <p:spPr>
          <a:xfrm>
            <a:off x="2891330" y="4132819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77" name="Shape 34">
            <a:extLst>
              <a:ext uri="{FF2B5EF4-FFF2-40B4-BE49-F238E27FC236}">
                <a16:creationId xmlns:a16="http://schemas.microsoft.com/office/drawing/2014/main" id="{D5D9B7E5-9DFC-1CF5-2734-50CB744FEA36}"/>
              </a:ext>
            </a:extLst>
          </p:cNvPr>
          <p:cNvSpPr/>
          <p:nvPr/>
        </p:nvSpPr>
        <p:spPr>
          <a:xfrm>
            <a:off x="1811814" y="4372712"/>
            <a:ext cx="208602" cy="20860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ko-KR" altLang="en-US" sz="2053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78" name="Text 35">
            <a:extLst>
              <a:ext uri="{FF2B5EF4-FFF2-40B4-BE49-F238E27FC236}">
                <a16:creationId xmlns:a16="http://schemas.microsoft.com/office/drawing/2014/main" id="{5A5DAA8B-5D4D-81CD-9CE2-ADFDFCD87CAC}"/>
              </a:ext>
            </a:extLst>
          </p:cNvPr>
          <p:cNvSpPr/>
          <p:nvPr/>
        </p:nvSpPr>
        <p:spPr>
          <a:xfrm>
            <a:off x="1811814" y="4372712"/>
            <a:ext cx="208602" cy="20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13" b="1" dirty="0">
                <a:solidFill>
                  <a:srgbClr val="FFFF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</a:t>
            </a:r>
            <a:endParaRPr lang="en-US" sz="91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79" name="Shape 36">
            <a:extLst>
              <a:ext uri="{FF2B5EF4-FFF2-40B4-BE49-F238E27FC236}">
                <a16:creationId xmlns:a16="http://schemas.microsoft.com/office/drawing/2014/main" id="{D05699E3-38A0-0993-D5D8-1BACDABE6C67}"/>
              </a:ext>
            </a:extLst>
          </p:cNvPr>
          <p:cNvSpPr/>
          <p:nvPr/>
        </p:nvSpPr>
        <p:spPr>
          <a:xfrm>
            <a:off x="2082997" y="4289271"/>
            <a:ext cx="1750738" cy="37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80" name="Text 37">
            <a:extLst>
              <a:ext uri="{FF2B5EF4-FFF2-40B4-BE49-F238E27FC236}">
                <a16:creationId xmlns:a16="http://schemas.microsoft.com/office/drawing/2014/main" id="{0189D594-EFC3-779A-C8F3-A96AEA9D021D}"/>
              </a:ext>
            </a:extLst>
          </p:cNvPr>
          <p:cNvSpPr/>
          <p:nvPr/>
        </p:nvSpPr>
        <p:spPr>
          <a:xfrm>
            <a:off x="2082997" y="4289271"/>
            <a:ext cx="1616667" cy="37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rgbClr val="11182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Co</a:t>
            </a:r>
            <a:r>
              <a:rPr lang="en-US" sz="1600" b="1" dirty="0">
                <a:solidFill>
                  <a:srgbClr val="11182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600" b="1" dirty="0">
                <a:solidFill>
                  <a:srgbClr val="11182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추출</a:t>
            </a:r>
            <a:endParaRPr lang="en-US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81" name="Shape 40">
            <a:extLst>
              <a:ext uri="{FF2B5EF4-FFF2-40B4-BE49-F238E27FC236}">
                <a16:creationId xmlns:a16="http://schemas.microsoft.com/office/drawing/2014/main" id="{0E3E3346-9753-F469-BDF2-905112E65434}"/>
              </a:ext>
            </a:extLst>
          </p:cNvPr>
          <p:cNvSpPr/>
          <p:nvPr/>
        </p:nvSpPr>
        <p:spPr>
          <a:xfrm>
            <a:off x="2891330" y="4664755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82" name="Shape 41">
            <a:extLst>
              <a:ext uri="{FF2B5EF4-FFF2-40B4-BE49-F238E27FC236}">
                <a16:creationId xmlns:a16="http://schemas.microsoft.com/office/drawing/2014/main" id="{173CEA2C-4A95-F4AD-5F9D-49E463C61480}"/>
              </a:ext>
            </a:extLst>
          </p:cNvPr>
          <p:cNvSpPr/>
          <p:nvPr/>
        </p:nvSpPr>
        <p:spPr>
          <a:xfrm>
            <a:off x="1811814" y="4904647"/>
            <a:ext cx="208602" cy="20860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ko-KR" altLang="en-US" sz="2053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83" name="Text 42">
            <a:extLst>
              <a:ext uri="{FF2B5EF4-FFF2-40B4-BE49-F238E27FC236}">
                <a16:creationId xmlns:a16="http://schemas.microsoft.com/office/drawing/2014/main" id="{77BB39E7-E609-E19C-4DBA-EA9239BA41FB}"/>
              </a:ext>
            </a:extLst>
          </p:cNvPr>
          <p:cNvSpPr/>
          <p:nvPr/>
        </p:nvSpPr>
        <p:spPr>
          <a:xfrm>
            <a:off x="1811814" y="4904647"/>
            <a:ext cx="208602" cy="20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13" b="1" dirty="0">
                <a:solidFill>
                  <a:srgbClr val="FFFF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endParaRPr lang="en-US" sz="91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84" name="Shape 43">
            <a:extLst>
              <a:ext uri="{FF2B5EF4-FFF2-40B4-BE49-F238E27FC236}">
                <a16:creationId xmlns:a16="http://schemas.microsoft.com/office/drawing/2014/main" id="{6E4D09D8-F52D-784C-607A-90D704A63051}"/>
              </a:ext>
            </a:extLst>
          </p:cNvPr>
          <p:cNvSpPr/>
          <p:nvPr/>
        </p:nvSpPr>
        <p:spPr>
          <a:xfrm>
            <a:off x="2082997" y="4821206"/>
            <a:ext cx="1750738" cy="37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85" name="Text 44">
            <a:extLst>
              <a:ext uri="{FF2B5EF4-FFF2-40B4-BE49-F238E27FC236}">
                <a16:creationId xmlns:a16="http://schemas.microsoft.com/office/drawing/2014/main" id="{0CDB94CB-24B4-252F-1CFA-E6702D49E853}"/>
              </a:ext>
            </a:extLst>
          </p:cNvPr>
          <p:cNvSpPr/>
          <p:nvPr/>
        </p:nvSpPr>
        <p:spPr>
          <a:xfrm>
            <a:off x="2082997" y="4821206"/>
            <a:ext cx="1616667" cy="37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600" b="1" dirty="0">
                <a:solidFill>
                  <a:srgbClr val="11182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Ni</a:t>
            </a:r>
            <a:r>
              <a:rPr lang="en-US" sz="1600" b="1" dirty="0">
                <a:solidFill>
                  <a:srgbClr val="11182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600" b="1" dirty="0">
                <a:solidFill>
                  <a:srgbClr val="111827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추출</a:t>
            </a:r>
            <a:endParaRPr lang="en-US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86" name="Shape 47">
            <a:extLst>
              <a:ext uri="{FF2B5EF4-FFF2-40B4-BE49-F238E27FC236}">
                <a16:creationId xmlns:a16="http://schemas.microsoft.com/office/drawing/2014/main" id="{2ABC9111-CB74-91AF-F3D6-9B579453B2F1}"/>
              </a:ext>
            </a:extLst>
          </p:cNvPr>
          <p:cNvSpPr/>
          <p:nvPr/>
        </p:nvSpPr>
        <p:spPr>
          <a:xfrm>
            <a:off x="2891330" y="5196690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87" name="Shape 48">
            <a:extLst>
              <a:ext uri="{FF2B5EF4-FFF2-40B4-BE49-F238E27FC236}">
                <a16:creationId xmlns:a16="http://schemas.microsoft.com/office/drawing/2014/main" id="{E5CC8ABA-F890-B04D-E245-BBD533ED0338}"/>
              </a:ext>
            </a:extLst>
          </p:cNvPr>
          <p:cNvSpPr/>
          <p:nvPr/>
        </p:nvSpPr>
        <p:spPr>
          <a:xfrm>
            <a:off x="1811814" y="5436583"/>
            <a:ext cx="208602" cy="20860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ko-KR" altLang="en-US" sz="2053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88" name="Text 49">
            <a:extLst>
              <a:ext uri="{FF2B5EF4-FFF2-40B4-BE49-F238E27FC236}">
                <a16:creationId xmlns:a16="http://schemas.microsoft.com/office/drawing/2014/main" id="{B28E68D7-1E71-0C27-4BAB-A1EE7634D7A4}"/>
              </a:ext>
            </a:extLst>
          </p:cNvPr>
          <p:cNvSpPr/>
          <p:nvPr/>
        </p:nvSpPr>
        <p:spPr>
          <a:xfrm>
            <a:off x="1811814" y="5436583"/>
            <a:ext cx="208602" cy="20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13" b="1" dirty="0">
                <a:solidFill>
                  <a:srgbClr val="FFFF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4</a:t>
            </a:r>
            <a:endParaRPr lang="en-US" sz="91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89" name="Shape 50">
            <a:extLst>
              <a:ext uri="{FF2B5EF4-FFF2-40B4-BE49-F238E27FC236}">
                <a16:creationId xmlns:a16="http://schemas.microsoft.com/office/drawing/2014/main" id="{04BBF313-8E4A-E3D2-0128-13BF8DFCEBB8}"/>
              </a:ext>
            </a:extLst>
          </p:cNvPr>
          <p:cNvSpPr/>
          <p:nvPr/>
        </p:nvSpPr>
        <p:spPr>
          <a:xfrm>
            <a:off x="2082997" y="5353142"/>
            <a:ext cx="1750738" cy="37548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ctr"/>
            <a:r>
              <a:rPr lang="ko-KR" altLang="en-US" sz="16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역추출</a:t>
            </a:r>
            <a:endParaRPr lang="ko-KR" altLang="en-US" sz="16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90" name="Text 53">
            <a:extLst>
              <a:ext uri="{FF2B5EF4-FFF2-40B4-BE49-F238E27FC236}">
                <a16:creationId xmlns:a16="http://schemas.microsoft.com/office/drawing/2014/main" id="{E7A5F853-0A74-47C2-DCA9-D5BC3149E3AE}"/>
              </a:ext>
            </a:extLst>
          </p:cNvPr>
          <p:cNvSpPr/>
          <p:nvPr/>
        </p:nvSpPr>
        <p:spPr>
          <a:xfrm>
            <a:off x="645929" y="4625478"/>
            <a:ext cx="907728" cy="27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4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단계</a:t>
            </a:r>
          </a:p>
        </p:txBody>
      </p:sp>
      <p:sp>
        <p:nvSpPr>
          <p:cNvPr id="591" name="Shape 52">
            <a:extLst>
              <a:ext uri="{FF2B5EF4-FFF2-40B4-BE49-F238E27FC236}">
                <a16:creationId xmlns:a16="http://schemas.microsoft.com/office/drawing/2014/main" id="{4FB9DCB7-D543-B0FC-9174-33E0DA2984F2}"/>
              </a:ext>
            </a:extLst>
          </p:cNvPr>
          <p:cNvSpPr/>
          <p:nvPr/>
        </p:nvSpPr>
        <p:spPr>
          <a:xfrm flipH="1">
            <a:off x="1616238" y="3812938"/>
            <a:ext cx="87009" cy="192134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/>
        </p:spPr>
        <p:txBody>
          <a:bodyPr/>
          <a:lstStyle/>
          <a:p>
            <a:endParaRPr lang="ko-KR" altLang="en-US" sz="2053" dirty="0"/>
          </a:p>
        </p:txBody>
      </p:sp>
      <p:sp>
        <p:nvSpPr>
          <p:cNvPr id="592" name="Shape 47">
            <a:extLst>
              <a:ext uri="{FF2B5EF4-FFF2-40B4-BE49-F238E27FC236}">
                <a16:creationId xmlns:a16="http://schemas.microsoft.com/office/drawing/2014/main" id="{CDF14FB1-6773-D1CF-895A-D25A1E0CF28D}"/>
              </a:ext>
            </a:extLst>
          </p:cNvPr>
          <p:cNvSpPr/>
          <p:nvPr/>
        </p:nvSpPr>
        <p:spPr>
          <a:xfrm>
            <a:off x="2884980" y="5734279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593" name="Shape 50">
            <a:extLst>
              <a:ext uri="{FF2B5EF4-FFF2-40B4-BE49-F238E27FC236}">
                <a16:creationId xmlns:a16="http://schemas.microsoft.com/office/drawing/2014/main" id="{730A9AEC-D145-A92D-B840-1E7A86E01AC2}"/>
              </a:ext>
            </a:extLst>
          </p:cNvPr>
          <p:cNvSpPr/>
          <p:nvPr/>
        </p:nvSpPr>
        <p:spPr>
          <a:xfrm>
            <a:off x="2078765" y="5884382"/>
            <a:ext cx="1616667" cy="7066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ctr"/>
            <a:r>
              <a:rPr lang="ko-KR" altLang="en-US" sz="1600" b="1" u="sng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증발 농축 기반</a:t>
            </a:r>
            <a:endParaRPr lang="en-US" altLang="ko-KR" sz="1600" b="1" u="sng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ko-KR" altLang="en-US" sz="1600" b="1" u="sng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b="1" u="sng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Li </a:t>
            </a:r>
            <a:r>
              <a:rPr lang="ko-KR" altLang="en-US" sz="1600" b="1" u="sng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회수 </a:t>
            </a:r>
            <a:r>
              <a:rPr lang="en-US" altLang="ko-KR" sz="1600" b="1" u="sng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(3.12%)</a:t>
            </a:r>
            <a:endParaRPr lang="ko-KR" altLang="en-US" sz="1600" b="1" u="sng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595" name="그룹 594">
            <a:extLst>
              <a:ext uri="{FF2B5EF4-FFF2-40B4-BE49-F238E27FC236}">
                <a16:creationId xmlns:a16="http://schemas.microsoft.com/office/drawing/2014/main" id="{96511A22-413F-01B9-45A5-1614534678CA}"/>
              </a:ext>
            </a:extLst>
          </p:cNvPr>
          <p:cNvGrpSpPr/>
          <p:nvPr/>
        </p:nvGrpSpPr>
        <p:grpSpPr>
          <a:xfrm>
            <a:off x="7144777" y="2135654"/>
            <a:ext cx="3865525" cy="2281037"/>
            <a:chOff x="7144777" y="2316629"/>
            <a:chExt cx="3865525" cy="2281037"/>
          </a:xfrm>
        </p:grpSpPr>
        <p:sp>
          <p:nvSpPr>
            <p:cNvPr id="596" name="Text 5">
              <a:extLst>
                <a:ext uri="{FF2B5EF4-FFF2-40B4-BE49-F238E27FC236}">
                  <a16:creationId xmlns:a16="http://schemas.microsoft.com/office/drawing/2014/main" id="{2676D913-85E4-67EB-0ECB-F3C29EE230A4}"/>
                </a:ext>
              </a:extLst>
            </p:cNvPr>
            <p:cNvSpPr/>
            <p:nvPr/>
          </p:nvSpPr>
          <p:spPr>
            <a:xfrm>
              <a:off x="7674757" y="2316629"/>
              <a:ext cx="2413730" cy="552727"/>
            </a:xfrm>
            <a:prstGeom prst="rect">
              <a:avLst/>
            </a:prstGeom>
            <a:noFill/>
            <a:ln>
              <a:solidFill>
                <a:srgbClr val="034443"/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034443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NCM </a:t>
              </a:r>
              <a:r>
                <a:rPr lang="en-US" altLang="ko-KR" sz="1600" b="1" dirty="0">
                  <a:solidFill>
                    <a:srgbClr val="034443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or LFP </a:t>
              </a:r>
              <a:r>
                <a:rPr lang="ko-KR" altLang="en-US" sz="1600" b="1" dirty="0">
                  <a:solidFill>
                    <a:srgbClr val="034443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스크랩</a:t>
              </a:r>
              <a:endParaRPr lang="en-US" sz="1600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597" name="Shape 6">
              <a:extLst>
                <a:ext uri="{FF2B5EF4-FFF2-40B4-BE49-F238E27FC236}">
                  <a16:creationId xmlns:a16="http://schemas.microsoft.com/office/drawing/2014/main" id="{3E15514E-883B-768D-0DCA-FDD8F7962BD6}"/>
                </a:ext>
              </a:extLst>
            </p:cNvPr>
            <p:cNvSpPr/>
            <p:nvPr/>
          </p:nvSpPr>
          <p:spPr>
            <a:xfrm>
              <a:off x="9824026" y="2934395"/>
              <a:ext cx="0" cy="156452"/>
            </a:xfrm>
            <a:prstGeom prst="line">
              <a:avLst/>
            </a:prstGeom>
            <a:noFill/>
            <a:ln w="15240">
              <a:solidFill>
                <a:srgbClr val="2E4460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598" name="Shape 9">
              <a:extLst>
                <a:ext uri="{FF2B5EF4-FFF2-40B4-BE49-F238E27FC236}">
                  <a16:creationId xmlns:a16="http://schemas.microsoft.com/office/drawing/2014/main" id="{0311842D-E4F7-3356-E3A9-1D59457F7D71}"/>
                </a:ext>
              </a:extLst>
            </p:cNvPr>
            <p:cNvSpPr/>
            <p:nvPr/>
          </p:nvSpPr>
          <p:spPr>
            <a:xfrm>
              <a:off x="9015693" y="3146997"/>
              <a:ext cx="1736845" cy="3754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599" name="Text 10">
              <a:extLst>
                <a:ext uri="{FF2B5EF4-FFF2-40B4-BE49-F238E27FC236}">
                  <a16:creationId xmlns:a16="http://schemas.microsoft.com/office/drawing/2014/main" id="{B73D9995-5E34-ACCD-53F9-826C981419DF}"/>
                </a:ext>
              </a:extLst>
            </p:cNvPr>
            <p:cNvSpPr/>
            <p:nvPr/>
          </p:nvSpPr>
          <p:spPr>
            <a:xfrm>
              <a:off x="9015693" y="3146997"/>
              <a:ext cx="1736844" cy="375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600" b="1" dirty="0" err="1">
                  <a:solidFill>
                    <a:srgbClr val="111827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침출</a:t>
              </a:r>
              <a:endPara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00" name="Shape 16">
              <a:extLst>
                <a:ext uri="{FF2B5EF4-FFF2-40B4-BE49-F238E27FC236}">
                  <a16:creationId xmlns:a16="http://schemas.microsoft.com/office/drawing/2014/main" id="{8792F455-B585-8EEE-54F2-D8C735D834ED}"/>
                </a:ext>
              </a:extLst>
            </p:cNvPr>
            <p:cNvSpPr/>
            <p:nvPr/>
          </p:nvSpPr>
          <p:spPr>
            <a:xfrm>
              <a:off x="9824026" y="3522481"/>
              <a:ext cx="0" cy="156452"/>
            </a:xfrm>
            <a:prstGeom prst="line">
              <a:avLst/>
            </a:prstGeom>
            <a:noFill/>
            <a:ln w="15240">
              <a:solidFill>
                <a:srgbClr val="2E4460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01" name="Shape 19">
              <a:extLst>
                <a:ext uri="{FF2B5EF4-FFF2-40B4-BE49-F238E27FC236}">
                  <a16:creationId xmlns:a16="http://schemas.microsoft.com/office/drawing/2014/main" id="{8FE6D986-974A-EA25-1207-3735A9BD39CE}"/>
                </a:ext>
              </a:extLst>
            </p:cNvPr>
            <p:cNvSpPr/>
            <p:nvPr/>
          </p:nvSpPr>
          <p:spPr>
            <a:xfrm>
              <a:off x="9015693" y="3678933"/>
              <a:ext cx="1736845" cy="3754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02" name="Text 20">
              <a:extLst>
                <a:ext uri="{FF2B5EF4-FFF2-40B4-BE49-F238E27FC236}">
                  <a16:creationId xmlns:a16="http://schemas.microsoft.com/office/drawing/2014/main" id="{D46628E0-080B-CA5E-427E-EFE4741591F0}"/>
                </a:ext>
              </a:extLst>
            </p:cNvPr>
            <p:cNvSpPr/>
            <p:nvPr/>
          </p:nvSpPr>
          <p:spPr>
            <a:xfrm>
              <a:off x="9015693" y="3678933"/>
              <a:ext cx="1736845" cy="375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600" b="1" dirty="0">
                  <a:solidFill>
                    <a:srgbClr val="111827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불순물 제거</a:t>
              </a:r>
              <a:endPara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03" name="Shape 26">
              <a:extLst>
                <a:ext uri="{FF2B5EF4-FFF2-40B4-BE49-F238E27FC236}">
                  <a16:creationId xmlns:a16="http://schemas.microsoft.com/office/drawing/2014/main" id="{3CEE1525-93B0-1B56-DF35-8D69F768070D}"/>
                </a:ext>
              </a:extLst>
            </p:cNvPr>
            <p:cNvSpPr/>
            <p:nvPr/>
          </p:nvSpPr>
          <p:spPr>
            <a:xfrm>
              <a:off x="9824026" y="4054417"/>
              <a:ext cx="0" cy="156452"/>
            </a:xfrm>
            <a:prstGeom prst="line">
              <a:avLst/>
            </a:prstGeom>
            <a:noFill/>
            <a:ln w="15240">
              <a:solidFill>
                <a:srgbClr val="2E4460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05" name="Text 28">
              <a:extLst>
                <a:ext uri="{FF2B5EF4-FFF2-40B4-BE49-F238E27FC236}">
                  <a16:creationId xmlns:a16="http://schemas.microsoft.com/office/drawing/2014/main" id="{1DBEC4DD-48BE-F514-0F33-F2B06355E283}"/>
                </a:ext>
              </a:extLst>
            </p:cNvPr>
            <p:cNvSpPr/>
            <p:nvPr/>
          </p:nvSpPr>
          <p:spPr>
            <a:xfrm>
              <a:off x="10801700" y="4294309"/>
              <a:ext cx="208602" cy="2086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13" b="1" dirty="0">
                  <a:solidFill>
                    <a:srgbClr val="FFFFFF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</a:t>
              </a:r>
              <a:endParaRPr lang="en-US" sz="913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06" name="Shape 50">
              <a:extLst>
                <a:ext uri="{FF2B5EF4-FFF2-40B4-BE49-F238E27FC236}">
                  <a16:creationId xmlns:a16="http://schemas.microsoft.com/office/drawing/2014/main" id="{E1D4832E-F493-52D1-F6B1-11C2A4B7294D}"/>
                </a:ext>
              </a:extLst>
            </p:cNvPr>
            <p:cNvSpPr/>
            <p:nvPr/>
          </p:nvSpPr>
          <p:spPr>
            <a:xfrm>
              <a:off x="9015693" y="4222182"/>
              <a:ext cx="1736845" cy="375484"/>
            </a:xfrm>
            <a:prstGeom prst="rect">
              <a:avLst/>
            </a:prstGeom>
            <a:solidFill>
              <a:srgbClr val="AFE2E3"/>
            </a:solidFill>
            <a:ln w="12700">
              <a:solidFill>
                <a:schemeClr val="tx1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n-US" altLang="ko-KR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Li </a:t>
              </a:r>
              <a:r>
                <a:rPr lang="ko-KR" alt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추출</a:t>
              </a:r>
            </a:p>
          </p:txBody>
        </p:sp>
        <p:sp>
          <p:nvSpPr>
            <p:cNvPr id="608" name="Shape 50">
              <a:extLst>
                <a:ext uri="{FF2B5EF4-FFF2-40B4-BE49-F238E27FC236}">
                  <a16:creationId xmlns:a16="http://schemas.microsoft.com/office/drawing/2014/main" id="{0CC269E4-1E43-658B-B2D7-A29217765D21}"/>
                </a:ext>
              </a:extLst>
            </p:cNvPr>
            <p:cNvSpPr/>
            <p:nvPr/>
          </p:nvSpPr>
          <p:spPr>
            <a:xfrm>
              <a:off x="7151793" y="3146997"/>
              <a:ext cx="1736845" cy="375484"/>
            </a:xfrm>
            <a:prstGeom prst="rect">
              <a:avLst/>
            </a:prstGeom>
            <a:solidFill>
              <a:srgbClr val="AFE2E3"/>
            </a:solidFill>
            <a:ln w="12700">
              <a:solidFill>
                <a:schemeClr val="tx1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n-US" altLang="ko-KR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Li </a:t>
              </a:r>
              <a:r>
                <a:rPr lang="ko-KR" altLang="en-US" sz="16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추출</a:t>
              </a:r>
            </a:p>
          </p:txBody>
        </p:sp>
        <p:sp>
          <p:nvSpPr>
            <p:cNvPr id="609" name="Shape 26">
              <a:extLst>
                <a:ext uri="{FF2B5EF4-FFF2-40B4-BE49-F238E27FC236}">
                  <a16:creationId xmlns:a16="http://schemas.microsoft.com/office/drawing/2014/main" id="{E17C5107-471D-5E61-58B6-2187194F185D}"/>
                </a:ext>
              </a:extLst>
            </p:cNvPr>
            <p:cNvSpPr/>
            <p:nvPr/>
          </p:nvSpPr>
          <p:spPr>
            <a:xfrm>
              <a:off x="8020215" y="2934395"/>
              <a:ext cx="0" cy="156452"/>
            </a:xfrm>
            <a:prstGeom prst="line">
              <a:avLst/>
            </a:prstGeom>
            <a:noFill/>
            <a:ln w="15240">
              <a:solidFill>
                <a:srgbClr val="2E4460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10" name="Shape 6">
              <a:extLst>
                <a:ext uri="{FF2B5EF4-FFF2-40B4-BE49-F238E27FC236}">
                  <a16:creationId xmlns:a16="http://schemas.microsoft.com/office/drawing/2014/main" id="{4544F841-A568-C1D1-409F-B8E22684C904}"/>
                </a:ext>
              </a:extLst>
            </p:cNvPr>
            <p:cNvSpPr/>
            <p:nvPr/>
          </p:nvSpPr>
          <p:spPr>
            <a:xfrm>
              <a:off x="8020215" y="3540366"/>
              <a:ext cx="0" cy="156452"/>
            </a:xfrm>
            <a:prstGeom prst="line">
              <a:avLst/>
            </a:prstGeom>
            <a:noFill/>
            <a:ln w="15240">
              <a:solidFill>
                <a:srgbClr val="2E4460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11" name="Shape 9">
              <a:extLst>
                <a:ext uri="{FF2B5EF4-FFF2-40B4-BE49-F238E27FC236}">
                  <a16:creationId xmlns:a16="http://schemas.microsoft.com/office/drawing/2014/main" id="{9646545D-D20F-7FB1-B7C9-1CB652B8A67D}"/>
                </a:ext>
              </a:extLst>
            </p:cNvPr>
            <p:cNvSpPr/>
            <p:nvPr/>
          </p:nvSpPr>
          <p:spPr>
            <a:xfrm>
              <a:off x="7144777" y="3678933"/>
              <a:ext cx="1736845" cy="3754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solid"/>
            </a:ln>
            <a:effectLst>
              <a:outerShdw blurRad="381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ko-KR" altLang="en-US" sz="160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12" name="Text 10">
              <a:extLst>
                <a:ext uri="{FF2B5EF4-FFF2-40B4-BE49-F238E27FC236}">
                  <a16:creationId xmlns:a16="http://schemas.microsoft.com/office/drawing/2014/main" id="{E8BCCEA5-3F7F-B093-1A86-27EC3185E14D}"/>
                </a:ext>
              </a:extLst>
            </p:cNvPr>
            <p:cNvSpPr/>
            <p:nvPr/>
          </p:nvSpPr>
          <p:spPr>
            <a:xfrm>
              <a:off x="7151793" y="3696818"/>
              <a:ext cx="1736844" cy="375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600" b="1" dirty="0" err="1">
                  <a:solidFill>
                    <a:srgbClr val="111827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침출</a:t>
              </a:r>
              <a:r>
                <a:rPr lang="ko-KR" altLang="en-US" sz="1600" b="1" dirty="0">
                  <a:solidFill>
                    <a:srgbClr val="111827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후</a:t>
              </a:r>
              <a:r>
                <a:rPr lang="en-US" altLang="ko-KR" sz="1600" b="1" dirty="0">
                  <a:solidFill>
                    <a:srgbClr val="111827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1600" b="1" dirty="0">
                  <a:solidFill>
                    <a:srgbClr val="111827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재활용</a:t>
              </a:r>
              <a:endParaRPr lang="en-US" altLang="ko-KR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sp>
        <p:nvSpPr>
          <p:cNvPr id="6" name="TextBox 19">
            <a:extLst>
              <a:ext uri="{FF2B5EF4-FFF2-40B4-BE49-F238E27FC236}">
                <a16:creationId xmlns:a16="http://schemas.microsoft.com/office/drawing/2014/main" id="{FD45AC98-C88D-3AA2-EB24-030B2F33FE91}"/>
              </a:ext>
            </a:extLst>
          </p:cNvPr>
          <p:cNvSpPr txBox="1"/>
          <p:nvPr/>
        </p:nvSpPr>
        <p:spPr>
          <a:xfrm>
            <a:off x="136180" y="6734889"/>
            <a:ext cx="11805301" cy="12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defRPr sz="900" spc="-30">
                <a:solidFill>
                  <a:srgbClr val="AFABAB"/>
                </a:solidFill>
                <a:latin typeface="Pretendard Thin"/>
                <a:ea typeface="Pretendard Thin"/>
                <a:cs typeface="Pretendard Thin"/>
                <a:sym typeface="Pretendard Thin"/>
              </a:defRPr>
            </a:pPr>
            <a:r>
              <a:rPr lang="en-US" altLang="ko-KR" sz="8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Source</a:t>
            </a:r>
            <a:r>
              <a:rPr lang="en-US" altLang="ko-KR" sz="800" spc="-30" dirty="0">
                <a:solidFill>
                  <a:srgbClr val="AFABAB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spc="-30" dirty="0" err="1">
                <a:solidFill>
                  <a:srgbClr val="AFABAB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한국광해광업공단</a:t>
            </a:r>
            <a:r>
              <a:rPr lang="en-US" altLang="ko-KR" sz="800" spc="-30" dirty="0">
                <a:solidFill>
                  <a:srgbClr val="AFABAB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(2024), </a:t>
            </a:r>
            <a:r>
              <a:rPr lang="ko-KR" altLang="en-US" sz="800" spc="-30" dirty="0">
                <a:solidFill>
                  <a:srgbClr val="AFABAB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오세희 의원실 </a:t>
            </a:r>
            <a:r>
              <a:rPr lang="en-US" altLang="ko-KR" sz="800" spc="-30" dirty="0">
                <a:solidFill>
                  <a:srgbClr val="AFABAB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2025 </a:t>
            </a:r>
            <a:r>
              <a:rPr lang="ko-KR" altLang="en-US" sz="800" spc="-30" dirty="0">
                <a:solidFill>
                  <a:srgbClr val="AFABAB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국정감사 분석</a:t>
            </a:r>
            <a:r>
              <a:rPr lang="en-US" altLang="ko-KR" sz="800" spc="-30" dirty="0">
                <a:solidFill>
                  <a:srgbClr val="AFABAB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; John Moore/Getty Images, Chile Mines Lithium From Salt Flats of Atacama Desert (2022); Controlled Thermal Resources, via Chemical &amp; Engineering News (2024)</a:t>
            </a:r>
          </a:p>
        </p:txBody>
      </p:sp>
      <p:pic>
        <p:nvPicPr>
          <p:cNvPr id="7" name="그림 6" descr="Chile Mines Lithium From Salt Flats Of Atacama Desert">
            <a:extLst>
              <a:ext uri="{FF2B5EF4-FFF2-40B4-BE49-F238E27FC236}">
                <a16:creationId xmlns:a16="http://schemas.microsoft.com/office/drawing/2014/main" id="{BCB9D2AA-6A4D-A058-ABFE-0B365CCAC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6952" y="5152812"/>
            <a:ext cx="1750738" cy="1253214"/>
          </a:xfrm>
          <a:prstGeom prst="rect">
            <a:avLst/>
          </a:prstGeom>
        </p:spPr>
      </p:pic>
      <p:sp>
        <p:nvSpPr>
          <p:cNvPr id="10" name="Shape 50">
            <a:extLst>
              <a:ext uri="{FF2B5EF4-FFF2-40B4-BE49-F238E27FC236}">
                <a16:creationId xmlns:a16="http://schemas.microsoft.com/office/drawing/2014/main" id="{BB13A738-B708-408C-2380-FEA6B94EF94F}"/>
              </a:ext>
            </a:extLst>
          </p:cNvPr>
          <p:cNvSpPr/>
          <p:nvPr/>
        </p:nvSpPr>
        <p:spPr>
          <a:xfrm>
            <a:off x="8576182" y="6403385"/>
            <a:ext cx="1616667" cy="405049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ctr"/>
            <a:r>
              <a:rPr lang="ko-KR" altLang="en-US" sz="1600" b="1" u="sng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기존 </a:t>
            </a:r>
            <a:r>
              <a:rPr lang="en-US" altLang="ko-KR" sz="1600" b="1" u="sng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DLE (</a:t>
            </a:r>
            <a:r>
              <a:rPr lang="ko-KR" altLang="en-US" sz="1600" b="1" u="sng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증발법</a:t>
            </a:r>
            <a:r>
              <a:rPr lang="en-US" altLang="ko-KR" sz="1600" b="1" u="sng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endParaRPr lang="ko-KR" altLang="en-US" sz="1600" b="1" u="sng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1" name="그림 10" descr="Lithium producers zero in on technology for direct extraction">
            <a:extLst>
              <a:ext uri="{FF2B5EF4-FFF2-40B4-BE49-F238E27FC236}">
                <a16:creationId xmlns:a16="http://schemas.microsoft.com/office/drawing/2014/main" id="{9D4E5147-A825-53E6-AA6C-AB48A8A75C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689" y="5154414"/>
            <a:ext cx="2190321" cy="1251612"/>
          </a:xfrm>
          <a:prstGeom prst="rect">
            <a:avLst/>
          </a:prstGeom>
        </p:spPr>
      </p:pic>
      <p:sp>
        <p:nvSpPr>
          <p:cNvPr id="13" name="Shape 19">
            <a:extLst>
              <a:ext uri="{FF2B5EF4-FFF2-40B4-BE49-F238E27FC236}">
                <a16:creationId xmlns:a16="http://schemas.microsoft.com/office/drawing/2014/main" id="{F0538A35-484E-2BC1-7A5B-65BB5D5CFA88}"/>
              </a:ext>
            </a:extLst>
          </p:cNvPr>
          <p:cNvSpPr/>
          <p:nvPr/>
        </p:nvSpPr>
        <p:spPr>
          <a:xfrm>
            <a:off x="9039299" y="4583487"/>
            <a:ext cx="1736845" cy="3754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ctr"/>
            <a:r>
              <a:rPr lang="ko-KR" altLang="en-US" sz="16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추출 후 재활용</a:t>
            </a:r>
          </a:p>
        </p:txBody>
      </p:sp>
      <p:sp>
        <p:nvSpPr>
          <p:cNvPr id="15" name="Shape 26">
            <a:extLst>
              <a:ext uri="{FF2B5EF4-FFF2-40B4-BE49-F238E27FC236}">
                <a16:creationId xmlns:a16="http://schemas.microsoft.com/office/drawing/2014/main" id="{08DF8090-250F-72C3-1064-65B2305A2F5E}"/>
              </a:ext>
            </a:extLst>
          </p:cNvPr>
          <p:cNvSpPr/>
          <p:nvPr/>
        </p:nvSpPr>
        <p:spPr>
          <a:xfrm>
            <a:off x="9824026" y="4416691"/>
            <a:ext cx="0" cy="156452"/>
          </a:xfrm>
          <a:prstGeom prst="line">
            <a:avLst/>
          </a:prstGeom>
          <a:noFill/>
          <a:ln w="15240">
            <a:solidFill>
              <a:srgbClr val="2E4460"/>
            </a:solidFill>
            <a:prstDash val="solid"/>
          </a:ln>
        </p:spPr>
        <p:txBody>
          <a:bodyPr/>
          <a:lstStyle/>
          <a:p>
            <a:endParaRPr lang="ko-KR" altLang="en-US" sz="16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" name="Shape 52">
            <a:extLst>
              <a:ext uri="{FF2B5EF4-FFF2-40B4-BE49-F238E27FC236}">
                <a16:creationId xmlns:a16="http://schemas.microsoft.com/office/drawing/2014/main" id="{67038CA5-B242-3DD8-ECBC-9D8616D39DB0}"/>
              </a:ext>
            </a:extLst>
          </p:cNvPr>
          <p:cNvSpPr/>
          <p:nvPr/>
        </p:nvSpPr>
        <p:spPr>
          <a:xfrm flipH="1">
            <a:off x="10825306" y="3978980"/>
            <a:ext cx="87009" cy="612000"/>
          </a:xfrm>
          <a:prstGeom prst="rect">
            <a:avLst/>
          </a:prstGeom>
          <a:solidFill>
            <a:srgbClr val="034443"/>
          </a:solidFill>
          <a:ln/>
        </p:spPr>
        <p:txBody>
          <a:bodyPr/>
          <a:lstStyle/>
          <a:p>
            <a:endParaRPr lang="ko-KR" altLang="en-US" sz="2053" dirty="0"/>
          </a:p>
        </p:txBody>
      </p:sp>
      <p:sp>
        <p:nvSpPr>
          <p:cNvPr id="19" name="Shape 27">
            <a:extLst>
              <a:ext uri="{FF2B5EF4-FFF2-40B4-BE49-F238E27FC236}">
                <a16:creationId xmlns:a16="http://schemas.microsoft.com/office/drawing/2014/main" id="{33A8DEB3-C144-78C7-B8A5-ED0C684D40D7}"/>
              </a:ext>
            </a:extLst>
          </p:cNvPr>
          <p:cNvSpPr/>
          <p:nvPr/>
        </p:nvSpPr>
        <p:spPr>
          <a:xfrm>
            <a:off x="10973352" y="4188854"/>
            <a:ext cx="208602" cy="208602"/>
          </a:xfrm>
          <a:prstGeom prst="ellipse">
            <a:avLst/>
          </a:prstGeom>
          <a:solidFill>
            <a:srgbClr val="034443"/>
          </a:solidFill>
          <a:ln/>
        </p:spPr>
        <p:txBody>
          <a:bodyPr/>
          <a:lstStyle/>
          <a:p>
            <a:endParaRPr lang="ko-KR" altLang="en-US" sz="205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1" name="Text 28">
            <a:extLst>
              <a:ext uri="{FF2B5EF4-FFF2-40B4-BE49-F238E27FC236}">
                <a16:creationId xmlns:a16="http://schemas.microsoft.com/office/drawing/2014/main" id="{2B3C671B-836A-9EFD-EA57-559573171E74}"/>
              </a:ext>
            </a:extLst>
          </p:cNvPr>
          <p:cNvSpPr/>
          <p:nvPr/>
        </p:nvSpPr>
        <p:spPr>
          <a:xfrm>
            <a:off x="10973352" y="4195809"/>
            <a:ext cx="208602" cy="20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13" b="1" dirty="0">
                <a:solidFill>
                  <a:srgbClr val="FFFF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endParaRPr lang="en-US" sz="91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3" name="Text 93">
            <a:extLst>
              <a:ext uri="{FF2B5EF4-FFF2-40B4-BE49-F238E27FC236}">
                <a16:creationId xmlns:a16="http://schemas.microsoft.com/office/drawing/2014/main" id="{00DEB9BF-4C52-8B47-AA9F-AABDCFB947BD}"/>
              </a:ext>
            </a:extLst>
          </p:cNvPr>
          <p:cNvSpPr/>
          <p:nvPr/>
        </p:nvSpPr>
        <p:spPr>
          <a:xfrm>
            <a:off x="11220484" y="4161712"/>
            <a:ext cx="992833" cy="38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600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</a:t>
            </a:r>
            <a:r>
              <a:rPr lang="ko-KR" altLang="en-US" sz="1600" dirty="0">
                <a:solidFill>
                  <a:srgbClr val="034443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단계</a:t>
            </a:r>
          </a:p>
        </p:txBody>
      </p:sp>
      <p:sp>
        <p:nvSpPr>
          <p:cNvPr id="5" name="Shape 52">
            <a:extLst>
              <a:ext uri="{FF2B5EF4-FFF2-40B4-BE49-F238E27FC236}">
                <a16:creationId xmlns:a16="http://schemas.microsoft.com/office/drawing/2014/main" id="{4CF40C11-B752-FF3C-FF3F-BE2B1E541667}"/>
              </a:ext>
            </a:extLst>
          </p:cNvPr>
          <p:cNvSpPr/>
          <p:nvPr/>
        </p:nvSpPr>
        <p:spPr>
          <a:xfrm flipH="1">
            <a:off x="7004695" y="2863898"/>
            <a:ext cx="87009" cy="612000"/>
          </a:xfrm>
          <a:prstGeom prst="rect">
            <a:avLst/>
          </a:prstGeom>
          <a:solidFill>
            <a:srgbClr val="034443"/>
          </a:solidFill>
          <a:ln/>
        </p:spPr>
        <p:txBody>
          <a:bodyPr/>
          <a:lstStyle/>
          <a:p>
            <a:endParaRPr lang="ko-KR" altLang="en-US" sz="2053" dirty="0"/>
          </a:p>
        </p:txBody>
      </p:sp>
      <p:sp>
        <p:nvSpPr>
          <p:cNvPr id="8" name="Shape 27">
            <a:extLst>
              <a:ext uri="{FF2B5EF4-FFF2-40B4-BE49-F238E27FC236}">
                <a16:creationId xmlns:a16="http://schemas.microsoft.com/office/drawing/2014/main" id="{9BD8327E-1FC7-3203-5482-4EF5EA56113A}"/>
              </a:ext>
            </a:extLst>
          </p:cNvPr>
          <p:cNvSpPr/>
          <p:nvPr/>
        </p:nvSpPr>
        <p:spPr>
          <a:xfrm>
            <a:off x="6743159" y="3073772"/>
            <a:ext cx="208602" cy="208602"/>
          </a:xfrm>
          <a:prstGeom prst="ellipse">
            <a:avLst/>
          </a:prstGeom>
          <a:solidFill>
            <a:srgbClr val="034443"/>
          </a:solidFill>
          <a:ln/>
        </p:spPr>
        <p:txBody>
          <a:bodyPr/>
          <a:lstStyle/>
          <a:p>
            <a:endParaRPr lang="ko-KR" altLang="en-US" sz="205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" name="Text 28">
            <a:extLst>
              <a:ext uri="{FF2B5EF4-FFF2-40B4-BE49-F238E27FC236}">
                <a16:creationId xmlns:a16="http://schemas.microsoft.com/office/drawing/2014/main" id="{9BFA19CA-C18C-6F4C-C51B-AD8FE4A2A28E}"/>
              </a:ext>
            </a:extLst>
          </p:cNvPr>
          <p:cNvSpPr/>
          <p:nvPr/>
        </p:nvSpPr>
        <p:spPr>
          <a:xfrm>
            <a:off x="6743159" y="3080727"/>
            <a:ext cx="208602" cy="20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13" b="1" dirty="0">
                <a:solidFill>
                  <a:srgbClr val="FFFFFF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endParaRPr lang="en-US" sz="913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4986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124</Words>
  <Application>Microsoft Office PowerPoint</Application>
  <PresentationFormat>와이드스크린</PresentationFormat>
  <Paragraphs>34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Arial</vt:lpstr>
      <vt:lpstr>Pretendard ExtraBold</vt:lpstr>
      <vt:lpstr>Pretendard Light</vt:lpstr>
      <vt:lpstr>Pretendard SemiBold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5</cp:revision>
  <dcterms:created xsi:type="dcterms:W3CDTF">2026-08-13T08:23:15Z</dcterms:created>
  <dcterms:modified xsi:type="dcterms:W3CDTF">2026-08-13T09:02:42Z</dcterms:modified>
</cp:coreProperties>
</file>