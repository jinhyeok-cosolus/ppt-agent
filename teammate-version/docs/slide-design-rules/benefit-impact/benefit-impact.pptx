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991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83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G:\&#45796;&#47480;%20&#52980;&#54504;&#53552;\&#45236;%20&#52980;&#54504;&#53552;\Dropbox\0.%20&#53076;&#49556;&#47084;&#49828;%20&#50629;&#47924;\1.%20&#44284;&#51228;\2026\14.%20&#50549;&#52964;&#44592;&#50629;%20&#44284;&#51228;%20(&#54788;&#45824;&#52264;)\(&#49324;&#50857;)%20McCabe_Thiele_Extraction_Simulator-v2%20(&#44536;&#47000;&#54532;1)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G:\&#45796;&#47480;%20&#52980;&#54504;&#53552;\&#45236;%20&#52980;&#54504;&#53552;\Dropbox\0.%20&#53076;&#49556;&#47084;&#49828;%20&#50629;&#47924;\1.%20&#44284;&#51228;\2026\14.%20&#50549;&#52964;&#44592;&#50629;%20&#44284;&#51228;%20(&#54788;&#45824;&#52264;)\(&#49324;&#50857;)%20McCabe_Thiele_Extraction_Simulator-v2%20(&#44536;&#47000;&#54532;2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평형선 (Equilibrium Line: Y = D*X)</c:v>
          </c:tx>
          <c:spPr>
            <a:ln w="38100">
              <a:solidFill>
                <a:srgbClr val="034443"/>
              </a:solidFill>
              <a:prstDash val="solid"/>
            </a:ln>
          </c:spPr>
          <c:marker>
            <c:symbol val="none"/>
          </c:marker>
          <c:xVal>
            <c:numRef>
              <c:f>Simulation_Data!$A$2:$A$12</c:f>
              <c:numCache>
                <c:formatCode>0.0000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Simulation_Data!$B$2:$B$12</c:f>
              <c:numCache>
                <c:formatCode>0.0000</c:formatCode>
                <c:ptCount val="11"/>
                <c:pt idx="0">
                  <c:v>0</c:v>
                </c:pt>
                <c:pt idx="1">
                  <c:v>0.28500000000000003</c:v>
                </c:pt>
                <c:pt idx="2">
                  <c:v>0.57000000000000006</c:v>
                </c:pt>
                <c:pt idx="3">
                  <c:v>0.85499999999999998</c:v>
                </c:pt>
                <c:pt idx="4">
                  <c:v>1.1400000000000001</c:v>
                </c:pt>
                <c:pt idx="5">
                  <c:v>1.425</c:v>
                </c:pt>
                <c:pt idx="6">
                  <c:v>1.71</c:v>
                </c:pt>
                <c:pt idx="7">
                  <c:v>1.9949999999999999</c:v>
                </c:pt>
                <c:pt idx="8">
                  <c:v>2.2800000000000002</c:v>
                </c:pt>
                <c:pt idx="9">
                  <c:v>2.5649999999999999</c:v>
                </c:pt>
                <c:pt idx="10">
                  <c:v>2.85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114-4BFA-A20E-BA5B07A7A276}"/>
            </c:ext>
          </c:extLst>
        </c:ser>
        <c:ser>
          <c:idx val="1"/>
          <c:order val="1"/>
          <c:tx>
            <c:v>조작선 (Operating Line)</c:v>
          </c:tx>
          <c:spPr>
            <a:ln w="25000">
              <a:solidFill>
                <a:srgbClr val="C00000"/>
              </a:solidFill>
              <a:prstDash val="solid"/>
            </a:ln>
          </c:spPr>
          <c:marker>
            <c:symbol val="none"/>
          </c:marker>
          <c:dPt>
            <c:idx val="1"/>
            <c:bubble3D val="0"/>
            <c:spPr>
              <a:ln w="38100">
                <a:solidFill>
                  <a:schemeClr val="bg1">
                    <a:lumMod val="50000"/>
                  </a:schemeClr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E114-4BFA-A20E-BA5B07A7A276}"/>
              </c:ext>
            </c:extLst>
          </c:dPt>
          <c:xVal>
            <c:numRef>
              <c:f>Simulation_Data!$D$2:$D$3</c:f>
              <c:numCache>
                <c:formatCode>0.0000</c:formatCode>
                <c:ptCount val="2"/>
                <c:pt idx="0">
                  <c:v>1.0000000000000009E-2</c:v>
                </c:pt>
                <c:pt idx="1">
                  <c:v>1</c:v>
                </c:pt>
              </c:numCache>
            </c:numRef>
          </c:xVal>
          <c:yVal>
            <c:numRef>
              <c:f>Simulation_Data!$E$2:$E$3</c:f>
              <c:numCache>
                <c:formatCode>0.0000</c:formatCode>
                <c:ptCount val="2"/>
                <c:pt idx="0">
                  <c:v>0</c:v>
                </c:pt>
                <c:pt idx="1">
                  <c:v>0.99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E114-4BFA-A20E-BA5B07A7A276}"/>
            </c:ext>
          </c:extLst>
        </c:ser>
        <c:ser>
          <c:idx val="2"/>
          <c:order val="2"/>
          <c:tx>
            <c:v>공정 이론단 계단 (Theoretical Stages)</c:v>
          </c:tx>
          <c:spPr>
            <a:ln w="6350">
              <a:solidFill>
                <a:schemeClr val="accent4"/>
              </a:solidFill>
              <a:prstDash val="solid"/>
            </a:ln>
          </c:spPr>
          <c:marker>
            <c:symbol val="none"/>
          </c:marker>
          <c:xVal>
            <c:numRef>
              <c:f>Simulation_Data!$G$2:$G$45</c:f>
              <c:numCache>
                <c:formatCode>0.0000</c:formatCode>
                <c:ptCount val="44"/>
                <c:pt idx="0">
                  <c:v>1</c:v>
                </c:pt>
                <c:pt idx="1">
                  <c:v>0.34736842105263155</c:v>
                </c:pt>
                <c:pt idx="2">
                  <c:v>0.34736842105263155</c:v>
                </c:pt>
                <c:pt idx="3">
                  <c:v>0.11837488457987071</c:v>
                </c:pt>
                <c:pt idx="4">
                  <c:v>0.11837488457987071</c:v>
                </c:pt>
                <c:pt idx="5">
                  <c:v>3.8026275291182701E-2</c:v>
                </c:pt>
                <c:pt idx="6">
                  <c:v>3.8026275291182701E-2</c:v>
                </c:pt>
                <c:pt idx="7">
                  <c:v>9.8337808039237508E-3</c:v>
                </c:pt>
                <c:pt idx="8">
                  <c:v>9.8337808039237508E-3</c:v>
                </c:pt>
                <c:pt idx="9">
                  <c:v>1.0000000000000009E-2</c:v>
                </c:pt>
                <c:pt idx="10">
                  <c:v>1.0000000000000009E-2</c:v>
                </c:pt>
                <c:pt idx="11">
                  <c:v>1.0000000000000009E-2</c:v>
                </c:pt>
                <c:pt idx="12">
                  <c:v>1.0000000000000009E-2</c:v>
                </c:pt>
                <c:pt idx="13">
                  <c:v>1.0000000000000009E-2</c:v>
                </c:pt>
                <c:pt idx="14">
                  <c:v>1.0000000000000009E-2</c:v>
                </c:pt>
                <c:pt idx="15">
                  <c:v>1.0000000000000009E-2</c:v>
                </c:pt>
                <c:pt idx="16">
                  <c:v>1.0000000000000009E-2</c:v>
                </c:pt>
                <c:pt idx="17">
                  <c:v>1.0000000000000009E-2</c:v>
                </c:pt>
                <c:pt idx="18">
                  <c:v>1.0000000000000009E-2</c:v>
                </c:pt>
                <c:pt idx="19">
                  <c:v>1.0000000000000009E-2</c:v>
                </c:pt>
                <c:pt idx="20">
                  <c:v>1.0000000000000009E-2</c:v>
                </c:pt>
                <c:pt idx="21">
                  <c:v>1.0000000000000009E-2</c:v>
                </c:pt>
                <c:pt idx="22">
                  <c:v>1.0000000000000009E-2</c:v>
                </c:pt>
                <c:pt idx="23">
                  <c:v>1.0000000000000009E-2</c:v>
                </c:pt>
                <c:pt idx="24">
                  <c:v>1.0000000000000009E-2</c:v>
                </c:pt>
                <c:pt idx="25">
                  <c:v>1.0000000000000009E-2</c:v>
                </c:pt>
                <c:pt idx="26">
                  <c:v>1.0000000000000009E-2</c:v>
                </c:pt>
                <c:pt idx="27">
                  <c:v>1.0000000000000009E-2</c:v>
                </c:pt>
                <c:pt idx="28">
                  <c:v>1.0000000000000009E-2</c:v>
                </c:pt>
                <c:pt idx="29">
                  <c:v>1.0000000000000009E-2</c:v>
                </c:pt>
                <c:pt idx="30">
                  <c:v>1.0000000000000009E-2</c:v>
                </c:pt>
                <c:pt idx="31">
                  <c:v>1.0000000000000009E-2</c:v>
                </c:pt>
                <c:pt idx="32">
                  <c:v>1.0000000000000009E-2</c:v>
                </c:pt>
                <c:pt idx="33">
                  <c:v>1.0000000000000009E-2</c:v>
                </c:pt>
                <c:pt idx="34">
                  <c:v>1.0000000000000009E-2</c:v>
                </c:pt>
                <c:pt idx="35">
                  <c:v>1.0000000000000009E-2</c:v>
                </c:pt>
                <c:pt idx="36">
                  <c:v>1.0000000000000009E-2</c:v>
                </c:pt>
                <c:pt idx="37">
                  <c:v>1.0000000000000009E-2</c:v>
                </c:pt>
                <c:pt idx="38">
                  <c:v>1.0000000000000009E-2</c:v>
                </c:pt>
                <c:pt idx="39">
                  <c:v>1.0000000000000009E-2</c:v>
                </c:pt>
                <c:pt idx="40">
                  <c:v>1.0000000000000009E-2</c:v>
                </c:pt>
                <c:pt idx="41">
                  <c:v>1.0000000000000009E-2</c:v>
                </c:pt>
                <c:pt idx="42">
                  <c:v>1.0000000000000009E-2</c:v>
                </c:pt>
                <c:pt idx="43">
                  <c:v>1.0000000000000009E-2</c:v>
                </c:pt>
              </c:numCache>
            </c:numRef>
          </c:xVal>
          <c:yVal>
            <c:numRef>
              <c:f>Simulation_Data!$H$2:$H$45</c:f>
              <c:numCache>
                <c:formatCode>0.0000</c:formatCode>
                <c:ptCount val="44"/>
                <c:pt idx="0">
                  <c:v>0.99</c:v>
                </c:pt>
                <c:pt idx="1">
                  <c:v>0.99</c:v>
                </c:pt>
                <c:pt idx="2">
                  <c:v>0.33736842105263154</c:v>
                </c:pt>
                <c:pt idx="3">
                  <c:v>0.33736842105263154</c:v>
                </c:pt>
                <c:pt idx="4">
                  <c:v>0.1083748845798707</c:v>
                </c:pt>
                <c:pt idx="5">
                  <c:v>0.1083748845798707</c:v>
                </c:pt>
                <c:pt idx="6">
                  <c:v>2.8026275291182692E-2</c:v>
                </c:pt>
                <c:pt idx="7">
                  <c:v>2.8026275291182692E-2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E114-4BFA-A20E-BA5B07A7A2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"/>
        <c:axId val="20"/>
      </c:scatterChart>
      <c:valAx>
        <c:axId val="10"/>
        <c:scaling>
          <c:orientation val="minMax"/>
        </c:scaling>
        <c:delete val="0"/>
        <c:axPos val="b"/>
        <c:numFmt formatCode="0.0000" sourceLinked="1"/>
        <c:majorTickMark val="none"/>
        <c:minorTickMark val="none"/>
        <c:tickLblPos val="nextTo"/>
        <c:txPr>
          <a:bodyPr/>
          <a:lstStyle/>
          <a:p>
            <a:pPr>
              <a:defRPr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pPr>
            <a:endParaRPr lang="ko-KR"/>
          </a:p>
        </c:txPr>
        <c:crossAx val="20"/>
        <c:crosses val="autoZero"/>
        <c:crossBetween val="midCat"/>
      </c:valAx>
      <c:valAx>
        <c:axId val="20"/>
        <c:scaling>
          <c:orientation val="minMax"/>
        </c:scaling>
        <c:delete val="0"/>
        <c:axPos val="l"/>
        <c:numFmt formatCode="0.0000" sourceLinked="1"/>
        <c:majorTickMark val="none"/>
        <c:minorTickMark val="none"/>
        <c:tickLblPos val="nextTo"/>
        <c:txPr>
          <a:bodyPr/>
          <a:lstStyle/>
          <a:p>
            <a:pPr>
              <a:defRPr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pPr>
            <a:endParaRPr lang="ko-KR"/>
          </a:p>
        </c:txPr>
        <c:crossAx val="10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평형선 (Equilibrium Line: Y = D*X)</c:v>
          </c:tx>
          <c:spPr>
            <a:ln w="38100">
              <a:solidFill>
                <a:srgbClr val="034443"/>
              </a:solidFill>
              <a:prstDash val="solid"/>
            </a:ln>
          </c:spPr>
          <c:marker>
            <c:symbol val="none"/>
          </c:marker>
          <c:xVal>
            <c:numRef>
              <c:f>Simulation_Data!$A$2:$A$12</c:f>
              <c:numCache>
                <c:formatCode>0.0000</c:formatCode>
                <c:ptCount val="11"/>
                <c:pt idx="0">
                  <c:v>0</c:v>
                </c:pt>
                <c:pt idx="1">
                  <c:v>1.0000000000000002E-2</c:v>
                </c:pt>
                <c:pt idx="2">
                  <c:v>2.0000000000000004E-2</c:v>
                </c:pt>
                <c:pt idx="3">
                  <c:v>0.03</c:v>
                </c:pt>
                <c:pt idx="4">
                  <c:v>4.0000000000000008E-2</c:v>
                </c:pt>
                <c:pt idx="5">
                  <c:v>0.05</c:v>
                </c:pt>
                <c:pt idx="6">
                  <c:v>0.06</c:v>
                </c:pt>
                <c:pt idx="7">
                  <c:v>6.9999999999999993E-2</c:v>
                </c:pt>
                <c:pt idx="8">
                  <c:v>8.0000000000000016E-2</c:v>
                </c:pt>
                <c:pt idx="9">
                  <c:v>9.0000000000000011E-2</c:v>
                </c:pt>
                <c:pt idx="10">
                  <c:v>0.1</c:v>
                </c:pt>
              </c:numCache>
            </c:numRef>
          </c:xVal>
          <c:yVal>
            <c:numRef>
              <c:f>Simulation_Data!$B$2:$B$12</c:f>
              <c:numCache>
                <c:formatCode>0.0000</c:formatCode>
                <c:ptCount val="11"/>
                <c:pt idx="0">
                  <c:v>0</c:v>
                </c:pt>
                <c:pt idx="1">
                  <c:v>2.5700000000000004E-2</c:v>
                </c:pt>
                <c:pt idx="2">
                  <c:v>5.1400000000000008E-2</c:v>
                </c:pt>
                <c:pt idx="3">
                  <c:v>7.7099999999999988E-2</c:v>
                </c:pt>
                <c:pt idx="4">
                  <c:v>0.10280000000000002</c:v>
                </c:pt>
                <c:pt idx="5">
                  <c:v>0.1285</c:v>
                </c:pt>
                <c:pt idx="6">
                  <c:v>0.15419999999999998</c:v>
                </c:pt>
                <c:pt idx="7">
                  <c:v>0.17989999999999998</c:v>
                </c:pt>
                <c:pt idx="8">
                  <c:v>0.20560000000000003</c:v>
                </c:pt>
                <c:pt idx="9">
                  <c:v>0.23130000000000001</c:v>
                </c:pt>
                <c:pt idx="10">
                  <c:v>0.25700000000000001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509-48B9-B9EA-16B6C83FEED7}"/>
            </c:ext>
          </c:extLst>
        </c:ser>
        <c:ser>
          <c:idx val="1"/>
          <c:order val="1"/>
          <c:tx>
            <c:v>조작선 (Operating Line)</c:v>
          </c:tx>
          <c:spPr>
            <a:ln w="25000">
              <a:solidFill>
                <a:srgbClr val="C00000"/>
              </a:solidFill>
              <a:prstDash val="solid"/>
            </a:ln>
          </c:spPr>
          <c:marker>
            <c:symbol val="none"/>
          </c:marker>
          <c:dPt>
            <c:idx val="1"/>
            <c:bubble3D val="0"/>
            <c:spPr>
              <a:ln w="38100">
                <a:solidFill>
                  <a:schemeClr val="bg1">
                    <a:lumMod val="50000"/>
                    <a:alpha val="97000"/>
                  </a:schemeClr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A509-48B9-B9EA-16B6C83FEED7}"/>
              </c:ext>
            </c:extLst>
          </c:dPt>
          <c:xVal>
            <c:numRef>
              <c:f>Simulation_Data!$D$2:$D$3</c:f>
              <c:numCache>
                <c:formatCode>0.0000</c:formatCode>
                <c:ptCount val="2"/>
                <c:pt idx="0">
                  <c:v>1.0000000000000009E-3</c:v>
                </c:pt>
                <c:pt idx="1">
                  <c:v>0.1</c:v>
                </c:pt>
              </c:numCache>
            </c:numRef>
          </c:xVal>
          <c:yVal>
            <c:numRef>
              <c:f>Simulation_Data!$E$2:$E$3</c:f>
              <c:numCache>
                <c:formatCode>0.0000</c:formatCode>
                <c:ptCount val="2"/>
                <c:pt idx="0">
                  <c:v>0</c:v>
                </c:pt>
                <c:pt idx="1">
                  <c:v>9.9000000000000005E-2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A509-48B9-B9EA-16B6C83FEED7}"/>
            </c:ext>
          </c:extLst>
        </c:ser>
        <c:ser>
          <c:idx val="2"/>
          <c:order val="2"/>
          <c:tx>
            <c:v>공정 이론단 계단 (Theoretical Stages)</c:v>
          </c:tx>
          <c:spPr>
            <a:ln w="6350">
              <a:solidFill>
                <a:schemeClr val="accent4"/>
              </a:solidFill>
              <a:prstDash val="solid"/>
            </a:ln>
          </c:spPr>
          <c:marker>
            <c:symbol val="none"/>
          </c:marker>
          <c:xVal>
            <c:numRef>
              <c:f>Simulation_Data!$G$2:$G$45</c:f>
              <c:numCache>
                <c:formatCode>0.0000</c:formatCode>
                <c:ptCount val="44"/>
                <c:pt idx="0">
                  <c:v>0.1</c:v>
                </c:pt>
                <c:pt idx="1">
                  <c:v>3.8521400778210119E-2</c:v>
                </c:pt>
                <c:pt idx="2">
                  <c:v>3.8521400778210119E-2</c:v>
                </c:pt>
                <c:pt idx="3">
                  <c:v>1.4599766839770476E-2</c:v>
                </c:pt>
                <c:pt idx="4">
                  <c:v>1.4599766839770476E-2</c:v>
                </c:pt>
                <c:pt idx="5">
                  <c:v>5.2917380699496015E-3</c:v>
                </c:pt>
                <c:pt idx="6">
                  <c:v>5.2917380699496015E-3</c:v>
                </c:pt>
                <c:pt idx="7">
                  <c:v>1.6699369921982883E-3</c:v>
                </c:pt>
                <c:pt idx="8">
                  <c:v>1.6699369921982883E-3</c:v>
                </c:pt>
                <c:pt idx="9">
                  <c:v>2.6067587245069549E-4</c:v>
                </c:pt>
                <c:pt idx="10">
                  <c:v>2.6067587245069549E-4</c:v>
                </c:pt>
                <c:pt idx="11">
                  <c:v>1.0000000000000009E-3</c:v>
                </c:pt>
                <c:pt idx="12">
                  <c:v>1.0000000000000009E-3</c:v>
                </c:pt>
                <c:pt idx="13">
                  <c:v>1.0000000000000009E-3</c:v>
                </c:pt>
                <c:pt idx="14">
                  <c:v>1.0000000000000009E-3</c:v>
                </c:pt>
                <c:pt idx="15">
                  <c:v>1.0000000000000009E-3</c:v>
                </c:pt>
                <c:pt idx="16">
                  <c:v>1.0000000000000009E-3</c:v>
                </c:pt>
                <c:pt idx="17">
                  <c:v>1.0000000000000009E-3</c:v>
                </c:pt>
                <c:pt idx="18">
                  <c:v>1.0000000000000009E-3</c:v>
                </c:pt>
                <c:pt idx="19">
                  <c:v>1.0000000000000009E-3</c:v>
                </c:pt>
                <c:pt idx="20">
                  <c:v>1.0000000000000009E-3</c:v>
                </c:pt>
                <c:pt idx="21">
                  <c:v>1.0000000000000009E-3</c:v>
                </c:pt>
                <c:pt idx="22">
                  <c:v>1.0000000000000009E-3</c:v>
                </c:pt>
                <c:pt idx="23">
                  <c:v>1.0000000000000009E-3</c:v>
                </c:pt>
                <c:pt idx="24">
                  <c:v>1.0000000000000009E-3</c:v>
                </c:pt>
                <c:pt idx="25">
                  <c:v>1.0000000000000009E-3</c:v>
                </c:pt>
                <c:pt idx="26">
                  <c:v>1.0000000000000009E-3</c:v>
                </c:pt>
                <c:pt idx="27">
                  <c:v>1.0000000000000009E-3</c:v>
                </c:pt>
                <c:pt idx="28">
                  <c:v>1.0000000000000009E-3</c:v>
                </c:pt>
                <c:pt idx="29">
                  <c:v>1.0000000000000009E-3</c:v>
                </c:pt>
                <c:pt idx="30">
                  <c:v>1.0000000000000009E-3</c:v>
                </c:pt>
                <c:pt idx="31">
                  <c:v>1.0000000000000009E-3</c:v>
                </c:pt>
                <c:pt idx="32">
                  <c:v>1.0000000000000009E-3</c:v>
                </c:pt>
                <c:pt idx="33">
                  <c:v>1.0000000000000009E-3</c:v>
                </c:pt>
                <c:pt idx="34">
                  <c:v>1.0000000000000009E-3</c:v>
                </c:pt>
                <c:pt idx="35">
                  <c:v>1.0000000000000009E-3</c:v>
                </c:pt>
                <c:pt idx="36">
                  <c:v>1.0000000000000009E-3</c:v>
                </c:pt>
                <c:pt idx="37">
                  <c:v>1.0000000000000009E-3</c:v>
                </c:pt>
                <c:pt idx="38">
                  <c:v>1.0000000000000009E-3</c:v>
                </c:pt>
                <c:pt idx="39">
                  <c:v>1.0000000000000009E-3</c:v>
                </c:pt>
                <c:pt idx="40">
                  <c:v>1.0000000000000009E-3</c:v>
                </c:pt>
                <c:pt idx="41">
                  <c:v>1.0000000000000009E-3</c:v>
                </c:pt>
                <c:pt idx="42">
                  <c:v>1.0000000000000009E-3</c:v>
                </c:pt>
                <c:pt idx="43">
                  <c:v>1.0000000000000009E-3</c:v>
                </c:pt>
              </c:numCache>
            </c:numRef>
          </c:xVal>
          <c:yVal>
            <c:numRef>
              <c:f>Simulation_Data!$H$2:$H$45</c:f>
              <c:numCache>
                <c:formatCode>0.0000</c:formatCode>
                <c:ptCount val="44"/>
                <c:pt idx="0">
                  <c:v>9.9000000000000005E-2</c:v>
                </c:pt>
                <c:pt idx="1">
                  <c:v>9.9000000000000005E-2</c:v>
                </c:pt>
                <c:pt idx="2">
                  <c:v>3.7521400778210118E-2</c:v>
                </c:pt>
                <c:pt idx="3">
                  <c:v>3.7521400778210118E-2</c:v>
                </c:pt>
                <c:pt idx="4">
                  <c:v>1.3599766839770475E-2</c:v>
                </c:pt>
                <c:pt idx="5">
                  <c:v>1.3599766839770475E-2</c:v>
                </c:pt>
                <c:pt idx="6">
                  <c:v>4.2917380699496006E-3</c:v>
                </c:pt>
                <c:pt idx="7">
                  <c:v>4.2917380699496006E-3</c:v>
                </c:pt>
                <c:pt idx="8">
                  <c:v>6.6993699219828739E-4</c:v>
                </c:pt>
                <c:pt idx="9">
                  <c:v>6.6993699219828739E-4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A509-48B9-B9EA-16B6C83FEE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"/>
        <c:axId val="20"/>
      </c:scatterChart>
      <c:valAx>
        <c:axId val="10"/>
        <c:scaling>
          <c:orientation val="minMax"/>
        </c:scaling>
        <c:delete val="0"/>
        <c:axPos val="b"/>
        <c:numFmt formatCode="0.0000" sourceLinked="1"/>
        <c:majorTickMark val="none"/>
        <c:minorTickMark val="none"/>
        <c:tickLblPos val="nextTo"/>
        <c:txPr>
          <a:bodyPr/>
          <a:lstStyle/>
          <a:p>
            <a:pPr>
              <a:defRPr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pPr>
            <a:endParaRPr lang="ko-KR"/>
          </a:p>
        </c:txPr>
        <c:crossAx val="20"/>
        <c:crosses val="autoZero"/>
        <c:crossBetween val="midCat"/>
      </c:valAx>
      <c:valAx>
        <c:axId val="20"/>
        <c:scaling>
          <c:orientation val="minMax"/>
        </c:scaling>
        <c:delete val="0"/>
        <c:axPos val="l"/>
        <c:numFmt formatCode="0.0000" sourceLinked="1"/>
        <c:majorTickMark val="none"/>
        <c:minorTickMark val="none"/>
        <c:tickLblPos val="nextTo"/>
        <c:txPr>
          <a:bodyPr/>
          <a:lstStyle/>
          <a:p>
            <a:pPr>
              <a:defRPr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pPr>
            <a:endParaRPr lang="ko-KR"/>
          </a:p>
        </c:txPr>
        <c:crossAx val="10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498D1-0A0B-4C83-A28F-99B669CDC908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7ECEC7-B05A-4753-8F2D-7F165B520A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386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16DC7-1022-6D17-2A59-C01895058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AEFEE3-15FF-4EF1-63F3-BDDB522F9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0312AF-8DA3-918B-7B9D-A3FE0F42A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2676E4-0B7F-1993-B01B-26931DD78E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1152427B-846B-4F71-945F-6017590F10DC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4789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EE932-EFC1-B587-3721-1C2ACD219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06A9EC-BB3B-3D0E-7732-BFC3B47F7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32AA62-FEDF-9477-34C6-5AD44C5D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4F782F-74E0-6CEB-7D2C-CF54544C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C791CA-060E-5084-65BA-E64DFA58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39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61DA2-CE0D-C7AC-F622-34449F485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F09367-D523-A5EC-05F4-05A4134C4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A038D-D106-2F21-4371-5E0B93ABE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9C47E6-C40C-71E1-7470-72A3C8F10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37868E-5630-A66E-C0A9-90F7ACF9F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26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B668E-0E1B-8689-3596-EE9209DE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81B2E4-EBE1-13F2-3B5E-82E3320EC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B19B4D-F3E3-EACB-B491-1E4E323FE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03AAD6-D951-4664-1966-C6E732ACA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02B433-C418-556F-A4BE-F2C8A116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38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0343E-ECD1-C714-AA99-C6D1B3156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34AD54-E60C-B586-DB74-058379599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4ECE84-98CD-34AF-EC90-CD5287B2E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574C84-06CC-C15E-0042-B4B0C3B3E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F894E2-CAAE-5068-9A40-7E2EFBE7A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C1FE28-AC6A-8349-B9E6-21EAC9F60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783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13033-892D-2C59-E487-1C4FA620C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A5C45B-A39D-D06D-EEF8-4E6F66AD9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716C97-39A8-861F-F48A-8F5B8C1F2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890521-0FF4-9466-BAD6-6327954A15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655361-0940-F048-FAC1-280E505762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CC1C1D-F68E-0DCA-B421-E74961A81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2796F4B-2EBE-FED7-A3E3-A7B2153F3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4EFF3A-19E6-9C38-B16E-82A76EAAF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82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CA4E8A-9812-2C2F-C330-9F7B91684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258B3F-613D-36BC-5270-0A9AF035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D3B58B-7524-ADAF-2968-513705A13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9ADC77-E8D8-4611-EA20-566DA65A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177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1B9F33-AA13-5842-1E17-1B40480B7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175F03-138E-F47E-8364-3C44D79BC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5D78CC-1781-F103-7DA8-10537BCAE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EC7E8-FCFD-D258-D9E7-10B5F3790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75E359-52FC-A380-8AA9-57D5132DF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69F532-21B9-8BFB-6373-FA658841B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2D173E-9698-268E-D785-56F224C5D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7555F5-63A5-5BAF-DA3F-23E81C597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4C74BC-BF5A-BA67-C7DC-C5D21F98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527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653ADC-8F8D-2F98-05A3-5A822F4A1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B72B2E-2DE1-AF07-8F49-D37A398623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46CD0A-BFD5-96E4-62BA-C96BC7B7B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1B793B-A9FA-12F6-2486-2D5F95AB1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145971-D45C-BC5B-82B1-962BF6297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106E0A-08F8-5CDD-FF91-E08549D8A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213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4C63F5-FA82-CA0A-0A1E-8F7C389DF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AAA8FA-0821-A155-46DB-0C4D4947C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5AD077-3B40-6697-EBCC-64DC4769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1AA78C-5F2A-688E-C06C-9AF411780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4C006F-E5D0-8A15-541B-DCA12B31D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57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B99F0B-92AA-0BFA-CDF8-F37F201ACC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1E90971-59C3-AD7F-8735-3E4B238BE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F4AEEC-5E24-07CF-6A7A-A737ACBA5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1E0892-2653-BF95-67FF-510D9ADE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E9C5EE-16B7-ED3A-BA46-A7068BADB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49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C9C1648-66E6-52CF-BE99-F5B9831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7B86AF-CA55-A880-5214-78C062B2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1EEB17-259C-B557-A745-CFB18EC88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A059A2-5285-C941-653C-26D64DCD5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ECA62F-469B-176D-C558-30B84AF9E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80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CA038-0ABA-C091-9A82-956AB70B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그래픽 64">
            <a:extLst>
              <a:ext uri="{FF2B5EF4-FFF2-40B4-BE49-F238E27FC236}">
                <a16:creationId xmlns:a16="http://schemas.microsoft.com/office/drawing/2014/main" id="{2A1DEE32-28D6-6FD4-CB84-2E59827AEB5A}"/>
              </a:ext>
            </a:extLst>
          </p:cNvPr>
          <p:cNvGrpSpPr/>
          <p:nvPr/>
        </p:nvGrpSpPr>
        <p:grpSpPr>
          <a:xfrm>
            <a:off x="442489" y="294939"/>
            <a:ext cx="1093353" cy="166691"/>
            <a:chOff x="0" y="0"/>
            <a:chExt cx="1093351" cy="166689"/>
          </a:xfrm>
        </p:grpSpPr>
        <p:sp>
          <p:nvSpPr>
            <p:cNvPr id="481" name="자유형: 도형 76">
              <a:extLst>
                <a:ext uri="{FF2B5EF4-FFF2-40B4-BE49-F238E27FC236}">
                  <a16:creationId xmlns:a16="http://schemas.microsoft.com/office/drawing/2014/main" id="{16B4BB10-1200-A3CC-6185-1303FBD28C04}"/>
                </a:ext>
              </a:extLst>
            </p:cNvPr>
            <p:cNvSpPr/>
            <p:nvPr/>
          </p:nvSpPr>
          <p:spPr>
            <a:xfrm>
              <a:off x="357283" y="1"/>
              <a:ext cx="118583" cy="166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67" extrusionOk="0">
                  <a:moveTo>
                    <a:pt x="11072" y="21567"/>
                  </a:moveTo>
                  <a:cubicBezTo>
                    <a:pt x="9035" y="21563"/>
                    <a:pt x="7023" y="21250"/>
                    <a:pt x="5169" y="20649"/>
                  </a:cubicBezTo>
                  <a:cubicBezTo>
                    <a:pt x="3040" y="19852"/>
                    <a:pt x="1254" y="18659"/>
                    <a:pt x="0" y="17195"/>
                  </a:cubicBezTo>
                  <a:lnTo>
                    <a:pt x="541" y="16680"/>
                  </a:lnTo>
                  <a:cubicBezTo>
                    <a:pt x="1732" y="18098"/>
                    <a:pt x="3440" y="19258"/>
                    <a:pt x="5485" y="20036"/>
                  </a:cubicBezTo>
                  <a:cubicBezTo>
                    <a:pt x="7238" y="20614"/>
                    <a:pt x="9145" y="20915"/>
                    <a:pt x="11077" y="20921"/>
                  </a:cubicBezTo>
                  <a:cubicBezTo>
                    <a:pt x="12340" y="20944"/>
                    <a:pt x="13592" y="20745"/>
                    <a:pt x="14723" y="20341"/>
                  </a:cubicBezTo>
                  <a:cubicBezTo>
                    <a:pt x="15880" y="20004"/>
                    <a:pt x="16892" y="19454"/>
                    <a:pt x="17655" y="18748"/>
                  </a:cubicBezTo>
                  <a:cubicBezTo>
                    <a:pt x="18349" y="18096"/>
                    <a:pt x="18722" y="17298"/>
                    <a:pt x="18714" y="16478"/>
                  </a:cubicBezTo>
                  <a:cubicBezTo>
                    <a:pt x="18748" y="15739"/>
                    <a:pt x="18430" y="15013"/>
                    <a:pt x="17813" y="14418"/>
                  </a:cubicBezTo>
                  <a:cubicBezTo>
                    <a:pt x="17177" y="13840"/>
                    <a:pt x="16378" y="13363"/>
                    <a:pt x="15468" y="13018"/>
                  </a:cubicBezTo>
                  <a:cubicBezTo>
                    <a:pt x="14505" y="12643"/>
                    <a:pt x="13123" y="12176"/>
                    <a:pt x="11320" y="11617"/>
                  </a:cubicBezTo>
                  <a:lnTo>
                    <a:pt x="10059" y="11232"/>
                  </a:lnTo>
                  <a:cubicBezTo>
                    <a:pt x="7594" y="10459"/>
                    <a:pt x="5707" y="9815"/>
                    <a:pt x="4400" y="9300"/>
                  </a:cubicBezTo>
                  <a:cubicBezTo>
                    <a:pt x="3241" y="8870"/>
                    <a:pt x="2208" y="8286"/>
                    <a:pt x="1357" y="7578"/>
                  </a:cubicBezTo>
                  <a:cubicBezTo>
                    <a:pt x="627" y="6938"/>
                    <a:pt x="239" y="6133"/>
                    <a:pt x="263" y="5307"/>
                  </a:cubicBezTo>
                  <a:cubicBezTo>
                    <a:pt x="246" y="4289"/>
                    <a:pt x="743" y="3301"/>
                    <a:pt x="1662" y="2522"/>
                  </a:cubicBezTo>
                  <a:cubicBezTo>
                    <a:pt x="2655" y="1688"/>
                    <a:pt x="3928" y="1047"/>
                    <a:pt x="5362" y="659"/>
                  </a:cubicBezTo>
                  <a:cubicBezTo>
                    <a:pt x="7168" y="214"/>
                    <a:pt x="9066" y="-9"/>
                    <a:pt x="10977" y="0"/>
                  </a:cubicBezTo>
                  <a:cubicBezTo>
                    <a:pt x="12985" y="-6"/>
                    <a:pt x="14966" y="336"/>
                    <a:pt x="16748" y="997"/>
                  </a:cubicBezTo>
                  <a:cubicBezTo>
                    <a:pt x="18421" y="1571"/>
                    <a:pt x="19783" y="2521"/>
                    <a:pt x="20626" y="3701"/>
                  </a:cubicBezTo>
                  <a:lnTo>
                    <a:pt x="20040" y="4216"/>
                  </a:lnTo>
                  <a:cubicBezTo>
                    <a:pt x="19250" y="3073"/>
                    <a:pt x="17949" y="2150"/>
                    <a:pt x="16343" y="1593"/>
                  </a:cubicBezTo>
                  <a:cubicBezTo>
                    <a:pt x="14719" y="976"/>
                    <a:pt x="12911" y="650"/>
                    <a:pt x="11072" y="643"/>
                  </a:cubicBezTo>
                  <a:cubicBezTo>
                    <a:pt x="9674" y="628"/>
                    <a:pt x="8287" y="814"/>
                    <a:pt x="6991" y="1189"/>
                  </a:cubicBezTo>
                  <a:cubicBezTo>
                    <a:pt x="5875" y="1500"/>
                    <a:pt x="4894" y="2017"/>
                    <a:pt x="4149" y="2686"/>
                  </a:cubicBezTo>
                  <a:cubicBezTo>
                    <a:pt x="3489" y="3287"/>
                    <a:pt x="3131" y="4030"/>
                    <a:pt x="3135" y="4794"/>
                  </a:cubicBezTo>
                  <a:cubicBezTo>
                    <a:pt x="3105" y="5478"/>
                    <a:pt x="3408" y="6149"/>
                    <a:pt x="3991" y="6693"/>
                  </a:cubicBezTo>
                  <a:cubicBezTo>
                    <a:pt x="4619" y="7241"/>
                    <a:pt x="5393" y="7696"/>
                    <a:pt x="6269" y="8029"/>
                  </a:cubicBezTo>
                  <a:cubicBezTo>
                    <a:pt x="7639" y="8547"/>
                    <a:pt x="9047" y="9014"/>
                    <a:pt x="10484" y="9428"/>
                  </a:cubicBezTo>
                  <a:lnTo>
                    <a:pt x="12288" y="9974"/>
                  </a:lnTo>
                  <a:cubicBezTo>
                    <a:pt x="14052" y="10510"/>
                    <a:pt x="15775" y="11112"/>
                    <a:pt x="17451" y="11777"/>
                  </a:cubicBezTo>
                  <a:cubicBezTo>
                    <a:pt x="18595" y="12230"/>
                    <a:pt x="19611" y="12830"/>
                    <a:pt x="20450" y="13547"/>
                  </a:cubicBezTo>
                  <a:cubicBezTo>
                    <a:pt x="21201" y="14211"/>
                    <a:pt x="21600" y="15043"/>
                    <a:pt x="21577" y="15897"/>
                  </a:cubicBezTo>
                  <a:cubicBezTo>
                    <a:pt x="21571" y="16899"/>
                    <a:pt x="21120" y="17873"/>
                    <a:pt x="20291" y="18682"/>
                  </a:cubicBezTo>
                  <a:cubicBezTo>
                    <a:pt x="19349" y="19600"/>
                    <a:pt x="18080" y="20322"/>
                    <a:pt x="16616" y="20773"/>
                  </a:cubicBezTo>
                  <a:cubicBezTo>
                    <a:pt x="14870" y="21322"/>
                    <a:pt x="12977" y="21591"/>
                    <a:pt x="11070" y="21562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2" name="자유형: 도형 77">
              <a:extLst>
                <a:ext uri="{FF2B5EF4-FFF2-40B4-BE49-F238E27FC236}">
                  <a16:creationId xmlns:a16="http://schemas.microsoft.com/office/drawing/2014/main" id="{4424ECF6-6F59-D079-6070-B9B946281C02}"/>
                </a:ext>
              </a:extLst>
            </p:cNvPr>
            <p:cNvSpPr/>
            <p:nvPr/>
          </p:nvSpPr>
          <p:spPr>
            <a:xfrm>
              <a:off x="-1" y="-1"/>
              <a:ext cx="149075" cy="166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73" extrusionOk="0">
                  <a:moveTo>
                    <a:pt x="21584" y="17806"/>
                  </a:moveTo>
                  <a:cubicBezTo>
                    <a:pt x="20467" y="18987"/>
                    <a:pt x="19078" y="19937"/>
                    <a:pt x="17512" y="20591"/>
                  </a:cubicBezTo>
                  <a:cubicBezTo>
                    <a:pt x="15933" y="21249"/>
                    <a:pt x="14212" y="21584"/>
                    <a:pt x="12471" y="21573"/>
                  </a:cubicBezTo>
                  <a:cubicBezTo>
                    <a:pt x="10204" y="21587"/>
                    <a:pt x="7969" y="21089"/>
                    <a:pt x="5973" y="20124"/>
                  </a:cubicBezTo>
                  <a:cubicBezTo>
                    <a:pt x="4164" y="19178"/>
                    <a:pt x="2661" y="17824"/>
                    <a:pt x="1614" y="16197"/>
                  </a:cubicBezTo>
                  <a:cubicBezTo>
                    <a:pt x="542" y="14557"/>
                    <a:pt x="-16" y="12688"/>
                    <a:pt x="0" y="10787"/>
                  </a:cubicBezTo>
                  <a:cubicBezTo>
                    <a:pt x="-16" y="8886"/>
                    <a:pt x="542" y="7017"/>
                    <a:pt x="1615" y="5378"/>
                  </a:cubicBezTo>
                  <a:cubicBezTo>
                    <a:pt x="2662" y="3750"/>
                    <a:pt x="4165" y="2396"/>
                    <a:pt x="5974" y="1449"/>
                  </a:cubicBezTo>
                  <a:cubicBezTo>
                    <a:pt x="7970" y="485"/>
                    <a:pt x="10205" y="-13"/>
                    <a:pt x="12472" y="0"/>
                  </a:cubicBezTo>
                  <a:cubicBezTo>
                    <a:pt x="14108" y="-6"/>
                    <a:pt x="15726" y="296"/>
                    <a:pt x="17223" y="886"/>
                  </a:cubicBezTo>
                  <a:cubicBezTo>
                    <a:pt x="18723" y="1478"/>
                    <a:pt x="20072" y="2338"/>
                    <a:pt x="21190" y="3413"/>
                  </a:cubicBezTo>
                  <a:lnTo>
                    <a:pt x="20688" y="3863"/>
                  </a:lnTo>
                  <a:cubicBezTo>
                    <a:pt x="18577" y="1799"/>
                    <a:pt x="15594" y="630"/>
                    <a:pt x="12472" y="644"/>
                  </a:cubicBezTo>
                  <a:cubicBezTo>
                    <a:pt x="10644" y="633"/>
                    <a:pt x="8859" y="1146"/>
                    <a:pt x="7378" y="2108"/>
                  </a:cubicBezTo>
                  <a:cubicBezTo>
                    <a:pt x="5843" y="3089"/>
                    <a:pt x="4609" y="4402"/>
                    <a:pt x="3790" y="5924"/>
                  </a:cubicBezTo>
                  <a:cubicBezTo>
                    <a:pt x="2060" y="8993"/>
                    <a:pt x="2067" y="12619"/>
                    <a:pt x="3809" y="15682"/>
                  </a:cubicBezTo>
                  <a:cubicBezTo>
                    <a:pt x="4632" y="17197"/>
                    <a:pt x="5865" y="18502"/>
                    <a:pt x="7394" y="19480"/>
                  </a:cubicBezTo>
                  <a:cubicBezTo>
                    <a:pt x="8872" y="20434"/>
                    <a:pt x="10650" y="20941"/>
                    <a:pt x="12470" y="20928"/>
                  </a:cubicBezTo>
                  <a:cubicBezTo>
                    <a:pt x="15803" y="20966"/>
                    <a:pt x="18973" y="19639"/>
                    <a:pt x="21082" y="17323"/>
                  </a:cubicBez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3" name="자유형: 도형 78">
              <a:extLst>
                <a:ext uri="{FF2B5EF4-FFF2-40B4-BE49-F238E27FC236}">
                  <a16:creationId xmlns:a16="http://schemas.microsoft.com/office/drawing/2014/main" id="{013FA9DF-10C3-9BBB-D2EE-8CB5D1007C49}"/>
                </a:ext>
              </a:extLst>
            </p:cNvPr>
            <p:cNvSpPr/>
            <p:nvPr/>
          </p:nvSpPr>
          <p:spPr>
            <a:xfrm>
              <a:off x="166506" y="1"/>
              <a:ext cx="168633" cy="166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575" extrusionOk="0">
                  <a:moveTo>
                    <a:pt x="16294" y="1449"/>
                  </a:moveTo>
                  <a:cubicBezTo>
                    <a:pt x="17892" y="2396"/>
                    <a:pt x="19220" y="3750"/>
                    <a:pt x="20146" y="5377"/>
                  </a:cubicBezTo>
                  <a:cubicBezTo>
                    <a:pt x="21093" y="7017"/>
                    <a:pt x="21586" y="8886"/>
                    <a:pt x="21572" y="10787"/>
                  </a:cubicBezTo>
                  <a:cubicBezTo>
                    <a:pt x="21586" y="12688"/>
                    <a:pt x="21093" y="14558"/>
                    <a:pt x="20146" y="16197"/>
                  </a:cubicBezTo>
                  <a:cubicBezTo>
                    <a:pt x="19219" y="17824"/>
                    <a:pt x="17892" y="19178"/>
                    <a:pt x="16293" y="20125"/>
                  </a:cubicBezTo>
                  <a:cubicBezTo>
                    <a:pt x="14696" y="21086"/>
                    <a:pt x="12872" y="21587"/>
                    <a:pt x="11016" y="21574"/>
                  </a:cubicBezTo>
                  <a:cubicBezTo>
                    <a:pt x="9014" y="21587"/>
                    <a:pt x="7041" y="21089"/>
                    <a:pt x="5278" y="20125"/>
                  </a:cubicBezTo>
                  <a:cubicBezTo>
                    <a:pt x="3680" y="19178"/>
                    <a:pt x="2352" y="17824"/>
                    <a:pt x="1426" y="16197"/>
                  </a:cubicBezTo>
                  <a:cubicBezTo>
                    <a:pt x="479" y="14558"/>
                    <a:pt x="-14" y="12688"/>
                    <a:pt x="0" y="10787"/>
                  </a:cubicBezTo>
                  <a:cubicBezTo>
                    <a:pt x="-14" y="8887"/>
                    <a:pt x="479" y="7017"/>
                    <a:pt x="1426" y="5378"/>
                  </a:cubicBezTo>
                  <a:cubicBezTo>
                    <a:pt x="2352" y="3750"/>
                    <a:pt x="3680" y="2396"/>
                    <a:pt x="5278" y="1449"/>
                  </a:cubicBezTo>
                  <a:cubicBezTo>
                    <a:pt x="7042" y="485"/>
                    <a:pt x="9015" y="-13"/>
                    <a:pt x="11017" y="0"/>
                  </a:cubicBezTo>
                  <a:cubicBezTo>
                    <a:pt x="12873" y="-13"/>
                    <a:pt x="14698" y="488"/>
                    <a:pt x="16295" y="1449"/>
                  </a:cubicBezTo>
                  <a:moveTo>
                    <a:pt x="6516" y="2108"/>
                  </a:moveTo>
                  <a:cubicBezTo>
                    <a:pt x="5160" y="3089"/>
                    <a:pt x="4070" y="4401"/>
                    <a:pt x="3346" y="5923"/>
                  </a:cubicBezTo>
                  <a:cubicBezTo>
                    <a:pt x="1818" y="8993"/>
                    <a:pt x="1824" y="12619"/>
                    <a:pt x="3362" y="15683"/>
                  </a:cubicBezTo>
                  <a:cubicBezTo>
                    <a:pt x="4090" y="17198"/>
                    <a:pt x="5180" y="18504"/>
                    <a:pt x="6532" y="19482"/>
                  </a:cubicBezTo>
                  <a:cubicBezTo>
                    <a:pt x="7838" y="20436"/>
                    <a:pt x="9409" y="20944"/>
                    <a:pt x="11017" y="20931"/>
                  </a:cubicBezTo>
                  <a:cubicBezTo>
                    <a:pt x="12484" y="20941"/>
                    <a:pt x="13907" y="20428"/>
                    <a:pt x="15039" y="19481"/>
                  </a:cubicBezTo>
                  <a:cubicBezTo>
                    <a:pt x="16391" y="18503"/>
                    <a:pt x="17481" y="17197"/>
                    <a:pt x="18209" y="15682"/>
                  </a:cubicBezTo>
                  <a:cubicBezTo>
                    <a:pt x="19747" y="12618"/>
                    <a:pt x="19753" y="8992"/>
                    <a:pt x="18226" y="5923"/>
                  </a:cubicBezTo>
                  <a:cubicBezTo>
                    <a:pt x="17501" y="4401"/>
                    <a:pt x="16410" y="3089"/>
                    <a:pt x="15055" y="2108"/>
                  </a:cubicBezTo>
                  <a:cubicBezTo>
                    <a:pt x="13919" y="1155"/>
                    <a:pt x="12490" y="636"/>
                    <a:pt x="11017" y="644"/>
                  </a:cubicBezTo>
                  <a:cubicBezTo>
                    <a:pt x="9402" y="633"/>
                    <a:pt x="7825" y="1146"/>
                    <a:pt x="6516" y="2108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4" name="자유형: 도형 79">
              <a:extLst>
                <a:ext uri="{FF2B5EF4-FFF2-40B4-BE49-F238E27FC236}">
                  <a16:creationId xmlns:a16="http://schemas.microsoft.com/office/drawing/2014/main" id="{8FA83D96-B8A7-3B1C-34F2-B36799502FE6}"/>
                </a:ext>
              </a:extLst>
            </p:cNvPr>
            <p:cNvSpPr/>
            <p:nvPr/>
          </p:nvSpPr>
          <p:spPr>
            <a:xfrm>
              <a:off x="499224" y="-1"/>
              <a:ext cx="168657" cy="1666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574" extrusionOk="0">
                  <a:moveTo>
                    <a:pt x="16294" y="1450"/>
                  </a:moveTo>
                  <a:cubicBezTo>
                    <a:pt x="17893" y="2396"/>
                    <a:pt x="19220" y="3750"/>
                    <a:pt x="20146" y="5377"/>
                  </a:cubicBezTo>
                  <a:cubicBezTo>
                    <a:pt x="21093" y="7017"/>
                    <a:pt x="21586" y="8886"/>
                    <a:pt x="21572" y="10787"/>
                  </a:cubicBezTo>
                  <a:cubicBezTo>
                    <a:pt x="21586" y="12688"/>
                    <a:pt x="21093" y="14557"/>
                    <a:pt x="20146" y="16197"/>
                  </a:cubicBezTo>
                  <a:cubicBezTo>
                    <a:pt x="19220" y="17824"/>
                    <a:pt x="17893" y="19178"/>
                    <a:pt x="16294" y="20124"/>
                  </a:cubicBezTo>
                  <a:cubicBezTo>
                    <a:pt x="14697" y="21085"/>
                    <a:pt x="12873" y="21586"/>
                    <a:pt x="11017" y="21574"/>
                  </a:cubicBezTo>
                  <a:cubicBezTo>
                    <a:pt x="9014" y="21587"/>
                    <a:pt x="7040" y="21089"/>
                    <a:pt x="5276" y="20124"/>
                  </a:cubicBezTo>
                  <a:cubicBezTo>
                    <a:pt x="3678" y="19177"/>
                    <a:pt x="2351" y="17824"/>
                    <a:pt x="1426" y="16197"/>
                  </a:cubicBezTo>
                  <a:cubicBezTo>
                    <a:pt x="478" y="14557"/>
                    <a:pt x="-14" y="12688"/>
                    <a:pt x="0" y="10787"/>
                  </a:cubicBezTo>
                  <a:cubicBezTo>
                    <a:pt x="-14" y="8886"/>
                    <a:pt x="478" y="7017"/>
                    <a:pt x="1426" y="5377"/>
                  </a:cubicBezTo>
                  <a:cubicBezTo>
                    <a:pt x="2352" y="3750"/>
                    <a:pt x="3678" y="2397"/>
                    <a:pt x="5276" y="1450"/>
                  </a:cubicBezTo>
                  <a:cubicBezTo>
                    <a:pt x="7040" y="485"/>
                    <a:pt x="9015" y="-13"/>
                    <a:pt x="11018" y="0"/>
                  </a:cubicBezTo>
                  <a:cubicBezTo>
                    <a:pt x="12874" y="-12"/>
                    <a:pt x="14698" y="489"/>
                    <a:pt x="16295" y="1450"/>
                  </a:cubicBezTo>
                  <a:moveTo>
                    <a:pt x="6517" y="2108"/>
                  </a:moveTo>
                  <a:cubicBezTo>
                    <a:pt x="5162" y="3089"/>
                    <a:pt x="4071" y="4401"/>
                    <a:pt x="3347" y="5924"/>
                  </a:cubicBezTo>
                  <a:cubicBezTo>
                    <a:pt x="1819" y="8993"/>
                    <a:pt x="1826" y="12619"/>
                    <a:pt x="3363" y="15683"/>
                  </a:cubicBezTo>
                  <a:cubicBezTo>
                    <a:pt x="4091" y="17198"/>
                    <a:pt x="5181" y="18504"/>
                    <a:pt x="6533" y="19482"/>
                  </a:cubicBezTo>
                  <a:cubicBezTo>
                    <a:pt x="7838" y="20436"/>
                    <a:pt x="9409" y="20944"/>
                    <a:pt x="11017" y="20931"/>
                  </a:cubicBezTo>
                  <a:cubicBezTo>
                    <a:pt x="12484" y="20941"/>
                    <a:pt x="13907" y="20428"/>
                    <a:pt x="15039" y="19482"/>
                  </a:cubicBezTo>
                  <a:cubicBezTo>
                    <a:pt x="16390" y="18504"/>
                    <a:pt x="17480" y="17198"/>
                    <a:pt x="18208" y="15683"/>
                  </a:cubicBezTo>
                  <a:cubicBezTo>
                    <a:pt x="19745" y="12619"/>
                    <a:pt x="19751" y="8993"/>
                    <a:pt x="18224" y="5924"/>
                  </a:cubicBezTo>
                  <a:cubicBezTo>
                    <a:pt x="17500" y="4402"/>
                    <a:pt x="16410" y="3089"/>
                    <a:pt x="15055" y="2108"/>
                  </a:cubicBezTo>
                  <a:cubicBezTo>
                    <a:pt x="13920" y="1155"/>
                    <a:pt x="12491" y="637"/>
                    <a:pt x="11018" y="645"/>
                  </a:cubicBezTo>
                  <a:cubicBezTo>
                    <a:pt x="9403" y="633"/>
                    <a:pt x="7826" y="1146"/>
                    <a:pt x="6517" y="2108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5" name="자유형: 도형 80">
              <a:extLst>
                <a:ext uri="{FF2B5EF4-FFF2-40B4-BE49-F238E27FC236}">
                  <a16:creationId xmlns:a16="http://schemas.microsoft.com/office/drawing/2014/main" id="{2E46179A-D10D-7436-442F-407000A20615}"/>
                </a:ext>
              </a:extLst>
            </p:cNvPr>
            <p:cNvSpPr/>
            <p:nvPr/>
          </p:nvSpPr>
          <p:spPr>
            <a:xfrm>
              <a:off x="696933" y="1498"/>
              <a:ext cx="106736" cy="163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41" y="20943"/>
                  </a:moveTo>
                  <a:lnTo>
                    <a:pt x="21600" y="20943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3240" y="0"/>
                  </a:ln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6" name="자유형: 도형 81">
              <a:extLst>
                <a:ext uri="{FF2B5EF4-FFF2-40B4-BE49-F238E27FC236}">
                  <a16:creationId xmlns:a16="http://schemas.microsoft.com/office/drawing/2014/main" id="{A059CA34-2579-C732-B157-7697F711FDF2}"/>
                </a:ext>
              </a:extLst>
            </p:cNvPr>
            <p:cNvSpPr/>
            <p:nvPr/>
          </p:nvSpPr>
          <p:spPr>
            <a:xfrm>
              <a:off x="818625" y="1491"/>
              <a:ext cx="128272" cy="165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33" extrusionOk="0">
                  <a:moveTo>
                    <a:pt x="20791" y="0"/>
                  </a:moveTo>
                  <a:lnTo>
                    <a:pt x="21584" y="0"/>
                  </a:lnTo>
                  <a:lnTo>
                    <a:pt x="21584" y="12610"/>
                  </a:lnTo>
                  <a:cubicBezTo>
                    <a:pt x="21600" y="14095"/>
                    <a:pt x="21253" y="15569"/>
                    <a:pt x="20562" y="16954"/>
                  </a:cubicBezTo>
                  <a:cubicBezTo>
                    <a:pt x="19885" y="18289"/>
                    <a:pt x="18709" y="19436"/>
                    <a:pt x="17184" y="20245"/>
                  </a:cubicBezTo>
                  <a:cubicBezTo>
                    <a:pt x="15368" y="21153"/>
                    <a:pt x="13233" y="21600"/>
                    <a:pt x="11076" y="21525"/>
                  </a:cubicBezTo>
                  <a:cubicBezTo>
                    <a:pt x="9679" y="21523"/>
                    <a:pt x="8286" y="21403"/>
                    <a:pt x="6922" y="21168"/>
                  </a:cubicBezTo>
                  <a:cubicBezTo>
                    <a:pt x="5616" y="20883"/>
                    <a:pt x="4415" y="20361"/>
                    <a:pt x="3419" y="19644"/>
                  </a:cubicBezTo>
                  <a:cubicBezTo>
                    <a:pt x="1139" y="18088"/>
                    <a:pt x="0" y="15690"/>
                    <a:pt x="0" y="12448"/>
                  </a:cubicBezTo>
                  <a:lnTo>
                    <a:pt x="0" y="0"/>
                  </a:lnTo>
                  <a:lnTo>
                    <a:pt x="2653" y="0"/>
                  </a:lnTo>
                  <a:lnTo>
                    <a:pt x="2653" y="13096"/>
                  </a:lnTo>
                  <a:cubicBezTo>
                    <a:pt x="2653" y="15733"/>
                    <a:pt x="3495" y="17689"/>
                    <a:pt x="5180" y="18963"/>
                  </a:cubicBezTo>
                  <a:cubicBezTo>
                    <a:pt x="6933" y="20261"/>
                    <a:pt x="9288" y="20951"/>
                    <a:pt x="11706" y="20877"/>
                  </a:cubicBezTo>
                  <a:cubicBezTo>
                    <a:pt x="13499" y="20924"/>
                    <a:pt x="15266" y="20527"/>
                    <a:pt x="16751" y="19742"/>
                  </a:cubicBezTo>
                  <a:cubicBezTo>
                    <a:pt x="18115" y="18984"/>
                    <a:pt x="19171" y="17938"/>
                    <a:pt x="19794" y="16727"/>
                  </a:cubicBezTo>
                  <a:cubicBezTo>
                    <a:pt x="20475" y="15420"/>
                    <a:pt x="20815" y="14021"/>
                    <a:pt x="20795" y="12610"/>
                  </a:cubicBez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7" name="자유형: 도형 82">
              <a:extLst>
                <a:ext uri="{FF2B5EF4-FFF2-40B4-BE49-F238E27FC236}">
                  <a16:creationId xmlns:a16="http://schemas.microsoft.com/office/drawing/2014/main" id="{77A54609-650E-D21F-F139-C5E6C30ADDC9}"/>
                </a:ext>
              </a:extLst>
            </p:cNvPr>
            <p:cNvSpPr/>
            <p:nvPr/>
          </p:nvSpPr>
          <p:spPr>
            <a:xfrm>
              <a:off x="974769" y="-1"/>
              <a:ext cx="118583" cy="166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67" extrusionOk="0">
                  <a:moveTo>
                    <a:pt x="11072" y="21567"/>
                  </a:moveTo>
                  <a:cubicBezTo>
                    <a:pt x="9036" y="21563"/>
                    <a:pt x="7023" y="21250"/>
                    <a:pt x="5169" y="20649"/>
                  </a:cubicBezTo>
                  <a:cubicBezTo>
                    <a:pt x="3040" y="19852"/>
                    <a:pt x="1254" y="18659"/>
                    <a:pt x="0" y="17195"/>
                  </a:cubicBezTo>
                  <a:lnTo>
                    <a:pt x="541" y="16680"/>
                  </a:lnTo>
                  <a:cubicBezTo>
                    <a:pt x="1732" y="18098"/>
                    <a:pt x="3440" y="19258"/>
                    <a:pt x="5485" y="20036"/>
                  </a:cubicBezTo>
                  <a:cubicBezTo>
                    <a:pt x="7238" y="20614"/>
                    <a:pt x="9145" y="20915"/>
                    <a:pt x="11076" y="20921"/>
                  </a:cubicBezTo>
                  <a:cubicBezTo>
                    <a:pt x="12340" y="20944"/>
                    <a:pt x="13592" y="20745"/>
                    <a:pt x="14722" y="20341"/>
                  </a:cubicBezTo>
                  <a:cubicBezTo>
                    <a:pt x="15879" y="20004"/>
                    <a:pt x="16891" y="19454"/>
                    <a:pt x="17654" y="18748"/>
                  </a:cubicBezTo>
                  <a:cubicBezTo>
                    <a:pt x="18349" y="18096"/>
                    <a:pt x="18721" y="17298"/>
                    <a:pt x="18714" y="16478"/>
                  </a:cubicBezTo>
                  <a:cubicBezTo>
                    <a:pt x="18748" y="15739"/>
                    <a:pt x="18430" y="15013"/>
                    <a:pt x="17813" y="14418"/>
                  </a:cubicBezTo>
                  <a:cubicBezTo>
                    <a:pt x="17177" y="13840"/>
                    <a:pt x="16378" y="13363"/>
                    <a:pt x="15468" y="13019"/>
                  </a:cubicBezTo>
                  <a:cubicBezTo>
                    <a:pt x="14505" y="12643"/>
                    <a:pt x="13123" y="12176"/>
                    <a:pt x="11320" y="11618"/>
                  </a:cubicBezTo>
                  <a:lnTo>
                    <a:pt x="10059" y="11232"/>
                  </a:lnTo>
                  <a:cubicBezTo>
                    <a:pt x="7594" y="10459"/>
                    <a:pt x="5707" y="9816"/>
                    <a:pt x="4400" y="9300"/>
                  </a:cubicBezTo>
                  <a:cubicBezTo>
                    <a:pt x="3241" y="8870"/>
                    <a:pt x="2208" y="8286"/>
                    <a:pt x="1357" y="7579"/>
                  </a:cubicBezTo>
                  <a:cubicBezTo>
                    <a:pt x="631" y="6938"/>
                    <a:pt x="247" y="6133"/>
                    <a:pt x="274" y="5309"/>
                  </a:cubicBezTo>
                  <a:cubicBezTo>
                    <a:pt x="257" y="4291"/>
                    <a:pt x="753" y="3303"/>
                    <a:pt x="1673" y="2524"/>
                  </a:cubicBezTo>
                  <a:cubicBezTo>
                    <a:pt x="2663" y="1691"/>
                    <a:pt x="3932" y="1049"/>
                    <a:pt x="5362" y="660"/>
                  </a:cubicBezTo>
                  <a:cubicBezTo>
                    <a:pt x="7169" y="214"/>
                    <a:pt x="9069" y="-9"/>
                    <a:pt x="10982" y="0"/>
                  </a:cubicBezTo>
                  <a:cubicBezTo>
                    <a:pt x="12990" y="-6"/>
                    <a:pt x="14971" y="337"/>
                    <a:pt x="16753" y="998"/>
                  </a:cubicBezTo>
                  <a:cubicBezTo>
                    <a:pt x="18425" y="1571"/>
                    <a:pt x="19787" y="2521"/>
                    <a:pt x="20630" y="3701"/>
                  </a:cubicBezTo>
                  <a:lnTo>
                    <a:pt x="20044" y="4216"/>
                  </a:lnTo>
                  <a:cubicBezTo>
                    <a:pt x="19254" y="3073"/>
                    <a:pt x="17953" y="2150"/>
                    <a:pt x="16347" y="1593"/>
                  </a:cubicBezTo>
                  <a:cubicBezTo>
                    <a:pt x="14722" y="976"/>
                    <a:pt x="12912" y="650"/>
                    <a:pt x="11072" y="643"/>
                  </a:cubicBezTo>
                  <a:cubicBezTo>
                    <a:pt x="9674" y="629"/>
                    <a:pt x="8287" y="815"/>
                    <a:pt x="6991" y="1190"/>
                  </a:cubicBezTo>
                  <a:cubicBezTo>
                    <a:pt x="5875" y="1501"/>
                    <a:pt x="4894" y="2017"/>
                    <a:pt x="4149" y="2687"/>
                  </a:cubicBezTo>
                  <a:cubicBezTo>
                    <a:pt x="3488" y="3288"/>
                    <a:pt x="3131" y="4030"/>
                    <a:pt x="3135" y="4794"/>
                  </a:cubicBezTo>
                  <a:cubicBezTo>
                    <a:pt x="3105" y="5479"/>
                    <a:pt x="3408" y="6149"/>
                    <a:pt x="3991" y="6693"/>
                  </a:cubicBezTo>
                  <a:cubicBezTo>
                    <a:pt x="4619" y="7242"/>
                    <a:pt x="5393" y="7696"/>
                    <a:pt x="6269" y="8029"/>
                  </a:cubicBezTo>
                  <a:cubicBezTo>
                    <a:pt x="7640" y="8547"/>
                    <a:pt x="9046" y="9014"/>
                    <a:pt x="10484" y="9428"/>
                  </a:cubicBezTo>
                  <a:lnTo>
                    <a:pt x="12288" y="9975"/>
                  </a:lnTo>
                  <a:cubicBezTo>
                    <a:pt x="14052" y="10510"/>
                    <a:pt x="15775" y="11112"/>
                    <a:pt x="17451" y="11777"/>
                  </a:cubicBezTo>
                  <a:cubicBezTo>
                    <a:pt x="18595" y="12230"/>
                    <a:pt x="19611" y="12830"/>
                    <a:pt x="20450" y="13547"/>
                  </a:cubicBezTo>
                  <a:cubicBezTo>
                    <a:pt x="21201" y="14212"/>
                    <a:pt x="21600" y="15043"/>
                    <a:pt x="21577" y="15897"/>
                  </a:cubicBezTo>
                  <a:cubicBezTo>
                    <a:pt x="21570" y="16899"/>
                    <a:pt x="21120" y="17873"/>
                    <a:pt x="20291" y="18682"/>
                  </a:cubicBezTo>
                  <a:cubicBezTo>
                    <a:pt x="19349" y="19600"/>
                    <a:pt x="18080" y="20322"/>
                    <a:pt x="16616" y="20773"/>
                  </a:cubicBezTo>
                  <a:cubicBezTo>
                    <a:pt x="14870" y="21322"/>
                    <a:pt x="12977" y="21591"/>
                    <a:pt x="11070" y="21562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</p:grpSp>
      <p:sp>
        <p:nvSpPr>
          <p:cNvPr id="489" name="직사각형 66">
            <a:extLst>
              <a:ext uri="{FF2B5EF4-FFF2-40B4-BE49-F238E27FC236}">
                <a16:creationId xmlns:a16="http://schemas.microsoft.com/office/drawing/2014/main" id="{F491ABFC-B015-033E-13F2-477AAE60A0BE}"/>
              </a:ext>
            </a:extLst>
          </p:cNvPr>
          <p:cNvSpPr/>
          <p:nvPr/>
        </p:nvSpPr>
        <p:spPr>
          <a:xfrm>
            <a:off x="-3" y="-2"/>
            <a:ext cx="132084" cy="1308101"/>
          </a:xfrm>
          <a:prstGeom prst="rect">
            <a:avLst/>
          </a:prstGeom>
          <a:solidFill>
            <a:srgbClr val="294F5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0" name="직사각형 67">
            <a:extLst>
              <a:ext uri="{FF2B5EF4-FFF2-40B4-BE49-F238E27FC236}">
                <a16:creationId xmlns:a16="http://schemas.microsoft.com/office/drawing/2014/main" id="{ABF3B17E-C214-0031-7E49-8B7715596305}"/>
              </a:ext>
            </a:extLst>
          </p:cNvPr>
          <p:cNvSpPr/>
          <p:nvPr/>
        </p:nvSpPr>
        <p:spPr>
          <a:xfrm>
            <a:off x="-15243" y="1306415"/>
            <a:ext cx="132084" cy="5551585"/>
          </a:xfrm>
          <a:prstGeom prst="rect">
            <a:avLst/>
          </a:prstGeom>
          <a:solidFill>
            <a:srgbClr val="DFF1F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1" name="직선 연결선 68">
            <a:extLst>
              <a:ext uri="{FF2B5EF4-FFF2-40B4-BE49-F238E27FC236}">
                <a16:creationId xmlns:a16="http://schemas.microsoft.com/office/drawing/2014/main" id="{48FCF67C-AF0F-93A2-7B4A-B367197C3C5A}"/>
              </a:ext>
            </a:extLst>
          </p:cNvPr>
          <p:cNvSpPr/>
          <p:nvPr/>
        </p:nvSpPr>
        <p:spPr>
          <a:xfrm>
            <a:off x="396240" y="548640"/>
            <a:ext cx="11795761" cy="1"/>
          </a:xfrm>
          <a:prstGeom prst="line">
            <a:avLst/>
          </a:prstGeom>
          <a:ln w="6350">
            <a:solidFill>
              <a:srgbClr val="47868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3" name="TextBox 2">
            <a:extLst>
              <a:ext uri="{FF2B5EF4-FFF2-40B4-BE49-F238E27FC236}">
                <a16:creationId xmlns:a16="http://schemas.microsoft.com/office/drawing/2014/main" id="{8EFD2402-86B5-441E-0D2A-72E8E7D040A8}"/>
              </a:ext>
            </a:extLst>
          </p:cNvPr>
          <p:cNvSpPr txBox="1"/>
          <p:nvPr/>
        </p:nvSpPr>
        <p:spPr>
          <a:xfrm>
            <a:off x="9480707" y="225474"/>
            <a:ext cx="258785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solidFill>
                  <a:srgbClr val="478689"/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pPr>
            <a:r>
              <a:rPr lang="en-US" altLang="ko-KR" dirty="0"/>
              <a:t>We promise tomorrow</a:t>
            </a:r>
          </a:p>
        </p:txBody>
      </p:sp>
      <p:sp>
        <p:nvSpPr>
          <p:cNvPr id="3" name="TextBox 71">
            <a:extLst>
              <a:ext uri="{FF2B5EF4-FFF2-40B4-BE49-F238E27FC236}">
                <a16:creationId xmlns:a16="http://schemas.microsoft.com/office/drawing/2014/main" id="{B0AE7155-4235-65B7-B44E-E77FBDAAEF45}"/>
              </a:ext>
            </a:extLst>
          </p:cNvPr>
          <p:cNvSpPr txBox="1"/>
          <p:nvPr/>
        </p:nvSpPr>
        <p:spPr>
          <a:xfrm>
            <a:off x="446746" y="616129"/>
            <a:ext cx="827150" cy="18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0000"/>
              </a:lnSpc>
              <a:defRPr sz="1200" spc="20">
                <a:solidFill>
                  <a:srgbClr val="808080">
                    <a:alpha val="70000"/>
                  </a:srgbClr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lvl1pPr>
          </a:lstStyle>
          <a:p>
            <a:r>
              <a:rPr lang="en-US" altLang="ko-KR" dirty="0"/>
              <a:t>Technology</a:t>
            </a:r>
          </a:p>
        </p:txBody>
      </p:sp>
      <p:sp>
        <p:nvSpPr>
          <p:cNvPr id="4" name="TextBox 14">
            <a:extLst>
              <a:ext uri="{FF2B5EF4-FFF2-40B4-BE49-F238E27FC236}">
                <a16:creationId xmlns:a16="http://schemas.microsoft.com/office/drawing/2014/main" id="{66B7C553-BAD9-645B-19CA-75185343F83B}"/>
              </a:ext>
            </a:extLst>
          </p:cNvPr>
          <p:cNvSpPr txBox="1"/>
          <p:nvPr/>
        </p:nvSpPr>
        <p:spPr>
          <a:xfrm>
            <a:off x="396240" y="792581"/>
            <a:ext cx="8019183" cy="442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0000"/>
              </a:lnSpc>
              <a:defRPr sz="3000" spc="-30">
                <a:solidFill>
                  <a:srgbClr val="0F1E1F"/>
                </a:solidFill>
                <a:latin typeface="G마켓 산스 Bold"/>
                <a:ea typeface="G마켓 산스 Bold"/>
                <a:cs typeface="G마켓 산스 Bold"/>
                <a:sym typeface="G마켓 산스 Bold"/>
              </a:defRPr>
            </a:lvl1pPr>
          </a:lstStyle>
          <a:p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핵심기술</a:t>
            </a:r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– [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솔루션</a:t>
            </a:r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1-1] 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고성능 </a:t>
            </a:r>
            <a:r>
              <a:rPr lang="ko-KR" altLang="en-US" sz="2800"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추출제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(1.5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세대 화학소재</a:t>
            </a:r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E32685A1-FE10-5451-73C2-5CE8799E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63982"/>
            <a:ext cx="2743200" cy="365125"/>
          </a:xfrm>
        </p:spPr>
        <p:txBody>
          <a:bodyPr/>
          <a:lstStyle/>
          <a:p>
            <a:fld id="{37ED9AAF-E0B1-45D5-BDDA-4E50A2DB2EEA}" type="slidenum">
              <a:rPr lang="ko-KR" altLang="en-US" smtClean="0"/>
              <a:t>1</a:t>
            </a:fld>
            <a:endParaRPr lang="ko-KR" altLang="en-US"/>
          </a:p>
        </p:txBody>
      </p:sp>
      <p:grpSp>
        <p:nvGrpSpPr>
          <p:cNvPr id="524" name="그룹 523">
            <a:extLst>
              <a:ext uri="{FF2B5EF4-FFF2-40B4-BE49-F238E27FC236}">
                <a16:creationId xmlns:a16="http://schemas.microsoft.com/office/drawing/2014/main" id="{4F0A41D3-5349-0F70-A168-40AFAB86C6E0}"/>
              </a:ext>
            </a:extLst>
          </p:cNvPr>
          <p:cNvGrpSpPr/>
          <p:nvPr/>
        </p:nvGrpSpPr>
        <p:grpSpPr>
          <a:xfrm>
            <a:off x="389055" y="1284567"/>
            <a:ext cx="11426799" cy="512102"/>
            <a:chOff x="396238" y="1514858"/>
            <a:chExt cx="4903349" cy="512102"/>
          </a:xfrm>
        </p:grpSpPr>
        <p:grpSp>
          <p:nvGrpSpPr>
            <p:cNvPr id="525" name="그룹 524">
              <a:extLst>
                <a:ext uri="{FF2B5EF4-FFF2-40B4-BE49-F238E27FC236}">
                  <a16:creationId xmlns:a16="http://schemas.microsoft.com/office/drawing/2014/main" id="{02592A49-BAEB-B3EC-012D-E4A69158CB6E}"/>
                </a:ext>
              </a:extLst>
            </p:cNvPr>
            <p:cNvGrpSpPr/>
            <p:nvPr/>
          </p:nvGrpSpPr>
          <p:grpSpPr>
            <a:xfrm>
              <a:off x="396238" y="1514858"/>
              <a:ext cx="4903349" cy="512102"/>
              <a:chOff x="396238" y="1514858"/>
              <a:chExt cx="5520376" cy="512102"/>
            </a:xfrm>
          </p:grpSpPr>
          <p:grpSp>
            <p:nvGrpSpPr>
              <p:cNvPr id="527" name="사각형: 둥근 모서리 41">
                <a:extLst>
                  <a:ext uri="{FF2B5EF4-FFF2-40B4-BE49-F238E27FC236}">
                    <a16:creationId xmlns:a16="http://schemas.microsoft.com/office/drawing/2014/main" id="{F0547C08-7042-F87D-4A10-2201A2527766}"/>
                  </a:ext>
                </a:extLst>
              </p:cNvPr>
              <p:cNvGrpSpPr/>
              <p:nvPr/>
            </p:nvGrpSpPr>
            <p:grpSpPr>
              <a:xfrm>
                <a:off x="396238" y="1514858"/>
                <a:ext cx="5520376" cy="507833"/>
                <a:chOff x="0" y="0"/>
                <a:chExt cx="5520374" cy="507832"/>
              </a:xfrm>
            </p:grpSpPr>
            <p:sp>
              <p:nvSpPr>
                <p:cNvPr id="530" name="직사각형">
                  <a:extLst>
                    <a:ext uri="{FF2B5EF4-FFF2-40B4-BE49-F238E27FC236}">
                      <a16:creationId xmlns:a16="http://schemas.microsoft.com/office/drawing/2014/main" id="{0F448C07-1C74-4B16-C7CA-E4647081285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520374" cy="507832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4FA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lnSpc>
                      <a:spcPts val="1500"/>
                    </a:lnSpc>
                    <a:defRPr sz="1200">
                      <a:solidFill>
                        <a:srgbClr val="0F1E1F"/>
                      </a:solidFill>
                      <a:latin typeface="Pretendard SemiBold"/>
                      <a:ea typeface="Pretendard SemiBold"/>
                      <a:cs typeface="Pretendard SemiBold"/>
                      <a:sym typeface="Pretendard SemiBold"/>
                    </a:defRPr>
                  </a:pPr>
                  <a:endParaRPr/>
                </a:p>
              </p:txBody>
            </p:sp>
            <p:sp>
              <p:nvSpPr>
                <p:cNvPr id="531" name="2023년 글로벌 전기차 1406.1만대 판매…">
                  <a:extLst>
                    <a:ext uri="{FF2B5EF4-FFF2-40B4-BE49-F238E27FC236}">
                      <a16:creationId xmlns:a16="http://schemas.microsoft.com/office/drawing/2014/main" id="{238F982C-9F74-D77A-D3C0-7F01A6E87225}"/>
                    </a:ext>
                  </a:extLst>
                </p:cNvPr>
                <p:cNvSpPr txBox="1"/>
                <p:nvPr/>
              </p:nvSpPr>
              <p:spPr>
                <a:xfrm>
                  <a:off x="45720" y="111570"/>
                  <a:ext cx="5428934" cy="2846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 algn="ctr">
                    <a:lnSpc>
                      <a:spcPts val="1500"/>
                    </a:lnSpc>
                    <a:defRPr sz="1100">
                      <a:solidFill>
                        <a:srgbClr val="0F1E1F"/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pPr>
                  <a:endParaRPr sz="1400" dirty="0">
                    <a:latin typeface="Pretendard SemiBold"/>
                    <a:ea typeface="Pretendard SemiBold"/>
                    <a:cs typeface="Pretendard SemiBold"/>
                    <a:sym typeface="Pretendard SemiBold"/>
                  </a:endParaRPr>
                </a:p>
              </p:txBody>
            </p:sp>
          </p:grpSp>
          <p:sp>
            <p:nvSpPr>
              <p:cNvPr id="528" name="직선 연결선 43">
                <a:extLst>
                  <a:ext uri="{FF2B5EF4-FFF2-40B4-BE49-F238E27FC236}">
                    <a16:creationId xmlns:a16="http://schemas.microsoft.com/office/drawing/2014/main" id="{C0C23EEC-42E0-69E6-D504-4C98BBBCAEF9}"/>
                  </a:ext>
                </a:extLst>
              </p:cNvPr>
              <p:cNvSpPr/>
              <p:nvPr/>
            </p:nvSpPr>
            <p:spPr>
              <a:xfrm>
                <a:off x="396239" y="1521245"/>
                <a:ext cx="5520375" cy="1"/>
              </a:xfrm>
              <a:prstGeom prst="line">
                <a:avLst/>
              </a:prstGeom>
              <a:ln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/>
              </a:p>
            </p:txBody>
          </p:sp>
          <p:sp>
            <p:nvSpPr>
              <p:cNvPr id="529" name="직선 연결선 44">
                <a:extLst>
                  <a:ext uri="{FF2B5EF4-FFF2-40B4-BE49-F238E27FC236}">
                    <a16:creationId xmlns:a16="http://schemas.microsoft.com/office/drawing/2014/main" id="{60065CCF-48E2-0A14-99F1-80363C24821B}"/>
                  </a:ext>
                </a:extLst>
              </p:cNvPr>
              <p:cNvSpPr/>
              <p:nvPr/>
            </p:nvSpPr>
            <p:spPr>
              <a:xfrm>
                <a:off x="396239" y="2026959"/>
                <a:ext cx="5520375" cy="1"/>
              </a:xfrm>
              <a:prstGeom prst="line">
                <a:avLst/>
              </a:prstGeom>
              <a:ln w="6350"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/>
              </a:p>
            </p:txBody>
          </p:sp>
        </p:grpSp>
        <p:sp>
          <p:nvSpPr>
            <p:cNvPr id="526" name="양극재 배터리 수요">
              <a:extLst>
                <a:ext uri="{FF2B5EF4-FFF2-40B4-BE49-F238E27FC236}">
                  <a16:creationId xmlns:a16="http://schemas.microsoft.com/office/drawing/2014/main" id="{EB205A1F-1213-5395-2EFF-73CE37F97E6E}"/>
                </a:ext>
              </a:extLst>
            </p:cNvPr>
            <p:cNvSpPr txBox="1"/>
            <p:nvPr/>
          </p:nvSpPr>
          <p:spPr>
            <a:xfrm>
              <a:off x="530024" y="1568719"/>
              <a:ext cx="4635775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en-US" altLang="ko-KR" sz="2000" dirty="0"/>
                <a:t>COSOLUS </a:t>
              </a:r>
              <a:r>
                <a:rPr lang="ko-KR" altLang="en-US" sz="2000" dirty="0"/>
                <a:t>화학구조 설계 및 정제 기술 </a:t>
              </a:r>
              <a:r>
                <a:rPr lang="en-US" altLang="ko-KR" sz="2000" dirty="0">
                  <a:sym typeface="Wingdings" panose="05000000000000000000" pitchFamily="2" charset="2"/>
                </a:rPr>
                <a:t> </a:t>
              </a:r>
              <a:r>
                <a:rPr lang="ko-KR" altLang="en-US" sz="2000" dirty="0"/>
                <a:t>공정 단수 감소</a:t>
              </a:r>
              <a:r>
                <a:rPr lang="en-US" altLang="ko-KR" sz="2000" dirty="0"/>
                <a:t>, </a:t>
              </a:r>
              <a:r>
                <a:rPr lang="ko-KR" altLang="en-US" sz="2000" dirty="0"/>
                <a:t>망초 발생 저감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F8F74F9-5C22-6A11-23C4-C01A5815F2B9}"/>
              </a:ext>
            </a:extLst>
          </p:cNvPr>
          <p:cNvSpPr txBox="1"/>
          <p:nvPr/>
        </p:nvSpPr>
        <p:spPr>
          <a:xfrm>
            <a:off x="297374" y="2710134"/>
            <a:ext cx="3493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u="sng" dirty="0">
                <a:solidFill>
                  <a:srgbClr val="03444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Pretendard ExtraBold"/>
              </a:rPr>
              <a:t>COSOLUS </a:t>
            </a:r>
            <a:r>
              <a:rPr lang="ko-KR" altLang="en-US" u="sng" dirty="0" err="1">
                <a:solidFill>
                  <a:srgbClr val="03444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Pretendard ExtraBold"/>
              </a:rPr>
              <a:t>추출제</a:t>
            </a:r>
            <a:endParaRPr lang="en-US" altLang="ko-KR" u="sng" dirty="0">
              <a:solidFill>
                <a:srgbClr val="034443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Pretendard ExtraBold"/>
            </a:endParaRPr>
          </a:p>
          <a:p>
            <a:pPr algn="ctr"/>
            <a:r>
              <a:rPr lang="ko-KR" altLang="en-US" u="sng" dirty="0">
                <a:solidFill>
                  <a:srgbClr val="03444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Pretendard ExtraBold"/>
              </a:rPr>
              <a:t>이론단수</a:t>
            </a:r>
            <a:r>
              <a:rPr lang="en-US" altLang="ko-KR" u="sng" dirty="0">
                <a:solidFill>
                  <a:srgbClr val="03444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Pretendard ExtraBold"/>
              </a:rPr>
              <a:t>: 4</a:t>
            </a:r>
            <a:r>
              <a:rPr lang="ko-KR" altLang="en-US" u="sng" dirty="0">
                <a:solidFill>
                  <a:srgbClr val="03444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Pretendard ExtraBold"/>
              </a:rPr>
              <a:t>단 </a:t>
            </a:r>
            <a:r>
              <a:rPr lang="en-US" altLang="ko-KR" u="sng" dirty="0">
                <a:solidFill>
                  <a:srgbClr val="03444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Pretendard ExtraBold"/>
              </a:rPr>
              <a:t>(20% </a:t>
            </a:r>
            <a:r>
              <a:rPr lang="ko-KR" altLang="en-US" u="sng" dirty="0">
                <a:solidFill>
                  <a:srgbClr val="03444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Pretendard ExtraBold"/>
              </a:rPr>
              <a:t>감소</a:t>
            </a:r>
            <a:r>
              <a:rPr lang="en-US" altLang="ko-KR" u="sng" dirty="0">
                <a:solidFill>
                  <a:srgbClr val="03444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Pretendard ExtraBold"/>
              </a:rPr>
              <a:t>)</a:t>
            </a:r>
            <a:endParaRPr lang="ko-KR" altLang="en-US" u="sng" dirty="0">
              <a:solidFill>
                <a:srgbClr val="034443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Pretendard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DB3F7D-A3B1-1D13-B85E-EB90DA036922}"/>
              </a:ext>
            </a:extLst>
          </p:cNvPr>
          <p:cNvSpPr txBox="1"/>
          <p:nvPr/>
        </p:nvSpPr>
        <p:spPr>
          <a:xfrm>
            <a:off x="3949704" y="2733362"/>
            <a:ext cx="24523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기존 </a:t>
            </a:r>
            <a:r>
              <a:rPr lang="ko-KR" altLang="en-US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추출제</a:t>
            </a:r>
            <a:endParaRPr lang="en-US" altLang="ko-KR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ctr"/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이론단수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5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단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B23358B-D4BB-4238-7EF5-84F871621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79" y="3418674"/>
            <a:ext cx="1862611" cy="272833"/>
          </a:xfrm>
          <a:prstGeom prst="rect">
            <a:avLst/>
          </a:prstGeom>
        </p:spPr>
      </p:pic>
      <p:graphicFrame>
        <p:nvGraphicFramePr>
          <p:cNvPr id="17" name="Chart 1">
            <a:extLst>
              <a:ext uri="{FF2B5EF4-FFF2-40B4-BE49-F238E27FC236}">
                <a16:creationId xmlns:a16="http://schemas.microsoft.com/office/drawing/2014/main" id="{4EBE3D2E-7F22-2C4C-D4C1-7EE8B99BA4F2}"/>
              </a:ext>
            </a:extLst>
          </p:cNvPr>
          <p:cNvGraphicFramePr>
            <a:graphicFrameLocks/>
          </p:cNvGraphicFramePr>
          <p:nvPr/>
        </p:nvGraphicFramePr>
        <p:xfrm>
          <a:off x="478717" y="3519224"/>
          <a:ext cx="2800426" cy="26852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80F859F-95BB-05AC-5931-477BE05B7BA4}"/>
              </a:ext>
            </a:extLst>
          </p:cNvPr>
          <p:cNvSpPr txBox="1"/>
          <p:nvPr/>
        </p:nvSpPr>
        <p:spPr>
          <a:xfrm>
            <a:off x="799773" y="6184613"/>
            <a:ext cx="21804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수상 내 금속 농도 </a:t>
            </a:r>
            <a:r>
              <a:rPr lang="en-US" altLang="ko-KR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(kg/kg)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144E62-3CEF-2D68-A3A8-462C5C676A43}"/>
              </a:ext>
            </a:extLst>
          </p:cNvPr>
          <p:cNvSpPr txBox="1"/>
          <p:nvPr/>
        </p:nvSpPr>
        <p:spPr>
          <a:xfrm>
            <a:off x="3873810" y="6203504"/>
            <a:ext cx="21804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수상 내 금속 농도 </a:t>
            </a:r>
            <a:r>
              <a:rPr lang="en-US" altLang="ko-KR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(kg/kg)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CD3589-EF56-524F-1C47-6D1728ED492D}"/>
              </a:ext>
            </a:extLst>
          </p:cNvPr>
          <p:cNvSpPr txBox="1"/>
          <p:nvPr/>
        </p:nvSpPr>
        <p:spPr>
          <a:xfrm rot="16200000">
            <a:off x="2288487" y="4395761"/>
            <a:ext cx="2153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유기상 내 금속 농도 </a:t>
            </a:r>
            <a:r>
              <a:rPr lang="en-US" altLang="ko-KR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(kg/kg)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E2CBE1-0A44-A367-1184-BFC103E0F1D5}"/>
              </a:ext>
            </a:extLst>
          </p:cNvPr>
          <p:cNvSpPr txBox="1"/>
          <p:nvPr/>
        </p:nvSpPr>
        <p:spPr>
          <a:xfrm rot="16200000">
            <a:off x="-728518" y="4442315"/>
            <a:ext cx="2153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유기상 내 금속 농도 </a:t>
            </a:r>
            <a:r>
              <a:rPr lang="en-US" altLang="ko-KR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(kg/kg)</a:t>
            </a:r>
          </a:p>
        </p:txBody>
      </p:sp>
      <p:graphicFrame>
        <p:nvGraphicFramePr>
          <p:cNvPr id="42" name="Chart 1">
            <a:extLst>
              <a:ext uri="{FF2B5EF4-FFF2-40B4-BE49-F238E27FC236}">
                <a16:creationId xmlns:a16="http://schemas.microsoft.com/office/drawing/2014/main" id="{6F3BAD16-6E8B-3D26-097E-5CCD13DD99C5}"/>
              </a:ext>
            </a:extLst>
          </p:cNvPr>
          <p:cNvGraphicFramePr>
            <a:graphicFrameLocks/>
          </p:cNvGraphicFramePr>
          <p:nvPr/>
        </p:nvGraphicFramePr>
        <p:xfrm>
          <a:off x="3491352" y="3519224"/>
          <a:ext cx="2921358" cy="26852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32490ED5-2F8C-033F-22E2-87FE3A14D230}"/>
              </a:ext>
            </a:extLst>
          </p:cNvPr>
          <p:cNvCxnSpPr>
            <a:cxnSpLocks/>
          </p:cNvCxnSpPr>
          <p:nvPr/>
        </p:nvCxnSpPr>
        <p:spPr>
          <a:xfrm>
            <a:off x="6637002" y="2372836"/>
            <a:ext cx="0" cy="3979449"/>
          </a:xfrm>
          <a:prstGeom prst="line">
            <a:avLst/>
          </a:prstGeom>
          <a:noFill/>
          <a:ln w="6350" cap="flat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3000">
                  <a:srgbClr val="294F51"/>
                </a:gs>
                <a:gs pos="100000">
                  <a:schemeClr val="bg1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A7F34F4-84A5-CA75-EAE5-9CC100B86B0A}"/>
              </a:ext>
            </a:extLst>
          </p:cNvPr>
          <p:cNvSpPr txBox="1"/>
          <p:nvPr/>
        </p:nvSpPr>
        <p:spPr>
          <a:xfrm>
            <a:off x="237173" y="1827575"/>
            <a:ext cx="6083940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en-US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추출 효율 </a:t>
            </a:r>
            <a:r>
              <a:rPr lang="en-US" altLang="ko-KR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2~5% </a:t>
            </a:r>
            <a:r>
              <a:rPr lang="ko-KR" altLang="en-US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개선 </a:t>
            </a:r>
            <a:r>
              <a:rPr lang="en-US" altLang="ko-KR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Wingdings" panose="05000000000000000000" pitchFamily="2" charset="2"/>
              </a:rPr>
              <a:t></a:t>
            </a:r>
            <a:r>
              <a:rPr lang="ko-KR" altLang="en-US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u="sng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추출 단수 </a:t>
            </a:r>
            <a:r>
              <a:rPr lang="en-US" altLang="ko-KR" u="sng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en-US" u="sng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단 </a:t>
            </a:r>
            <a:r>
              <a:rPr lang="ko-KR" altLang="en-US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저감</a:t>
            </a:r>
            <a:r>
              <a:rPr lang="en-US" altLang="ko-KR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</a:t>
            </a:r>
            <a:r>
              <a:rPr lang="ko-KR" altLang="en-US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endParaRPr lang="en-US" altLang="ko-KR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(CAPEX </a:t>
            </a:r>
            <a:r>
              <a:rPr lang="ko-KR" altLang="en-US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경제성 확보</a:t>
            </a:r>
            <a:r>
              <a:rPr lang="en-US" altLang="ko-KR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endParaRPr lang="ko-KR" altLang="en-US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96315D-FAD5-6B94-A196-6FACD69B56F0}"/>
              </a:ext>
            </a:extLst>
          </p:cNvPr>
          <p:cNvSpPr txBox="1"/>
          <p:nvPr/>
        </p:nvSpPr>
        <p:spPr>
          <a:xfrm>
            <a:off x="6582603" y="1813551"/>
            <a:ext cx="5372224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lang="ko-KR" altLang="en-US" u="sng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추출단수 </a:t>
            </a:r>
            <a:r>
              <a:rPr lang="en-US" altLang="ko-KR" u="sng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en-US" u="sng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단</a:t>
            </a:r>
            <a:r>
              <a:rPr lang="ko-KR" altLang="en-US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저감 </a:t>
            </a:r>
            <a:r>
              <a:rPr lang="en-US" altLang="ko-KR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Wingdings" panose="05000000000000000000" pitchFamily="2" charset="2"/>
              </a:rPr>
              <a:t></a:t>
            </a:r>
            <a:r>
              <a:rPr lang="ko-KR" altLang="en-US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망초 </a:t>
            </a:r>
            <a:r>
              <a:rPr lang="en-US" altLang="ko-KR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5% </a:t>
            </a:r>
            <a:r>
              <a:rPr lang="ko-KR" altLang="en-US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저감</a:t>
            </a:r>
            <a:r>
              <a:rPr lang="en-US" altLang="ko-KR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(OPEX </a:t>
            </a:r>
            <a:r>
              <a:rPr lang="ko-KR" altLang="en-US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경제성 확보</a:t>
            </a:r>
            <a:r>
              <a:rPr lang="en-US" altLang="ko-KR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endParaRPr lang="ko-KR" altLang="en-US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CE461C4-18C9-2BA0-044C-093494C5BD95}"/>
              </a:ext>
            </a:extLst>
          </p:cNvPr>
          <p:cNvGraphicFramePr>
            <a:graphicFrameLocks noGrp="1"/>
          </p:cNvGraphicFramePr>
          <p:nvPr/>
        </p:nvGraphicFramePr>
        <p:xfrm>
          <a:off x="6799675" y="4082207"/>
          <a:ext cx="5298249" cy="1415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449">
                  <a:extLst>
                    <a:ext uri="{9D8B030D-6E8A-4147-A177-3AD203B41FA5}">
                      <a16:colId xmlns:a16="http://schemas.microsoft.com/office/drawing/2014/main" val="2876619434"/>
                    </a:ext>
                  </a:extLst>
                </a:gridCol>
                <a:gridCol w="826632">
                  <a:extLst>
                    <a:ext uri="{9D8B030D-6E8A-4147-A177-3AD203B41FA5}">
                      <a16:colId xmlns:a16="http://schemas.microsoft.com/office/drawing/2014/main" val="2480283103"/>
                    </a:ext>
                  </a:extLst>
                </a:gridCol>
                <a:gridCol w="2526168">
                  <a:extLst>
                    <a:ext uri="{9D8B030D-6E8A-4147-A177-3AD203B41FA5}">
                      <a16:colId xmlns:a16="http://schemas.microsoft.com/office/drawing/2014/main" val="1752202859"/>
                    </a:ext>
                  </a:extLst>
                </a:gridCol>
              </a:tblGrid>
              <a:tr h="6557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78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추출</a:t>
                      </a:r>
                      <a:endParaRPr lang="en-US" altLang="ko-KR" sz="1800" b="0" kern="1200" dirty="0">
                        <a:solidFill>
                          <a:schemeClr val="lt1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단수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78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니켈</a:t>
                      </a:r>
                      <a:r>
                        <a:rPr lang="en-US" altLang="ko-KR" sz="1800" b="0" kern="1200" dirty="0">
                          <a:solidFill>
                            <a:schemeClr val="lt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 1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 톤 당 </a:t>
                      </a:r>
                      <a:endParaRPr lang="en-US" altLang="ko-KR" sz="1800" b="0" kern="1200" dirty="0">
                        <a:solidFill>
                          <a:schemeClr val="lt1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발생하는 망초 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78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897860"/>
                  </a:ext>
                </a:extLst>
              </a:tr>
              <a:tr h="379940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기존 </a:t>
                      </a:r>
                      <a:r>
                        <a:rPr lang="ko-KR" altLang="en-US" dirty="0" err="1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추출제</a:t>
                      </a:r>
                      <a:r>
                        <a:rPr lang="en-US" altLang="ko-KR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3.6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톤</a:t>
                      </a:r>
                      <a:endParaRPr lang="en-US" altLang="ko-KR" sz="1800" kern="1200" dirty="0">
                        <a:solidFill>
                          <a:schemeClr val="tx1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578994"/>
                  </a:ext>
                </a:extLst>
              </a:tr>
              <a:tr h="379940">
                <a:tc>
                  <a:txBody>
                    <a:bodyPr/>
                    <a:lstStyle/>
                    <a:p>
                      <a:pPr algn="ctr"/>
                      <a:r>
                        <a:rPr lang="en-US" altLang="ko-KR" u="sng" dirty="0">
                          <a:solidFill>
                            <a:srgbClr val="034443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  <a:sym typeface="Pretendard ExtraBold"/>
                        </a:rPr>
                        <a:t>COSOLUS </a:t>
                      </a:r>
                      <a:r>
                        <a:rPr lang="ko-KR" altLang="en-US" u="sng" dirty="0" err="1">
                          <a:solidFill>
                            <a:srgbClr val="034443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  <a:sym typeface="Pretendard ExtraBold"/>
                        </a:rPr>
                        <a:t>추출제</a:t>
                      </a:r>
                      <a:endParaRPr lang="en-US" altLang="ko-KR" u="sng" dirty="0">
                        <a:solidFill>
                          <a:srgbClr val="034443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  <a:sym typeface="Pretendard ExtraBold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u="sng" dirty="0">
                          <a:solidFill>
                            <a:srgbClr val="034443"/>
                          </a:solidFill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  <a:sym typeface="Pretendard ExtraBold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 3.3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톤 </a:t>
                      </a:r>
                      <a:endParaRPr lang="en-US" altLang="ko-KR" sz="1800" u="sng" kern="1200" baseline="30000" dirty="0">
                        <a:solidFill>
                          <a:srgbClr val="034443"/>
                        </a:solidFill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198951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4A16AD9-8673-F64A-8FD9-C8D6FF7A208F}"/>
              </a:ext>
            </a:extLst>
          </p:cNvPr>
          <p:cNvSpPr txBox="1"/>
          <p:nvPr/>
        </p:nvSpPr>
        <p:spPr>
          <a:xfrm>
            <a:off x="6461263" y="3111991"/>
            <a:ext cx="5341730" cy="788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대한민국 배터리 재활용 업체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년 간 니켈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16,000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톤 생산</a:t>
            </a:r>
            <a:endParaRPr lang="en-US" altLang="ko-KR" sz="16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COSOLUS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추출제로 </a:t>
            </a:r>
            <a:r>
              <a: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4,800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톤 망초 저감 가능</a:t>
            </a:r>
            <a:endParaRPr lang="en-US" altLang="ko-KR" sz="16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6EC814-6C34-6907-7169-CB9CDE7434B7}"/>
              </a:ext>
            </a:extLst>
          </p:cNvPr>
          <p:cNvSpPr txBox="1"/>
          <p:nvPr/>
        </p:nvSpPr>
        <p:spPr>
          <a:xfrm>
            <a:off x="6705628" y="6372330"/>
            <a:ext cx="52001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baseline="30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대한민국 배터리 재활용 업체들의 </a:t>
            </a:r>
            <a:r>
              <a:rPr lang="ko-KR" altLang="en-US" sz="12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블랙매스</a:t>
            </a:r>
            <a:r>
              <a:rPr lang="ko-KR" altLang="en-US" sz="12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연간 처리량 기준 </a:t>
            </a:r>
            <a:endParaRPr lang="en-US" altLang="ko-KR" sz="12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0446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170</Words>
  <Application>Microsoft Office PowerPoint</Application>
  <PresentationFormat>와이드스크린</PresentationFormat>
  <Paragraphs>32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Arial</vt:lpstr>
      <vt:lpstr>Pretendard ExtraBold</vt:lpstr>
      <vt:lpstr>Pretendard Light</vt:lpstr>
      <vt:lpstr>Pretendard SemiBold</vt:lpstr>
      <vt:lpstr>Wingdings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4</cp:revision>
  <dcterms:created xsi:type="dcterms:W3CDTF">2026-08-13T08:23:15Z</dcterms:created>
  <dcterms:modified xsi:type="dcterms:W3CDTF">2026-08-13T08:58:59Z</dcterms:modified>
</cp:coreProperties>
</file>