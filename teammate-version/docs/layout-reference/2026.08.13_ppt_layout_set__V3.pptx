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45720"/>
            <a:ext cx="12100255" cy="6766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FULL-BLEED IMAGE / BRAND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206240"/>
            <a:ext cx="594360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07408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22272B"/>
                </a:solidFill>
                <a:latin typeface="Arial"/>
              </a:rP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56048"/>
            <a:ext cx="5212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Subtitle / Date / Business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12648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D605E"/>
                </a:solidFill>
                <a:latin typeface="Arial"/>
              </a:rP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02  Contents /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Navigation / chapter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840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2272B"/>
                </a:solidFill>
                <a:latin typeface="Arial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Short message or section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2588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01 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78308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2272B"/>
                </a:solidFill>
                <a:latin typeface="Arial"/>
              </a:rPr>
              <a:t>02 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74320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24612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03  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70332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420624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04  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03  Hero / Key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Single idea + strong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669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22272B"/>
                </a:solidFill>
                <a:latin typeface="Arial"/>
              </a:rPr>
              <a:t>ONE STRONG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2120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178"/>
                </a:solidFill>
                <a:latin typeface="Arial"/>
              </a:rPr>
              <a:t>A short supporting statement that frames the business, technology, or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4892040" cy="44805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234440"/>
            <a:ext cx="480060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HERO VISUAL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12064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605E"/>
                </a:solidFill>
                <a:latin typeface="Arial"/>
              </a:rPr>
              <a:t>KEY TAKEAWAY / PROOF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Optional supporting number or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04 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Headline + 3–4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07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22272B"/>
                </a:solidFill>
                <a:latin typeface="Arial"/>
              </a:rPr>
              <a:t>CORE PERFORMANCE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10515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Supporting note / source / 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05  Category /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3–4 equal business or product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43484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23444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128016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3832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443484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448056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28016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88036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43484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123444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28016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88036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33832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39" y="443484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39" y="448056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06  Image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Facility / product / technology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5806440" cy="4846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715000" cy="4754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LARGE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32588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22272B"/>
                </a:solidFill>
                <a:latin typeface="Arial"/>
              </a:rPr>
              <a:t>CONTENT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74519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Short introduction / core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517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615184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520439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83863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38912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352544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07  Market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Market evidence + issue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MARKET / INDUSTRY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00" cy="35661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394960" cy="3474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MARKET CHART / SIZE / 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32588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WHY THIS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965960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084831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39112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3017520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3136391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90672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4069079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187952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142231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Source / market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08  Problem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Pain points directly mapped to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2272B"/>
                </a:solidFill>
                <a:latin typeface="Arial"/>
              </a:rPr>
              <a:t>CURRENT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03120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965960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13055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63239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200399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063239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22783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2511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297680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160520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32511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486400"/>
            <a:ext cx="557784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532120"/>
            <a:ext cx="5577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RESULT: Digitalization / Performance / Cost / Size /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09  Technology /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Mechanism / architecture / operating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675120" cy="44805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58368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TECHNOLOGY DIAGRAM /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371600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1975104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761488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2724912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511296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3474720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261104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224528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5166360"/>
            <a:ext cx="347472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5266944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CORE TECHNICAL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10 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Company vs competitor / existing vs new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2272B"/>
                </a:solidFill>
                <a:latin typeface="Arial"/>
              </a:rPr>
              <a:t>COMPARISON TOPIC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98348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83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2272B"/>
                </a:solidFill>
                <a:latin typeface="Arial"/>
              </a:rPr>
              <a:t>EXISTING / 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514600"/>
            <a:ext cx="425196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416052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PRINCIPLE /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• Comparison criterion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177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749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498348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83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D605E"/>
                </a:solidFill>
                <a:latin typeface="Arial"/>
              </a:rPr>
              <a:t>OUR PRODUCT / TECHNOLOGY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14600"/>
            <a:ext cx="425196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560320"/>
            <a:ext cx="416052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PRINCIPLE /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605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• Comparison criterion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6177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0749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11  Product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Portfolio +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3886200" cy="4526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794760" cy="4434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MAIN PRODUCT /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2272B"/>
                </a:solidFill>
                <a:latin typeface="Arial"/>
              </a:rPr>
              <a:t>PRODUCT /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32588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74320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10896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0896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56616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61188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98348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3492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56616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61188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98348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12  Process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Flow / components / system linkage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SYSTEM / PROCESS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304288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965960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79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04288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3375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703320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965960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011679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304288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3375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703320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965960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011679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304288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3375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703320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965960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011679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3375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703320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709160"/>
            <a:ext cx="8046720" cy="658368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4828032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SYSTEM OUTPUT / CUSTOMER VALUE / FINAL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13  Validation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Test condition → evidence →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TEST / VALIDATION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834640" cy="3611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72B"/>
                </a:solidFill>
                <a:latin typeface="Arial"/>
              </a:rPr>
              <a:t>TEST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1783080"/>
            <a:ext cx="4572000" cy="3611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28800"/>
            <a:ext cx="4480560" cy="3520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RESULT IMAGE /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783080"/>
            <a:ext cx="2514600" cy="3611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9339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605E"/>
                </a:solidFill>
                <a:latin typeface="Arial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0604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2D605E"/>
                </a:solidFill>
                <a:latin typeface="Arial"/>
              </a:rPr>
              <a:t>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29184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Key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794760"/>
            <a:ext cx="2057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Interpretation /
comparison /
implication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5623560"/>
            <a:ext cx="79095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669280"/>
            <a:ext cx="7909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CONCLUSION / VALIDATED PERFORMANCE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14  Timeline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History / development / commercialization /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ROADMAP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0149840" cy="22860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834640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834640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9476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6052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834640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148840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73736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37160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2834640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429000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79476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16052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0" y="2834640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2148840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173736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37160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15  Financial /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Revenue forecast / investment / growth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583680" cy="44348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92240" cy="4343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REVENUE / GROWTH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371600"/>
            <a:ext cx="3566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GROWTH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2103120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926080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3063239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886200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4023360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77639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983480"/>
            <a:ext cx="3611880" cy="65836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102352"/>
            <a:ext cx="3611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FUNDING / TARGET /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16  Company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Company facts + organization / key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3657600" cy="46634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2272B"/>
                </a:solidFill>
                <a:latin typeface="Arial"/>
              </a:rPr>
              <a:t>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Founded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48840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71576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282696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Facilities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849624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Certifications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416552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325880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KEY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8745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9202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747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8404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8745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59" y="19202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4747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8745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202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4747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8404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892040"/>
            <a:ext cx="5989320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5010912"/>
            <a:ext cx="5989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ORGANIZATION / TEAM STRENGTH / IP /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17  Table /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Specs / structured comparison / detailed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TABLE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8648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0055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41463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8895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2872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0303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96312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0055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1463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5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2872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3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209544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0055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1463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5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62872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3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922776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98648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79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5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1463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68895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2872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0303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636008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98648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79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55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41463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8895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62872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0303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Highlight / conclusion / footnote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18  Two-Column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Executive summary / overview /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074920" cy="4709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4617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COLUMN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572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/ category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5176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6148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2491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520439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3016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93591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38912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9884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6227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074920" cy="4709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81328"/>
            <a:ext cx="4617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COLUMN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4572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/ category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65176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6148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2491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520439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63016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593591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38912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49884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46227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19  Claim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Strength / differentiator supported by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CORE CLAIM / DIFFERENTIATOR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15087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D605E"/>
                </a:solidFill>
                <a:latin typeface="Arial"/>
              </a:rPr>
              <a:t>OUR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5760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2272B"/>
                </a:solidFill>
                <a:latin typeface="Arial"/>
              </a:rPr>
              <a:t>Short explanation of the advantage or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029968"/>
            <a:ext cx="361188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2075688"/>
            <a:ext cx="3520440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PROOF IMAGE / CERTIFICATE /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69848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BASELINE / EXISTING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4389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Business impact / customer value / measurable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20  Product Spec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Single product / model / solution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0" cy="42519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480560" cy="4160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PRODUCT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28016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PRODUCT / MODEL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47088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One-line positioning / key benefit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251460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262432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90779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251460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262432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90779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361188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37216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400507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61188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7216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00507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4892040"/>
            <a:ext cx="498348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5010912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APPLICATION / CERTIFICATION / KEY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21  Customer References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Customers / partners / PoC / certifications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TRUST &amp; MARKET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5074920"/>
            <a:ext cx="7726679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0280" y="5193792"/>
            <a:ext cx="7726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REFERENCE SUMMARY / TOTAL CUSTOMERS / CONTRACT VALUE / KEY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22  Closing /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Final message + contact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669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22272B"/>
                </a:solidFill>
                <a:latin typeface="Arial"/>
              </a:rPr>
              <a:t>FINAL BRAND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212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178"/>
                </a:solidFill>
                <a:latin typeface="Arial"/>
              </a:rPr>
              <a:t>Short closing statement / call to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34440"/>
            <a:ext cx="4709160" cy="4297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280160"/>
            <a:ext cx="4617720" cy="4206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BRAND / PRODUCT VISUAL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03320"/>
            <a:ext cx="5120640" cy="16002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913632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224528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35424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35424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846320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23  Concept Icon Trio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3 concepts / values / business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CONCEPT / VALUE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explaining the three concepts</a:t>
            </a:r>
          </a:p>
        </p:txBody>
      </p:sp>
      <p:sp>
        <p:nvSpPr>
          <p:cNvPr id="7" name="Oval 6"/>
          <p:cNvSpPr/>
          <p:nvPr/>
        </p:nvSpPr>
        <p:spPr>
          <a:xfrm>
            <a:off x="210312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Use for: core values / business areas / benefits / key concepts / strategic pillars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24  Message +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Conclusion block + 3 supporting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657600" cy="45262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CORE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108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2272B"/>
                </a:solidFill>
                <a:latin typeface="Arial"/>
              </a:rPr>
              <a:t>2–3 line conclusion / claim
that frames the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• Evidence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• Evidence point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34440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07592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73352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743200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78892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16352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82112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4251960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297680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25112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90872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25  Symmetric Two-Split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Two topics with equal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2272B"/>
                </a:solidFill>
                <a:latin typeface="Arial"/>
              </a:rPr>
              <a:t>ONE-LINE LEAD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07492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617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TOPIC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06040"/>
            <a:ext cx="4434840" cy="1874519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343400" cy="17830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09160"/>
            <a:ext cx="4434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Key number /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66360"/>
            <a:ext cx="4434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Source /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07492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4617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TOPIC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79" y="2606040"/>
            <a:ext cx="4434840" cy="1874519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399" y="2651760"/>
            <a:ext cx="4343400" cy="17830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709160"/>
            <a:ext cx="4434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Key number /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166360"/>
            <a:ext cx="4434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Source / note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26  Three-Column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Repeated card structure for parallel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599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27  Gantt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Tasks × time periods + progress bars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2272B"/>
                </a:solidFill>
                <a:latin typeface="Arial"/>
              </a:rPr>
              <a:t>ROADMAP / IMPLEMENTATION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256032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92807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0008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328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127248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1012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39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5780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904487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8736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9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780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376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681727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7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39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5780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2542032"/>
            <a:ext cx="274320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2569463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PHASE 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319272"/>
            <a:ext cx="3749039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3346703"/>
            <a:ext cx="374903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PHASE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096512"/>
            <a:ext cx="256032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123944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EXECUTE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873752"/>
            <a:ext cx="182880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901184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PLANNED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28  Before / After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Current vs improved process in two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697178"/>
                </a:solidFill>
                <a:latin typeface="Arial"/>
              </a:rPr>
              <a:t>CURRENT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371600"/>
            <a:ext cx="123444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41732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1" y="156362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123444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41732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156362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371600"/>
            <a:ext cx="123444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41732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56362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1371600"/>
            <a:ext cx="123444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41732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56362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123444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377440"/>
            <a:ext cx="8001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Outcome / difference / key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D605E"/>
                </a:solidFill>
                <a:latin typeface="Arial"/>
              </a:rPr>
              <a:t>IMPROVED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611880"/>
            <a:ext cx="1234440" cy="7772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79" y="365760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1" y="380390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611880"/>
            <a:ext cx="1234440" cy="7772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65760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80390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611880"/>
            <a:ext cx="1234440" cy="7772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365760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380390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3611880"/>
            <a:ext cx="1234440" cy="7772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65760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3803904"/>
            <a:ext cx="3840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611880"/>
            <a:ext cx="1234440" cy="7772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657600"/>
            <a:ext cx="1143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617720"/>
            <a:ext cx="8001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Outcome / difference / key improvement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623560"/>
            <a:ext cx="10561320" cy="4114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10561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CHANGE / SAVING / INTERNALIZATION / PERFORMANCE IMPROVEMENT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29  Hub &amp; Spoke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Central conclusion + surrounding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291840" cy="44348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2272B"/>
                </a:solidFill>
                <a:latin typeface="Arial"/>
              </a:rPr>
              <a:t>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74136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41064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4</a:t>
            </a:r>
          </a:p>
        </p:txBody>
      </p:sp>
      <p:sp>
        <p:nvSpPr>
          <p:cNvPr id="12" name="Oval 11"/>
          <p:cNvSpPr/>
          <p:nvPr/>
        </p:nvSpPr>
        <p:spPr>
          <a:xfrm>
            <a:off x="6903720" y="2834640"/>
            <a:ext cx="1828800" cy="1188720"/>
          </a:xfrm>
          <a:prstGeom prst="ellipse">
            <a:avLst/>
          </a:prstGeom>
          <a:solidFill>
            <a:srgbClr val="E7EAED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97180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605E"/>
                </a:solidFill>
                <a:latin typeface="Arial"/>
              </a:rPr>
              <a:t>CORE
CONCLUSION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141732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61848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1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0" y="141732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2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457200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77316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3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457200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477316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30  Image Gallery + Conclusion Banner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Three images / captions + bottom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32120"/>
            <a:ext cx="106527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52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ONE-SENTENCE CONCLUSION / KEY TAKEAWAY BANNER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31  Company Overview +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회사소개 / 사업장 소개 등에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005151"/>
                </a:solidFill>
                <a:latin typeface="Pretendard"/>
              </a:rPr>
              <a:t>핵심 메시지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727272"/>
                </a:solidFill>
                <a:latin typeface="Pretendard"/>
              </a:rPr>
              <a:t>회사 또는 사업장의 정체성을 한 문장으로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기업명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423160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80360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026664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대표자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26664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483864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630168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임직원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630168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087368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233672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소재지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233672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690872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837176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837176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5294376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315200" y="1234440"/>
            <a:ext cx="4251960" cy="4983480"/>
          </a:xfrm>
          <a:prstGeom prst="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3291840"/>
            <a:ext cx="4251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5DECB66B-460C-8FD5-E5D8-A78DDBB40FD9}"/>
              </a:ext>
            </a:extLst>
          </p:cNvPr>
          <p:cNvSpPr/>
          <p:nvPr/>
        </p:nvSpPr>
        <p:spPr>
          <a:xfrm>
            <a:off x="440436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84421934-1973-377E-1DEC-896195820E35}"/>
              </a:ext>
            </a:extLst>
          </p:cNvPr>
          <p:cNvSpPr/>
          <p:nvPr/>
        </p:nvSpPr>
        <p:spPr>
          <a:xfrm>
            <a:off x="256032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32  Composite Data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IR 실적 / 시장 / 사업현황 등 여러 지표를 한 장에서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05151"/>
                </a:solidFill>
                <a:latin typeface="Pretendard"/>
              </a:rPr>
              <a:t>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005151"/>
                </a:solidFill>
                <a:latin typeface="Pretendard"/>
              </a:rPr>
              <a:t>₩120억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005151"/>
                </a:solidFill>
                <a:latin typeface="Pretendard"/>
              </a:rPr>
              <a:t>98.2%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5176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5349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727272"/>
                </a:solidFill>
                <a:latin typeface="Pretendard"/>
              </a:rPr>
              <a:t>MAIN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212080" cy="2011680"/>
          </a:xfrm>
          <a:prstGeom prst="roundRect">
            <a:avLst/>
          </a:prstGeom>
          <a:solidFill>
            <a:srgbClr val="DFF1F1"/>
          </a:solidFill>
          <a:ln>
            <a:solidFill>
              <a:srgbClr val="A5B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05151"/>
                </a:solidFill>
                <a:latin typeface="Pretendard"/>
              </a:rPr>
              <a:t>DONUT /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1188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727272"/>
                </a:solidFill>
                <a:latin typeface="Pretendard"/>
              </a:rPr>
              <a:t>INSIGHT / MINI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33  Image 2/4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사업장 / 제품군 / 적용 분야처럼 시각 자료 중심 콘텐츠에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5151"/>
                </a:solidFill>
                <a:latin typeface="Pretendard"/>
              </a:rPr>
              <a:t>2분할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68880" cy="201168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Pretendard"/>
              </a:rPr>
              <a:t>캡션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947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Pretendard"/>
              </a:rPr>
              <a:t>캡션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325880"/>
            <a:ext cx="0" cy="438912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5151"/>
                </a:solidFill>
                <a:latin typeface="Pretendard"/>
              </a:rPr>
              <a:t>4분할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36391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136391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033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7033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42062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