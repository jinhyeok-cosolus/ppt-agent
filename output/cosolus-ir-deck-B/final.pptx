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15.jpg"/><Relationship Id="rId7" Type="http://schemas.openxmlformats.org/officeDocument/2006/relationships/image" Target="../media/image16.png"/><Relationship Id="rId8" Type="http://schemas.openxmlformats.org/officeDocument/2006/relationships/image" Target="../media/image17.jpg"/><Relationship Id="rId9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A6A8C">
                  <a:alpha val="55000"/>
                </a:srgbClr>
              </a:gs>
              <a:gs pos="50000">
                <a:srgbClr val="7FC8BE">
                  <a:alpha val="30000"/>
                </a:srgbClr>
              </a:gs>
              <a:gs pos="100000">
                <a:srgbClr val="0F655B">
                  <a:alpha val="50000"/>
                </a:srgbClr>
              </a:gs>
            </a:gsLst>
            <a:lin scaled="1" ang="4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81000"/>
            <a:ext cx="216232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Pretendard"/>
                <a:ea typeface="Pretendard"/>
              </a:rPr>
              <a:t>Small actions, BIG DIFFERENCE</a:t>
            </a:r>
          </a:p>
        </p:txBody>
      </p:sp>
      <p:pic>
        <p:nvPicPr>
          <p:cNvPr id="6" name="Picture 5" descr="cosolus-ci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19125"/>
            <a:ext cx="2206675" cy="342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71974" y="3251746"/>
            <a:ext cx="5848052" cy="552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4859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Pretendard"/>
                <a:ea typeface="Pretendard"/>
              </a:rPr>
              <a:t>지속가능한 배터리 재활용을 위한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1645" y="3868936"/>
            <a:ext cx="6348561" cy="552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4859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Pretendard"/>
                <a:ea typeface="Pretendard"/>
              </a:rPr>
              <a:t>화학소재 및 친환경 차세대 공정기술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solus-ci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8125"/>
            <a:ext cx="1217712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05095" y="238125"/>
            <a:ext cx="177730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8689"/>
                </a:solidFill>
                <a:latin typeface="Pretendard"/>
                <a:ea typeface="Pretendard"/>
              </a:rPr>
              <a:t>We promise tomorrow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33400"/>
            <a:ext cx="10972800" cy="9525"/>
          </a:xfrm>
          <a:prstGeom prst="rect">
            <a:avLst/>
          </a:prstGeom>
          <a:solidFill>
            <a:srgbClr val="478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590550"/>
            <a:ext cx="755452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90575"/>
            <a:ext cx="1229320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99" b="1" i="0">
                <a:solidFill>
                  <a:srgbClr val="162B1F"/>
                </a:solidFill>
                <a:latin typeface="Pretendard"/>
                <a:ea typeface="Pretendard"/>
              </a:rPr>
              <a:t>기업소개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371600"/>
            <a:ext cx="5780931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A6664"/>
                </a:solidFill>
                <a:latin typeface="Pretendard"/>
                <a:ea typeface="Pretendard"/>
              </a:rPr>
              <a:t>첨단 화학 소재와 차세대 친환경 공정으로 폐배터리 순환경제 선도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1924050"/>
            <a:ext cx="6143327" cy="5143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924050"/>
            <a:ext cx="6143327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2428875"/>
            <a:ext cx="6143327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2066925"/>
            <a:ext cx="395139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67875"/>
                </a:solidFill>
                <a:latin typeface="Pretendard"/>
                <a:ea typeface="Pretendard"/>
              </a:rPr>
              <a:t>기업명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2600" y="2085975"/>
            <a:ext cx="1091952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2B1F"/>
                </a:solidFill>
                <a:latin typeface="Pretendard"/>
                <a:ea typeface="Pretendard"/>
              </a:rPr>
              <a:t>주식회사 코솔러스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2438400"/>
            <a:ext cx="6143327" cy="5048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2933700"/>
            <a:ext cx="6143327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" y="2571750"/>
            <a:ext cx="395139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67875"/>
                </a:solidFill>
                <a:latin typeface="Pretendard"/>
                <a:ea typeface="Pretendard"/>
              </a:rPr>
              <a:t>대표자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2600" y="2590800"/>
            <a:ext cx="395139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2B1F"/>
                </a:solidFill>
                <a:latin typeface="Pretendard"/>
                <a:ea typeface="Pretendard"/>
              </a:rPr>
              <a:t>김성현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2943225"/>
            <a:ext cx="6143327" cy="5048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600" y="3438525"/>
            <a:ext cx="6143327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600" y="3076575"/>
            <a:ext cx="395139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67875"/>
                </a:solidFill>
                <a:latin typeface="Pretendard"/>
                <a:ea typeface="Pretendard"/>
              </a:rPr>
              <a:t>임직원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52600" y="3095625"/>
            <a:ext cx="305246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2B1F"/>
                </a:solidFill>
                <a:latin typeface="Pretendard"/>
                <a:ea typeface="Pretendard"/>
              </a:rPr>
              <a:t>27명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3448050"/>
            <a:ext cx="6143327" cy="5048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600" y="3943350"/>
            <a:ext cx="6143327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600" y="3581400"/>
            <a:ext cx="395139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67875"/>
                </a:solidFill>
                <a:latin typeface="Pretendard"/>
                <a:ea typeface="Pretendard"/>
              </a:rPr>
              <a:t>소재지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52600" y="3600450"/>
            <a:ext cx="185082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2B1F"/>
                </a:solidFill>
                <a:latin typeface="Pretendard"/>
                <a:ea typeface="Pretendard"/>
              </a:rPr>
              <a:t>대한민국 전주, 익산, 완주, 군산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" y="3952875"/>
            <a:ext cx="6143327" cy="7334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600" y="4676775"/>
            <a:ext cx="6143327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9600" y="4086225"/>
            <a:ext cx="263426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67875"/>
                </a:solidFill>
                <a:latin typeface="Pretendard"/>
                <a:ea typeface="Pretendard"/>
              </a:rPr>
              <a:t>비전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2600" y="4105275"/>
            <a:ext cx="4976366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2B1F"/>
                </a:solidFill>
                <a:latin typeface="Pretendard"/>
                <a:ea typeface="Pretendard"/>
              </a:rPr>
              <a:t>사용 후 배터리 핵심광물 회수를 위한 혁신 화학소재와 친환경 공정 기술을 통해, 인류의 지속가능한 미래를 선도하는 글로벌 리더로 도약</a:t>
            </a:r>
          </a:p>
        </p:txBody>
      </p:sp>
      <p:pic>
        <p:nvPicPr>
          <p:cNvPr id="30" name="Picture 29" descr="company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927" y="1695450"/>
            <a:ext cx="4448473" cy="45529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721554" y="6448425"/>
            <a:ext cx="89446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solus-ci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8125"/>
            <a:ext cx="1217712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05095" y="238125"/>
            <a:ext cx="177730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8689"/>
                </a:solidFill>
                <a:latin typeface="Pretendard"/>
                <a:ea typeface="Pretendard"/>
              </a:rPr>
              <a:t>We promise tomorrow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33400"/>
            <a:ext cx="10972800" cy="9525"/>
          </a:xfrm>
          <a:prstGeom prst="rect">
            <a:avLst/>
          </a:prstGeom>
          <a:solidFill>
            <a:srgbClr val="478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590550"/>
            <a:ext cx="105444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90575"/>
            <a:ext cx="3709541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99" b="1" i="0">
                <a:solidFill>
                  <a:srgbClr val="162B1F"/>
                </a:solidFill>
                <a:latin typeface="Pretendard"/>
                <a:ea typeface="Pretendard"/>
              </a:rPr>
              <a:t>왜 지금, 배터리 재활용인가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1285875"/>
            <a:ext cx="6212235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1581150"/>
            <a:ext cx="6212235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1285875"/>
            <a:ext cx="4891683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67875"/>
                </a:solidFill>
                <a:latin typeface="Pretendard"/>
                <a:ea typeface="Pretendard"/>
              </a:rPr>
              <a:t>환경·지정학적 요인 — 배터리 밸류체인 전반의 환경부하 및 사회적 비용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857375"/>
            <a:ext cx="786557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20"/>
              </a:lnSpc>
              <a:spcBef>
                <a:spcPts val="0"/>
              </a:spcBef>
              <a:spcAft>
                <a:spcPts val="0"/>
              </a:spcAft>
            </a:pPr>
            <a:r>
              <a:rPr sz="2199" b="1" i="0">
                <a:solidFill>
                  <a:srgbClr val="067875"/>
                </a:solidFill>
                <a:latin typeface="Pretendard"/>
                <a:ea typeface="Pretendard"/>
              </a:rPr>
              <a:t>19/20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231231"/>
            <a:ext cx="1396008" cy="3161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62B1F"/>
                </a:solidFill>
                <a:latin typeface="Pretendard"/>
                <a:ea typeface="Pretendard"/>
              </a:rPr>
              <a:t>전략광물 20개 중 19개, 중국이 정제 1위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86434" y="1857375"/>
            <a:ext cx="626566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20"/>
              </a:lnSpc>
              <a:spcBef>
                <a:spcPts val="0"/>
              </a:spcBef>
              <a:spcAft>
                <a:spcPts val="0"/>
              </a:spcAft>
            </a:pPr>
            <a:r>
              <a:rPr sz="2199" b="1" i="0">
                <a:solidFill>
                  <a:srgbClr val="067875"/>
                </a:solidFill>
                <a:latin typeface="Pretendard"/>
                <a:ea typeface="Pretendard"/>
              </a:rPr>
              <a:t>70%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86434" y="2231231"/>
            <a:ext cx="1408509" cy="3161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62B1F"/>
                </a:solidFill>
                <a:latin typeface="Pretendard"/>
                <a:ea typeface="Pretendard"/>
              </a:rPr>
              <a:t>중국의 전략광물 정제 평균 점유율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2872978"/>
            <a:ext cx="642789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20"/>
              </a:lnSpc>
              <a:spcBef>
                <a:spcPts val="0"/>
              </a:spcBef>
              <a:spcAft>
                <a:spcPts val="0"/>
              </a:spcAft>
            </a:pPr>
            <a:r>
              <a:rPr sz="2199" b="1" i="0">
                <a:solidFill>
                  <a:srgbClr val="067875"/>
                </a:solidFill>
                <a:latin typeface="Pretendard"/>
                <a:ea typeface="Pretendard"/>
              </a:rPr>
              <a:t>89%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3246834"/>
            <a:ext cx="1377553" cy="3161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62B1F"/>
                </a:solidFill>
                <a:latin typeface="Pretendard"/>
                <a:ea typeface="Pretendard"/>
              </a:rPr>
              <a:t>중국의 글로벌 블랙매스 처리 비중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86434" y="2872978"/>
            <a:ext cx="601414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20"/>
              </a:lnSpc>
              <a:spcBef>
                <a:spcPts val="0"/>
              </a:spcBef>
              <a:spcAft>
                <a:spcPts val="0"/>
              </a:spcAft>
            </a:pPr>
            <a:r>
              <a:rPr sz="2199" b="1" i="0">
                <a:solidFill>
                  <a:srgbClr val="067875"/>
                </a:solidFill>
                <a:latin typeface="Pretendard"/>
                <a:ea typeface="Pretendard"/>
              </a:rPr>
              <a:t>133t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86434" y="3246834"/>
            <a:ext cx="1355824" cy="3161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62B1F"/>
                </a:solidFill>
                <a:latin typeface="Pretendard"/>
                <a:ea typeface="Pretendard"/>
              </a:rPr>
              <a:t>광산채굴 기준 니켈 1톤당 폐기물 발생량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3774281"/>
            <a:ext cx="3007519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2B1F"/>
                </a:solidFill>
                <a:latin typeface="Pretendard"/>
                <a:ea typeface="Pretendard"/>
              </a:rPr>
              <a:t>채굴 산업의 노동·인권 문제, 광산채굴 기준 수요-공급 미스매치 발생</a:t>
            </a:r>
          </a:p>
        </p:txBody>
      </p:sp>
      <p:pic>
        <p:nvPicPr>
          <p:cNvPr id="20" name="Picture 19" descr="map-chi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368" y="1938040"/>
            <a:ext cx="3020467" cy="206022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9600" y="5848350"/>
            <a:ext cx="6023223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9694"/>
                </a:solidFill>
                <a:latin typeface="Pretendard"/>
                <a:ea typeface="Pretendard"/>
              </a:rPr>
              <a:t>Source: IEA, Global Critical Minerals Outlook 2025; Benchmark Mineral Intelligence, China's Battery Recycling Dominance, 2025; Earthworks, Filtered Tailing in Indonesia,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26635" y="1285875"/>
            <a:ext cx="4455765" cy="49625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26635" y="1285875"/>
            <a:ext cx="9525" cy="4962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40960" y="1285875"/>
            <a:ext cx="4141440" cy="304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40960" y="1581150"/>
            <a:ext cx="4141440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0960" y="1285875"/>
            <a:ext cx="2783979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67875"/>
                </a:solidFill>
                <a:latin typeface="Pretendard"/>
                <a:ea typeface="Pretendard"/>
              </a:rPr>
              <a:t>산업적 요인 — 북미 ESS 시장 성장 전망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0960" y="3087737"/>
            <a:ext cx="3061543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3999" b="1" i="0">
                <a:solidFill>
                  <a:srgbClr val="067875"/>
                </a:solidFill>
                <a:latin typeface="Pretendard"/>
                <a:ea typeface="Pretendard"/>
              </a:rPr>
              <a:t>CAGR 31.6%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0960" y="3770263"/>
            <a:ext cx="3978920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2B1F"/>
                </a:solidFill>
                <a:latin typeface="Pretendard"/>
                <a:ea typeface="Pretendard"/>
              </a:rPr>
              <a:t>북미 ESS(에너지저장시스템) 시장, 에너지 용량(GWh) 기준 연평균 성장률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6098" y="3998863"/>
            <a:ext cx="2743349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801F"/>
                </a:solidFill>
                <a:latin typeface="Pretendard"/>
                <a:ea typeface="Pretendard"/>
              </a:rPr>
              <a:t>[확인필요: 연도별 시계열 수치는 원본에 없음]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0960" y="5638800"/>
            <a:ext cx="3861197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9694"/>
                </a:solidFill>
                <a:latin typeface="Pretendard"/>
                <a:ea typeface="Pretendard"/>
              </a:rPr>
              <a:t>Source: SNE Research (2023); Mirae Asset Securities Research Center (Jan. 2026); Korea Automotive Technology Institute (KATECH), Mobility Insight (Apr. 2024; citing SNE Research)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16941" y="6448425"/>
            <a:ext cx="94059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solus-ci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8125"/>
            <a:ext cx="1217712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05095" y="238125"/>
            <a:ext cx="177730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8689"/>
                </a:solidFill>
                <a:latin typeface="Pretendard"/>
                <a:ea typeface="Pretendard"/>
              </a:rPr>
              <a:t>We promise tomorrow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33400"/>
            <a:ext cx="10972800" cy="9525"/>
          </a:xfrm>
          <a:prstGeom prst="rect">
            <a:avLst/>
          </a:prstGeom>
          <a:solidFill>
            <a:srgbClr val="478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590550"/>
            <a:ext cx="105444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90575"/>
            <a:ext cx="1923455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99" b="1" i="0">
                <a:solidFill>
                  <a:srgbClr val="162B1F"/>
                </a:solidFill>
                <a:latin typeface="Pretendard"/>
                <a:ea typeface="Pretendard"/>
              </a:rPr>
              <a:t>비즈니스 모델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1285875"/>
            <a:ext cx="3568601" cy="512862"/>
          </a:xfrm>
          <a:prstGeom prst="rect">
            <a:avLst/>
          </a:prstGeom>
          <a:solidFill>
            <a:srgbClr val="F4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1285875"/>
            <a:ext cx="3568601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789212"/>
            <a:ext cx="3568601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77194" y="1442293"/>
            <a:ext cx="633412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1E1F"/>
                </a:solidFill>
                <a:latin typeface="Pretendard"/>
                <a:ea typeface="Pretendard"/>
              </a:rPr>
              <a:t>자원 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1689" y="1960662"/>
            <a:ext cx="1287661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67875"/>
                </a:solidFill>
                <a:latin typeface="Pretendard"/>
                <a:ea typeface="Pretendard"/>
              </a:rPr>
              <a:t>배터리 원재료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9350" y="1960662"/>
            <a:ext cx="1236613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sng">
                <a:solidFill>
                  <a:srgbClr val="067875"/>
                </a:solidFill>
                <a:latin typeface="Pretendard"/>
                <a:ea typeface="Pretendard"/>
              </a:rPr>
              <a:t>수요부족 해결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7086" y="3678734"/>
            <a:ext cx="453628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50" b="0" i="0">
                <a:solidFill>
                  <a:srgbClr val="349887"/>
                </a:solidFill>
                <a:latin typeface="Pretendard"/>
                <a:ea typeface="Pretendard"/>
              </a:rPr>
              <a:t>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9203" y="4555034"/>
            <a:ext cx="1829246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664"/>
                </a:solidFill>
                <a:latin typeface="Pretendard"/>
                <a:ea typeface="Pretendard"/>
              </a:rPr>
              <a:t>폐자원으로부터 핵심 광물을 확보해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799" y="4768304"/>
            <a:ext cx="171390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664"/>
                </a:solidFill>
                <a:latin typeface="Pretendard"/>
                <a:ea typeface="Pretendard"/>
              </a:rPr>
              <a:t>새로운 원재료 공급원을 확보한다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1551" y="1285875"/>
            <a:ext cx="3568750" cy="512862"/>
          </a:xfrm>
          <a:prstGeom prst="rect">
            <a:avLst/>
          </a:prstGeom>
          <a:solidFill>
            <a:srgbClr val="F4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1551" y="1285875"/>
            <a:ext cx="3568750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1551" y="1789212"/>
            <a:ext cx="3568750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79145" y="1442293"/>
            <a:ext cx="633412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1E1F"/>
                </a:solidFill>
                <a:latin typeface="Pretendard"/>
                <a:ea typeface="Pretendard"/>
              </a:rPr>
              <a:t>환경 저감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6373" y="1960662"/>
            <a:ext cx="446336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67875"/>
                </a:solidFill>
                <a:latin typeface="Pretendard"/>
                <a:ea typeface="Pretendard"/>
              </a:rPr>
              <a:t>저감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8994" y="1960662"/>
            <a:ext cx="1647379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sng">
                <a:solidFill>
                  <a:srgbClr val="067875"/>
                </a:solidFill>
                <a:latin typeface="Pretendard"/>
                <a:ea typeface="Pretendard"/>
              </a:rPr>
              <a:t>유해물질·온실가스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42682" y="3678734"/>
            <a:ext cx="706338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50" b="0" i="0">
                <a:solidFill>
                  <a:srgbClr val="349887"/>
                </a:solidFill>
                <a:latin typeface="Pretendard"/>
                <a:ea typeface="Pretendard"/>
              </a:rPr>
              <a:t>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4485" y="4555034"/>
            <a:ext cx="1862733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664"/>
                </a:solidFill>
                <a:latin typeface="Pretendard"/>
                <a:ea typeface="Pretendard"/>
              </a:rPr>
              <a:t>유해물질 억제 및 온실가스 감축으로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01295" y="4768304"/>
            <a:ext cx="988963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664"/>
                </a:solidFill>
                <a:latin typeface="Pretendard"/>
                <a:ea typeface="Pretendard"/>
              </a:rPr>
              <a:t>환경 오염을 줄인다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13650" y="1285875"/>
            <a:ext cx="3568750" cy="512862"/>
          </a:xfrm>
          <a:prstGeom prst="rect">
            <a:avLst/>
          </a:prstGeom>
          <a:solidFill>
            <a:srgbClr val="F4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13650" y="1285875"/>
            <a:ext cx="3568750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13650" y="1789212"/>
            <a:ext cx="3568750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33012" y="1442293"/>
            <a:ext cx="929878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1E1F"/>
                </a:solidFill>
                <a:latin typeface="Pretendard"/>
                <a:ea typeface="Pretendard"/>
              </a:rPr>
              <a:t>신공급망 구축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1205" y="1960662"/>
            <a:ext cx="1654671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67875"/>
                </a:solidFill>
                <a:latin typeface="Pretendard"/>
                <a:ea typeface="Pretendard"/>
              </a:rPr>
              <a:t>제조–재활용–제조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05876" y="1960662"/>
            <a:ext cx="1038969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sng">
                <a:solidFill>
                  <a:srgbClr val="067875"/>
                </a:solidFill>
                <a:latin typeface="Pretendard"/>
                <a:ea typeface="Pretendard"/>
              </a:rPr>
              <a:t>순환 공급망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63100" y="3650159"/>
            <a:ext cx="469702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50" b="0" i="0">
                <a:solidFill>
                  <a:srgbClr val="349887"/>
                </a:solidFill>
                <a:latin typeface="Pretendard"/>
                <a:ea typeface="Pretendard"/>
              </a:rPr>
              <a:t>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0964" y="4516934"/>
            <a:ext cx="1793974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664"/>
                </a:solidFill>
                <a:latin typeface="Pretendard"/>
                <a:ea typeface="Pretendard"/>
              </a:rPr>
              <a:t>제조 → 재활용 → 제조로 이어지는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31920" y="4730204"/>
            <a:ext cx="173206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664"/>
                </a:solidFill>
                <a:latin typeface="Pretendard"/>
                <a:ea typeface="Pretendard"/>
              </a:rPr>
              <a:t>재활용 기반 新공급망을 구축한다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15899" y="6448425"/>
            <a:ext cx="9510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solus-ci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8125"/>
            <a:ext cx="1217712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05095" y="238125"/>
            <a:ext cx="177730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8689"/>
                </a:solidFill>
                <a:latin typeface="Pretendard"/>
                <a:ea typeface="Pretendard"/>
              </a:rPr>
              <a:t>We promise tomorrow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33400"/>
            <a:ext cx="10972800" cy="9525"/>
          </a:xfrm>
          <a:prstGeom prst="rect">
            <a:avLst/>
          </a:prstGeom>
          <a:solidFill>
            <a:srgbClr val="478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590550"/>
            <a:ext cx="105444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90575"/>
            <a:ext cx="3311723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99" b="1" i="0">
                <a:solidFill>
                  <a:srgbClr val="162B1F"/>
                </a:solidFill>
                <a:latin typeface="Pretendard"/>
                <a:ea typeface="Pretendard"/>
              </a:rPr>
              <a:t>기존 재활용 공정의 한계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285875"/>
            <a:ext cx="154930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C9694"/>
                </a:solidFill>
                <a:latin typeface="Pretendard"/>
                <a:ea typeface="Pretendard"/>
              </a:rPr>
              <a:t>재활용 공정 현황 (1세대)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2127647"/>
            <a:ext cx="2543175" cy="1143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2127647"/>
            <a:ext cx="2543175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3261122"/>
            <a:ext cx="2543175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2127647"/>
            <a:ext cx="9525" cy="1143000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43250" y="2127647"/>
            <a:ext cx="9525" cy="1143000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58838" y="2527697"/>
            <a:ext cx="444698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50" b="0" i="0">
                <a:solidFill>
                  <a:srgbClr val="5A6664"/>
                </a:solidFill>
                <a:latin typeface="Pretendard"/>
                <a:ea typeface="Pretendard"/>
              </a:rPr>
              <a:t>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9535" y="3346847"/>
            <a:ext cx="723156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2B1F"/>
                </a:solidFill>
                <a:latin typeface="Pretendard"/>
                <a:ea typeface="Pretendard"/>
              </a:rPr>
              <a:t>블랙매스 투입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90875" y="2713434"/>
            <a:ext cx="19050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67875"/>
                </a:solidFill>
                <a:latin typeface="Pretendard"/>
                <a:ea typeface="Pretendard"/>
              </a:rPr>
              <a:t>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19475" y="2022872"/>
            <a:ext cx="2543175" cy="1143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19475" y="2022872"/>
            <a:ext cx="2543175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19475" y="3156347"/>
            <a:ext cx="2543175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19475" y="2022872"/>
            <a:ext cx="9525" cy="1143000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53125" y="2022872"/>
            <a:ext cx="9525" cy="1143000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1107" y="2422922"/>
            <a:ext cx="239911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50" b="0" i="0">
                <a:solidFill>
                  <a:srgbClr val="5A6664"/>
                </a:solidFill>
                <a:latin typeface="Pretendard"/>
                <a:ea typeface="Pretendard"/>
              </a:rPr>
              <a:t>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82976" y="3242072"/>
            <a:ext cx="81602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2B1F"/>
                </a:solidFill>
                <a:latin typeface="Pretendard"/>
                <a:ea typeface="Pretendard"/>
              </a:rPr>
              <a:t>1세대 습식 추출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35896" y="3470672"/>
            <a:ext cx="171018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664"/>
                </a:solidFill>
                <a:latin typeface="Pretendard"/>
                <a:ea typeface="Pretendard"/>
              </a:rPr>
              <a:t>낮은 선택성 · 제한된 동작 환경(pH 등)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00750" y="2713434"/>
            <a:ext cx="19050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67875"/>
                </a:solidFill>
                <a:latin typeface="Pretendard"/>
                <a:ea typeface="Pretendard"/>
              </a:rPr>
              <a:t>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9350" y="2022872"/>
            <a:ext cx="2543175" cy="1143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9350" y="2022872"/>
            <a:ext cx="2543175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29350" y="3156347"/>
            <a:ext cx="2543175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9350" y="2022872"/>
            <a:ext cx="9525" cy="1143000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63000" y="2022872"/>
            <a:ext cx="9525" cy="1143000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49430" y="2422922"/>
            <a:ext cx="302865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50" b="0" i="0">
                <a:solidFill>
                  <a:srgbClr val="5A6664"/>
                </a:solidFill>
                <a:latin typeface="Pretendard"/>
                <a:ea typeface="Pretendard"/>
              </a:rPr>
              <a:t>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27999" y="3242072"/>
            <a:ext cx="345877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2B1F"/>
                </a:solidFill>
                <a:latin typeface="Pretendard"/>
                <a:ea typeface="Pretendard"/>
              </a:rPr>
              <a:t>상분리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90184" y="3470672"/>
            <a:ext cx="62150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664"/>
                </a:solidFill>
                <a:latin typeface="Pretendard"/>
                <a:ea typeface="Pretendard"/>
              </a:rPr>
              <a:t>상분리 불안정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10625" y="2713434"/>
            <a:ext cx="19050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67875"/>
                </a:solidFill>
                <a:latin typeface="Pretendard"/>
                <a:ea typeface="Pretendard"/>
              </a:rPr>
              <a:t>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39225" y="2022872"/>
            <a:ext cx="2543175" cy="1143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39225" y="2022872"/>
            <a:ext cx="2543175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39225" y="3156347"/>
            <a:ext cx="2543175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39225" y="2022872"/>
            <a:ext cx="9525" cy="1143000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572875" y="2022872"/>
            <a:ext cx="9525" cy="1143000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68384" y="2422922"/>
            <a:ext cx="284857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50" b="0" i="0">
                <a:solidFill>
                  <a:srgbClr val="5A6664"/>
                </a:solidFill>
                <a:latin typeface="Pretendard"/>
                <a:ea typeface="Pretendard"/>
              </a:rPr>
              <a:t>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64353" y="3242072"/>
            <a:ext cx="49277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2B1F"/>
                </a:solidFill>
                <a:latin typeface="Pretendard"/>
                <a:ea typeface="Pretendard"/>
              </a:rPr>
              <a:t>금속 회수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49135" y="3470672"/>
            <a:ext cx="112320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664"/>
                </a:solidFill>
                <a:latin typeface="Pretendard"/>
                <a:ea typeface="Pretendard"/>
              </a:rPr>
              <a:t>부산물 과다발생(망초 등)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" y="4236244"/>
            <a:ext cx="10972800" cy="20121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9600" y="4236244"/>
            <a:ext cx="10972800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9600" y="4398169"/>
            <a:ext cx="87540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C9694"/>
                </a:solidFill>
                <a:latin typeface="Pretendard"/>
                <a:ea typeface="Pretendard"/>
              </a:rPr>
              <a:t>LIMITATION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9600" y="4674394"/>
            <a:ext cx="2600325" cy="214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9600" y="4674394"/>
            <a:ext cx="19050" cy="214312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2000" y="4693444"/>
            <a:ext cx="65335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162B1F"/>
                </a:solidFill>
                <a:latin typeface="Pretendard"/>
                <a:ea typeface="Pretendard"/>
              </a:rPr>
              <a:t>낮은 선택성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00425" y="4674394"/>
            <a:ext cx="2600325" cy="214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400425" y="4674394"/>
            <a:ext cx="19050" cy="214312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52825" y="4693444"/>
            <a:ext cx="1376511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162B1F"/>
                </a:solidFill>
                <a:latin typeface="Pretendard"/>
                <a:ea typeface="Pretendard"/>
              </a:rPr>
              <a:t>제한된 동작 환경(pH 등)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91250" y="4674394"/>
            <a:ext cx="2600325" cy="214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191250" y="4674394"/>
            <a:ext cx="19050" cy="214312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43650" y="4693444"/>
            <a:ext cx="776883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162B1F"/>
                </a:solidFill>
                <a:latin typeface="Pretendard"/>
                <a:ea typeface="Pretendard"/>
              </a:rPr>
              <a:t>상분리 불안정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82075" y="4674394"/>
            <a:ext cx="2600325" cy="214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982075" y="4674394"/>
            <a:ext cx="19050" cy="214312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34475" y="4693444"/>
            <a:ext cx="140404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162B1F"/>
                </a:solidFill>
                <a:latin typeface="Pretendard"/>
                <a:ea typeface="Pretendard"/>
              </a:rPr>
              <a:t>부산물 과다발생(망초 등)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9600" y="5022056"/>
            <a:ext cx="2245221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67875"/>
                </a:solidFill>
                <a:latin typeface="Pretendard"/>
                <a:ea typeface="Pretendard"/>
              </a:rPr>
              <a:t>→ 소재 및 공정 개선 필요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720066" y="6448425"/>
            <a:ext cx="9093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solus-ci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8125"/>
            <a:ext cx="1217712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05095" y="238125"/>
            <a:ext cx="177730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8689"/>
                </a:solidFill>
                <a:latin typeface="Pretendard"/>
                <a:ea typeface="Pretendard"/>
              </a:rPr>
              <a:t>We promise tomorrow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33400"/>
            <a:ext cx="10972800" cy="9525"/>
          </a:xfrm>
          <a:prstGeom prst="rect">
            <a:avLst/>
          </a:prstGeom>
          <a:solidFill>
            <a:srgbClr val="478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590550"/>
            <a:ext cx="105444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90575"/>
            <a:ext cx="6912025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99" b="1" i="0">
                <a:solidFill>
                  <a:srgbClr val="162B1F"/>
                </a:solidFill>
                <a:latin typeface="Pretendard"/>
                <a:ea typeface="Pretendard"/>
              </a:rPr>
              <a:t>솔루션1 개요 — 고성능 추출제(1.5세대 화학소재)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1285875"/>
            <a:ext cx="4827984" cy="51286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1285875"/>
            <a:ext cx="4827984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789212"/>
            <a:ext cx="4827984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64693" y="1394668"/>
            <a:ext cx="1917650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E1F"/>
                </a:solidFill>
                <a:latin typeface="Pretendard"/>
                <a:ea typeface="Pretendard"/>
              </a:rPr>
              <a:t>기존 추출제 (1세대)</a:t>
            </a:r>
          </a:p>
        </p:txBody>
      </p:sp>
      <p:pic>
        <p:nvPicPr>
          <p:cNvPr id="12" name="Picture 11" descr="d2ehpa-stru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" y="2813745"/>
            <a:ext cx="4064645" cy="23529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5681" y="5261967"/>
            <a:ext cx="229582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A6664"/>
                </a:solidFill>
                <a:latin typeface="Pretendard"/>
                <a:ea typeface="Pretendard"/>
              </a:rPr>
              <a:t>D2EHPA — 광산·염호 기반 금속 회수용 추출제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33926" y="3595688"/>
            <a:ext cx="32385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0" i="0">
                <a:solidFill>
                  <a:srgbClr val="067875"/>
                </a:solidFill>
                <a:latin typeface="Pretendard"/>
                <a:ea typeface="Pretendard"/>
              </a:rPr>
              <a:t>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54267" y="1285875"/>
            <a:ext cx="4827984" cy="512862"/>
          </a:xfrm>
          <a:prstGeom prst="rect">
            <a:avLst/>
          </a:prstGeom>
          <a:solidFill>
            <a:srgbClr val="F4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54267" y="1285875"/>
            <a:ext cx="4827984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54267" y="1789212"/>
            <a:ext cx="4827984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9360" y="1394668"/>
            <a:ext cx="2857649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E1F"/>
                </a:solidFill>
                <a:latin typeface="Pretendard"/>
                <a:ea typeface="Pretendard"/>
              </a:rPr>
              <a:t>COSOLUS 추출제 (1.5세대)</a:t>
            </a:r>
          </a:p>
        </p:txBody>
      </p:sp>
      <p:pic>
        <p:nvPicPr>
          <p:cNvPr id="19" name="Picture 18" descr="recyion-stru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7571" y="3742581"/>
            <a:ext cx="3381375" cy="4953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721328" y="4333131"/>
            <a:ext cx="89386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A6664"/>
                </a:solidFill>
                <a:latin typeface="Pretendard"/>
                <a:ea typeface="Pretendard"/>
              </a:rPr>
              <a:t>RECYION Series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3348" y="6315075"/>
            <a:ext cx="1485305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67875"/>
                </a:solidFill>
                <a:latin typeface="Pretendard"/>
                <a:ea typeface="Pretendard"/>
              </a:rPr>
              <a:t>재활용 효율 개선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17536" y="6448425"/>
            <a:ext cx="9346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solus-ci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8125"/>
            <a:ext cx="1217712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05095" y="238125"/>
            <a:ext cx="177730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8689"/>
                </a:solidFill>
                <a:latin typeface="Pretendard"/>
                <a:ea typeface="Pretendard"/>
              </a:rPr>
              <a:t>We promise tomorrow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33400"/>
            <a:ext cx="10972800" cy="9525"/>
          </a:xfrm>
          <a:prstGeom prst="rect">
            <a:avLst/>
          </a:prstGeom>
          <a:solidFill>
            <a:srgbClr val="478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590550"/>
            <a:ext cx="10413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90575"/>
            <a:ext cx="6070104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99" b="1" i="0">
                <a:solidFill>
                  <a:srgbClr val="162B1F"/>
                </a:solidFill>
                <a:latin typeface="Pretendard"/>
                <a:ea typeface="Pretendard"/>
              </a:rPr>
              <a:t>핵심기술 — 고성능 추출제 성능·원가 경쟁력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9600" y="1285875"/>
          <a:ext cx="10972801" cy="10858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3567"/>
                <a:gridCol w="1558691"/>
                <a:gridCol w="3895982"/>
                <a:gridCol w="3784561"/>
              </a:tblGrid>
              <a:tr h="36356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구분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COSOLUS</a:t>
                      </a:r>
                    </a:p>
                  </a:txBody>
                  <a:tcPr marL="38100" marR="38100" marT="19050" marB="19050" anchor="ctr">
                    <a:solidFill>
                      <a:srgbClr val="06787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벨기에 S사</a:t>
                      </a:r>
                    </a:p>
                  </a:txBody>
                  <a:tcPr marL="38100" marR="38100" marT="19050" marB="19050" anchor="ctr">
                    <a:solidFill>
                      <a:srgbClr val="06787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중국 K사</a:t>
                      </a:r>
                    </a:p>
                  </a:txBody>
                  <a:tcPr marL="38100" marR="38100" marT="19050" marB="19050" anchor="ctr">
                    <a:solidFill>
                      <a:srgbClr val="067875"/>
                    </a:solidFill>
                  </a:tcPr>
                </a:tc>
              </a:tr>
              <a:tr h="358718">
                <a:tc>
                  <a:txBody>
                    <a:bodyPr wrap="square"/>
                    <a:lstStyle/>
                    <a:p>
                      <a:pPr algn="l"/>
                      <a:r>
                        <a:rPr sz="975" b="1">
                          <a:solidFill>
                            <a:srgbClr val="5A6664"/>
                          </a:solidFill>
                          <a:latin typeface="Pretendard"/>
                          <a:ea typeface="Pretendard"/>
                        </a:rPr>
                        <a:t>공정시간</a:t>
                      </a:r>
                    </a:p>
                  </a:txBody>
                  <a:tcPr marL="38100" marR="38100" marT="19050" marB="19050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67875"/>
                          </a:solidFill>
                          <a:latin typeface="Pretendard"/>
                          <a:ea typeface="Pretendard"/>
                        </a:rPr>
                        <a:t>기준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COSOLUS 대비 100% 증가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COSOLUS 대비 50% 증가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</a:tr>
              <a:tr h="363566">
                <a:tc>
                  <a:txBody>
                    <a:bodyPr wrap="square"/>
                    <a:lstStyle/>
                    <a:p>
                      <a:pPr algn="l"/>
                      <a:r>
                        <a:rPr sz="975" b="1">
                          <a:solidFill>
                            <a:srgbClr val="5A6664"/>
                          </a:solidFill>
                          <a:latin typeface="Pretendard"/>
                          <a:ea typeface="Pretendard"/>
                        </a:rPr>
                        <a:t>첨가제 사용량*</a:t>
                      </a:r>
                    </a:p>
                  </a:txBody>
                  <a:tcPr marL="38100" marR="38100" marT="19050" marB="19050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67875"/>
                          </a:solidFill>
                          <a:latin typeface="Pretendard"/>
                          <a:ea typeface="Pretendard"/>
                        </a:rPr>
                        <a:t>기준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COSOLUS 대비 10% 이상 추가 필요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COSOLUS 대비 5% 이상 추가 필요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9600" y="2447925"/>
            <a:ext cx="194875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9694"/>
                </a:solidFill>
                <a:latin typeface="Pretendard"/>
                <a:ea typeface="Pretendard"/>
              </a:rPr>
              <a:t>*블랙매스 1톤당 첨가제 사용량 기준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2771775"/>
            <a:ext cx="10972800" cy="657225"/>
          </a:xfrm>
          <a:prstGeom prst="rect">
            <a:avLst/>
          </a:prstGeom>
          <a:solidFill>
            <a:srgbClr val="F4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2771775"/>
            <a:ext cx="28575" cy="6572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625" y="2905125"/>
            <a:ext cx="120774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>
                <a:solidFill>
                  <a:srgbClr val="034443"/>
                </a:solidFill>
                <a:latin typeface="Pretendard"/>
                <a:ea typeface="Pretendard"/>
              </a:rPr>
              <a:t>이론단수 5단 → 4단(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1728" y="2905125"/>
            <a:ext cx="403413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>
                <a:solidFill>
                  <a:srgbClr val="034443"/>
                </a:solidFill>
                <a:latin typeface="Pretendard"/>
                <a:ea typeface="Pretendard"/>
              </a:rPr>
              <a:t>), 추출 효율 2~5% 개선 — 추출 단수 1단 저감으로 CAPEX 경제성 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3119438"/>
            <a:ext cx="4627959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>
                <a:solidFill>
                  <a:srgbClr val="034443"/>
                </a:solidFill>
                <a:latin typeface="Pretendard"/>
                <a:ea typeface="Pretendard"/>
              </a:rPr>
              <a:t>대한민국 배터리 재활용 업체 연간 니켈 16,000톤 생산 기준, COSOLUS 추출제로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9710" y="3119438"/>
            <a:ext cx="1262807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>
                <a:solidFill>
                  <a:srgbClr val="034443"/>
                </a:solidFill>
                <a:latin typeface="Pretendard"/>
                <a:ea typeface="Pretendard"/>
              </a:rPr>
              <a:t>— OPEX 경제성 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7365" y="2905125"/>
            <a:ext cx="614362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>
                <a:solidFill>
                  <a:srgbClr val="034443"/>
                </a:solidFill>
                <a:latin typeface="Pretendard"/>
                <a:ea typeface="Pretendard"/>
              </a:rPr>
              <a:t>20% 감소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37584" y="3119438"/>
            <a:ext cx="1292126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>
                <a:solidFill>
                  <a:srgbClr val="034443"/>
                </a:solidFill>
                <a:latin typeface="Pretendard"/>
                <a:ea typeface="Pretendard"/>
              </a:rPr>
              <a:t>망초 4,800톤/년 저감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26912" y="6448425"/>
            <a:ext cx="8408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solus-ci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8125"/>
            <a:ext cx="1217712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05095" y="238125"/>
            <a:ext cx="177730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8689"/>
                </a:solidFill>
                <a:latin typeface="Pretendard"/>
                <a:ea typeface="Pretendard"/>
              </a:rPr>
              <a:t>We promise tomorrow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33400"/>
            <a:ext cx="10972800" cy="9525"/>
          </a:xfrm>
          <a:prstGeom prst="rect">
            <a:avLst/>
          </a:prstGeom>
          <a:solidFill>
            <a:srgbClr val="478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590550"/>
            <a:ext cx="10413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90575"/>
            <a:ext cx="4921300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99" b="1" i="0">
                <a:solidFill>
                  <a:srgbClr val="162B1F"/>
                </a:solidFill>
                <a:latin typeface="Pretendard"/>
                <a:ea typeface="Pretendard"/>
              </a:rPr>
              <a:t>솔루션1-2 — 직접 리튬 추출(DLE)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1285875"/>
            <a:ext cx="4827984" cy="51286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1285875"/>
            <a:ext cx="4827984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789212"/>
            <a:ext cx="4827984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11573" y="1394668"/>
            <a:ext cx="1823889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E1F"/>
                </a:solidFill>
                <a:latin typeface="Pretendard"/>
                <a:ea typeface="Pretendard"/>
              </a:rPr>
              <a:t>기존 DLE (증발법)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1970187"/>
            <a:ext cx="4827984" cy="333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1970187"/>
            <a:ext cx="4827984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2294037"/>
            <a:ext cx="4827984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1970187"/>
            <a:ext cx="9525" cy="33337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28059" y="1970187"/>
            <a:ext cx="9525" cy="33337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83891" y="2065437"/>
            <a:ext cx="187940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62B1F"/>
                </a:solidFill>
                <a:latin typeface="Pretendard"/>
                <a:ea typeface="Pretendard"/>
              </a:rPr>
              <a:t>1단계 · 증발 농축 기반 Li 회수 (3.12%)</a:t>
            </a:r>
          </a:p>
        </p:txBody>
      </p:sp>
      <p:pic>
        <p:nvPicPr>
          <p:cNvPr id="18" name="Picture 17" descr="atacama-salt-fl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609" y="3175397"/>
            <a:ext cx="2391817" cy="20962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875979" y="5366891"/>
            <a:ext cx="22950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A6664"/>
                </a:solidFill>
                <a:latin typeface="Pretendard"/>
                <a:ea typeface="Pretendard"/>
              </a:rPr>
              <a:t>Chile, Atacama Salt Flat — 기존 증발법 예시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3926" y="3595688"/>
            <a:ext cx="32385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0" i="0">
                <a:solidFill>
                  <a:srgbClr val="067875"/>
                </a:solidFill>
                <a:latin typeface="Pretendard"/>
                <a:ea typeface="Pretendard"/>
              </a:rPr>
              <a:t>➞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54267" y="1285875"/>
            <a:ext cx="4827984" cy="512862"/>
          </a:xfrm>
          <a:prstGeom prst="rect">
            <a:avLst/>
          </a:prstGeom>
          <a:solidFill>
            <a:srgbClr val="F4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54267" y="1285875"/>
            <a:ext cx="4827984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54267" y="1789212"/>
            <a:ext cx="4827984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54107" y="1394668"/>
            <a:ext cx="2628305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E1F"/>
                </a:solidFill>
                <a:latin typeface="Pretendard"/>
                <a:ea typeface="Pretendard"/>
              </a:rPr>
              <a:t>COSOLUS 추출 후 재활용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54267" y="1970187"/>
            <a:ext cx="4827984" cy="333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54267" y="1970187"/>
            <a:ext cx="4827984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54267" y="2294037"/>
            <a:ext cx="4827984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54267" y="1970187"/>
            <a:ext cx="9525" cy="33337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72726" y="1970187"/>
            <a:ext cx="9525" cy="33337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88834" y="2065437"/>
            <a:ext cx="175870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034443"/>
                </a:solidFill>
                <a:latin typeface="Pretendard"/>
                <a:ea typeface="Pretendard"/>
              </a:rPr>
              <a:t>NCM 스크랩 → 침출 → 불순물 제거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54267" y="2379762"/>
            <a:ext cx="4827984" cy="333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754267" y="2379762"/>
            <a:ext cx="4827984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54267" y="2703612"/>
            <a:ext cx="4827984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54267" y="2379762"/>
            <a:ext cx="9525" cy="33337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572726" y="2379762"/>
            <a:ext cx="9525" cy="33337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75836" y="2475012"/>
            <a:ext cx="258484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034443"/>
                </a:solidFill>
                <a:latin typeface="Pretendard"/>
                <a:ea typeface="Pretendard"/>
              </a:rPr>
              <a:t>① Mn 추출 → ② Co 추출 → ③ Ni 추출 → ④ 역추출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31784" y="2789337"/>
            <a:ext cx="27280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67875"/>
                </a:solidFill>
                <a:latin typeface="Pretendard"/>
                <a:ea typeface="Pretendard"/>
              </a:rPr>
              <a:t>4단계</a:t>
            </a:r>
          </a:p>
        </p:txBody>
      </p:sp>
      <p:pic>
        <p:nvPicPr>
          <p:cNvPr id="38" name="Picture 37" descr="geothermal-lithium-pla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0918" y="3596134"/>
            <a:ext cx="2694533" cy="179769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410426" y="5489079"/>
            <a:ext cx="151566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5A6664"/>
                </a:solidFill>
                <a:latin typeface="Pretendard"/>
                <a:ea typeface="Pretendard"/>
              </a:rPr>
              <a:t>지열발전 연계 리튬 추출 플랜트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" y="6038850"/>
            <a:ext cx="10600283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9694"/>
                </a:solidFill>
                <a:latin typeface="Pretendard"/>
                <a:ea typeface="Pretendard"/>
              </a:rPr>
              <a:t>Source: 한국광해광업공단(2024), 오세희 의원실 2025 국정감사 분석; John Moore/Getty Images, Chile Mines Lithium From Salt Flats of Atacama Desert (2022); Controlled Thermal Resources, via Chemical &amp; Engineering News (2024)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718578" y="6448425"/>
            <a:ext cx="92422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solus-ci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8125"/>
            <a:ext cx="1217712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05095" y="238125"/>
            <a:ext cx="177730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8689"/>
                </a:solidFill>
                <a:latin typeface="Pretendard"/>
                <a:ea typeface="Pretendard"/>
              </a:rPr>
              <a:t>We promise tomorrow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33400"/>
            <a:ext cx="10972800" cy="9525"/>
          </a:xfrm>
          <a:prstGeom prst="rect">
            <a:avLst/>
          </a:prstGeom>
          <a:solidFill>
            <a:srgbClr val="478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590550"/>
            <a:ext cx="10413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90575"/>
            <a:ext cx="2740819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99" b="1" i="0">
                <a:solidFill>
                  <a:srgbClr val="162B1F"/>
                </a:solidFill>
                <a:latin typeface="Pretendard"/>
                <a:ea typeface="Pretendard"/>
              </a:rPr>
              <a:t>DLE 기술 동향 비교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9600" y="1285875"/>
          <a:ext cx="10972801" cy="209549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36049"/>
                <a:gridCol w="2359039"/>
                <a:gridCol w="2359039"/>
                <a:gridCol w="2359039"/>
                <a:gridCol w="2359635"/>
              </a:tblGrid>
              <a:tr h="360464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구분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흡착제</a:t>
                      </a:r>
                    </a:p>
                  </a:txBody>
                  <a:tcPr marL="38100" marR="38100" marT="19050" marB="19050" anchor="ctr">
                    <a:solidFill>
                      <a:srgbClr val="06787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추출제</a:t>
                      </a:r>
                    </a:p>
                  </a:txBody>
                  <a:tcPr marL="38100" marR="38100" marT="19050" marB="19050" anchor="ctr">
                    <a:solidFill>
                      <a:srgbClr val="06787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분리막</a:t>
                      </a:r>
                    </a:p>
                  </a:txBody>
                  <a:tcPr marL="38100" marR="38100" marT="19050" marB="19050" anchor="ctr">
                    <a:solidFill>
                      <a:srgbClr val="06787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전기화학</a:t>
                      </a:r>
                    </a:p>
                  </a:txBody>
                  <a:tcPr marL="38100" marR="38100" marT="19050" marB="19050" anchor="ctr">
                    <a:solidFill>
                      <a:srgbClr val="067875"/>
                    </a:solidFill>
                  </a:tcPr>
                </a:tc>
              </a:tr>
              <a:tr h="509456">
                <a:tc>
                  <a:txBody>
                    <a:bodyPr wrap="square"/>
                    <a:lstStyle/>
                    <a:p>
                      <a:pPr algn="l"/>
                      <a:r>
                        <a:rPr sz="975" b="1">
                          <a:solidFill>
                            <a:srgbClr val="5A6664"/>
                          </a:solidFill>
                          <a:latin typeface="Pretendard"/>
                          <a:ea typeface="Pretendard"/>
                        </a:rPr>
                        <a:t>작동원리</a:t>
                      </a:r>
                    </a:p>
                  </a:txBody>
                  <a:tcPr marL="38100" marR="38100" marT="19050" marB="19050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Li⁺(액상)과 흡착제(고상) 간 선택적 상호작용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Li⁺(액상)과 추출제(액상) 간 선택적 상호작용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Li⁺(액상)의 분리막(고상)을 통한 선택적 이동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Li⁺(액상)과 전극(고상) 간 선택적 상호작용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</a:tr>
              <a:tr h="355658">
                <a:tc>
                  <a:txBody>
                    <a:bodyPr wrap="square"/>
                    <a:lstStyle/>
                    <a:p>
                      <a:pPr algn="l"/>
                      <a:r>
                        <a:rPr sz="975" b="1">
                          <a:solidFill>
                            <a:srgbClr val="5A6664"/>
                          </a:solidFill>
                          <a:latin typeface="Pretendard"/>
                          <a:ea typeface="Pretendard"/>
                        </a:rPr>
                        <a:t>기술성숙도(TRL)</a:t>
                      </a:r>
                    </a:p>
                  </a:txBody>
                  <a:tcPr marL="38100" marR="38100" marT="19050" marB="19050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TRL 9 (상용화 단계)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TRL 4-5 (실험실 검증 단계)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TRL 4-5 (실험실 검증 단계)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TRL 3-4 (실험실 검증 단계)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</a:tr>
              <a:tr h="509456">
                <a:tc>
                  <a:txBody>
                    <a:bodyPr wrap="square"/>
                    <a:lstStyle/>
                    <a:p>
                      <a:pPr algn="l"/>
                      <a:r>
                        <a:rPr sz="975" b="1">
                          <a:solidFill>
                            <a:srgbClr val="5A6664"/>
                          </a:solidFill>
                          <a:latin typeface="Pretendard"/>
                          <a:ea typeface="Pretendard"/>
                        </a:rPr>
                        <a:t>장점</a:t>
                      </a:r>
                    </a:p>
                  </a:txBody>
                  <a:tcPr marL="38100" marR="38100" marT="19050" marB="19050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선택성 우수 · 공정 단순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높은 회수 효율 · 재사용 가능 · 기존 공정 적용 가능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우수한 효율 · 공정 단순 · 낮은 화학약품 사용량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우수한 효율 · 낮은 화학약품 사용량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</a:tr>
              <a:tr h="360464">
                <a:tc>
                  <a:txBody>
                    <a:bodyPr wrap="square"/>
                    <a:lstStyle/>
                    <a:p>
                      <a:pPr algn="l"/>
                      <a:r>
                        <a:rPr sz="975" b="1">
                          <a:solidFill>
                            <a:srgbClr val="5A6664"/>
                          </a:solidFill>
                          <a:latin typeface="Pretendard"/>
                          <a:ea typeface="Pretendard"/>
                        </a:rPr>
                        <a:t>단점</a:t>
                      </a:r>
                    </a:p>
                  </a:txBody>
                  <a:tcPr marL="38100" marR="38100" marT="19050" marB="19050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재사용성 제한 · 높은 운영비용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높은 운영비용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높은 운영비용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복잡한 시스템 · 대규모 양산 적용에 한계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9600" y="3476625"/>
            <a:ext cx="2458343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9694"/>
                </a:solidFill>
                <a:latin typeface="Pretendard"/>
                <a:ea typeface="Pretendard"/>
              </a:rPr>
              <a:t>Source: Desalination, 2024, 575, 117249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17536" y="6448425"/>
            <a:ext cx="9346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solus-ci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8125"/>
            <a:ext cx="1217712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05095" y="238125"/>
            <a:ext cx="177730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8689"/>
                </a:solidFill>
                <a:latin typeface="Pretendard"/>
                <a:ea typeface="Pretendard"/>
              </a:rPr>
              <a:t>We promise tomorrow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33400"/>
            <a:ext cx="10972800" cy="9525"/>
          </a:xfrm>
          <a:prstGeom prst="rect">
            <a:avLst/>
          </a:prstGeom>
          <a:solidFill>
            <a:srgbClr val="478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590550"/>
            <a:ext cx="10413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90575"/>
            <a:ext cx="5136654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99" b="1" i="0">
                <a:solidFill>
                  <a:srgbClr val="162B1F"/>
                </a:solidFill>
                <a:latin typeface="Pretendard"/>
                <a:ea typeface="Pretendard"/>
              </a:rPr>
              <a:t>COSOLUS DLE의 핵심 강점과 성과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285875"/>
            <a:ext cx="35623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C9694"/>
                </a:solidFill>
                <a:latin typeface="Pretendard"/>
                <a:ea typeface="Pretendard"/>
              </a:rPr>
              <a:t>KEY ADVANTAGES OF EXTRACTANT–SEPARATOR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1543050"/>
            <a:ext cx="2614612" cy="3714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543050"/>
            <a:ext cx="19050" cy="37147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3900" y="1562100"/>
            <a:ext cx="2449264" cy="3286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62B1F"/>
                </a:solidFill>
                <a:latin typeface="Pretendard"/>
                <a:ea typeface="Pretendard"/>
              </a:rPr>
              <a:t>① 추출제-리튬이온(Li⁺) 액-액 접촉을 통한 빠른 물질 전달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95662" y="1543050"/>
            <a:ext cx="2614612" cy="3714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95662" y="1543050"/>
            <a:ext cx="19050" cy="37147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9962" y="1562100"/>
            <a:ext cx="2404914" cy="3286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62B1F"/>
                </a:solidFill>
                <a:latin typeface="Pretendard"/>
                <a:ea typeface="Pretendard"/>
              </a:rPr>
              <a:t>② 화학적 결합(추출제)+공간적 분리(분리막)로 우수한 재활용 효율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725" y="1543050"/>
            <a:ext cx="2614612" cy="3714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725" y="1543050"/>
            <a:ext cx="19050" cy="37147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6025" y="1562100"/>
            <a:ext cx="179263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62B1F"/>
                </a:solidFill>
                <a:latin typeface="Pretendard"/>
                <a:ea typeface="Pretendard"/>
              </a:rPr>
              <a:t>③ 액상 공정을 통한 용이한 연속 운전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7788" y="1543050"/>
            <a:ext cx="2614612" cy="3714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7788" y="1543050"/>
            <a:ext cx="19050" cy="37147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2088" y="1562100"/>
            <a:ext cx="225177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62B1F"/>
                </a:solidFill>
                <a:latin typeface="Pretendard"/>
                <a:ea typeface="Pretendard"/>
              </a:rPr>
              <a:t>④ 분리막 기반 농축을 통한 첨가제 소모량 감소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2066925"/>
            <a:ext cx="5404098" cy="512862"/>
          </a:xfrm>
          <a:prstGeom prst="rect">
            <a:avLst/>
          </a:prstGeom>
          <a:solidFill>
            <a:srgbClr val="F4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600" y="2066925"/>
            <a:ext cx="5404098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600" y="2570262"/>
            <a:ext cx="5404098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52824" y="2175718"/>
            <a:ext cx="1917502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E1F"/>
                </a:solidFill>
                <a:latin typeface="Pretendard"/>
                <a:ea typeface="Pretendard"/>
              </a:rPr>
              <a:t>분리막 &amp; THz 기술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8153" y="2066925"/>
            <a:ext cx="5404247" cy="512862"/>
          </a:xfrm>
          <a:prstGeom prst="rect">
            <a:avLst/>
          </a:prstGeom>
          <a:solidFill>
            <a:srgbClr val="F4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8153" y="2066925"/>
            <a:ext cx="5404247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8153" y="2570262"/>
            <a:ext cx="5404247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1649" y="2175718"/>
            <a:ext cx="1377107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E1F"/>
                </a:solidFill>
                <a:latin typeface="Pretendard"/>
                <a:ea typeface="Pretendard"/>
              </a:rPr>
              <a:t>핵심소재 기술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06997" y="2770287"/>
            <a:ext cx="1886694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62B1F"/>
                </a:solidFill>
                <a:latin typeface="Pretendard"/>
                <a:ea typeface="Pretendard"/>
              </a:rPr>
              <a:t>리튬 재자원화율 개선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07890" y="4916388"/>
            <a:ext cx="540990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59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5A6664"/>
                </a:solidFill>
                <a:latin typeface="Pretendard"/>
                <a:ea typeface="Pretendard"/>
              </a:rPr>
              <a:t>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82230" y="5016996"/>
            <a:ext cx="19050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67875"/>
                </a:solidFill>
                <a:latin typeface="Pretendard"/>
                <a:ea typeface="Pretendard"/>
              </a:rPr>
              <a:t>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06080" y="4888409"/>
            <a:ext cx="886718" cy="457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67875"/>
                </a:solidFill>
                <a:latin typeface="Pretendard"/>
                <a:ea typeface="Pretendard"/>
              </a:rPr>
              <a:t>90%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1238" y="2751237"/>
            <a:ext cx="5491162" cy="427821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91238" y="2751237"/>
            <a:ext cx="9525" cy="4278213"/>
          </a:xfrm>
          <a:prstGeom prst="rect">
            <a:avLst/>
          </a:prstGeom>
          <a:solidFill>
            <a:srgbClr val="0344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98160" y="2770287"/>
            <a:ext cx="1886694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62B1F"/>
                </a:solidFill>
                <a:latin typeface="Pretendard"/>
                <a:ea typeface="Pretendard"/>
              </a:rPr>
              <a:t>리튬 재자원화율 개선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2029" y="4916388"/>
            <a:ext cx="540990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59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5A6664"/>
                </a:solidFill>
                <a:latin typeface="Pretendard"/>
                <a:ea typeface="Pretendard"/>
              </a:rPr>
              <a:t>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76370" y="5016996"/>
            <a:ext cx="19050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67875"/>
                </a:solidFill>
                <a:latin typeface="Pretendard"/>
                <a:ea typeface="Pretendard"/>
              </a:rPr>
              <a:t>➞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0220" y="4888409"/>
            <a:ext cx="880765" cy="457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67875"/>
                </a:solidFill>
                <a:latin typeface="Pretendard"/>
                <a:ea typeface="Pretendard"/>
              </a:rPr>
              <a:t>50%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382" y="7048500"/>
            <a:ext cx="1054923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9694"/>
                </a:solidFill>
                <a:latin typeface="Pretendard"/>
                <a:ea typeface="Pretendard"/>
              </a:rPr>
              <a:t>COSOLUS 화학구조 설계·정제·공정 기술 → 재자원화율(&gt;90%*), 공정비용(&lt;5,500원/kg) | *리튬선물 가격 약 44,100천원/ton 수준 기준 | Source: KOMIS; Green Chem., 2026, 28, 1144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653391" y="6448425"/>
            <a:ext cx="157609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solus-ci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8125"/>
            <a:ext cx="1217712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05095" y="238125"/>
            <a:ext cx="177730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8689"/>
                </a:solidFill>
                <a:latin typeface="Pretendard"/>
                <a:ea typeface="Pretendard"/>
              </a:rPr>
              <a:t>We promise tomorrow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33400"/>
            <a:ext cx="10972800" cy="9525"/>
          </a:xfrm>
          <a:prstGeom prst="rect">
            <a:avLst/>
          </a:prstGeom>
          <a:solidFill>
            <a:srgbClr val="478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590550"/>
            <a:ext cx="10413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90575"/>
            <a:ext cx="7696200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99" b="1" i="0">
                <a:solidFill>
                  <a:srgbClr val="162B1F"/>
                </a:solidFill>
                <a:latin typeface="Pretendard"/>
                <a:ea typeface="Pretendard"/>
              </a:rPr>
              <a:t>솔루션2 개요 — 친환경 차세대 재활용 공정기술(2세대)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1285875"/>
            <a:ext cx="4827984" cy="51286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1285875"/>
            <a:ext cx="4827984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789212"/>
            <a:ext cx="4827984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00721" y="1394668"/>
            <a:ext cx="1645593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E1F"/>
                </a:solidFill>
                <a:latin typeface="Pretendard"/>
                <a:ea typeface="Pretendard"/>
              </a:rPr>
              <a:t>기존공정 (1세대)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1970187"/>
            <a:ext cx="4827984" cy="333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1970187"/>
            <a:ext cx="4827984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2294037"/>
            <a:ext cx="4827984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1970187"/>
            <a:ext cx="9525" cy="33337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28059" y="1970187"/>
            <a:ext cx="9525" cy="33337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09429" y="2065437"/>
            <a:ext cx="4281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62B1F"/>
                </a:solidFill>
                <a:latin typeface="Pretendard"/>
                <a:ea typeface="Pretendard"/>
              </a:rPr>
              <a:t>유도가열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2379762"/>
            <a:ext cx="4827984" cy="333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600" y="2379762"/>
            <a:ext cx="4827984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" y="2703612"/>
            <a:ext cx="4827984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9600" y="2379762"/>
            <a:ext cx="9525" cy="33337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28059" y="2379762"/>
            <a:ext cx="9525" cy="33337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09429" y="2475012"/>
            <a:ext cx="4281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62B1F"/>
                </a:solidFill>
                <a:latin typeface="Pretendard"/>
                <a:ea typeface="Pretendard"/>
              </a:rPr>
              <a:t>부유선별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2789337"/>
            <a:ext cx="4827984" cy="333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9600" y="2789337"/>
            <a:ext cx="4827984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" y="3113187"/>
            <a:ext cx="4827984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600" y="2789337"/>
            <a:ext cx="9525" cy="33337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28059" y="2789337"/>
            <a:ext cx="9525" cy="33337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09429" y="2884587"/>
            <a:ext cx="42817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62B1F"/>
                </a:solidFill>
                <a:latin typeface="Pretendard"/>
                <a:ea typeface="Pretendard"/>
              </a:rPr>
              <a:t>건식환원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0243" y="3237012"/>
            <a:ext cx="45465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2B1F"/>
                </a:solidFill>
                <a:latin typeface="Pretendard"/>
                <a:ea typeface="Pretendard"/>
              </a:rPr>
              <a:t>양극재/음극재용 블랙매스 → 재활용 양극재 · 고순도 정제흑연 · 코발트 · 니켈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33926" y="3595688"/>
            <a:ext cx="32385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0" i="0">
                <a:solidFill>
                  <a:srgbClr val="067875"/>
                </a:solidFill>
                <a:latin typeface="Pretendard"/>
                <a:ea typeface="Pretendard"/>
              </a:rPr>
              <a:t>➞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54267" y="1285875"/>
            <a:ext cx="4827984" cy="512862"/>
          </a:xfrm>
          <a:prstGeom prst="rect">
            <a:avLst/>
          </a:prstGeom>
          <a:solidFill>
            <a:srgbClr val="F4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54267" y="1285875"/>
            <a:ext cx="4827984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54267" y="1789212"/>
            <a:ext cx="4827984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76022" y="1394668"/>
            <a:ext cx="1984325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E1F"/>
                </a:solidFill>
                <a:latin typeface="Pretendard"/>
                <a:ea typeface="Pretendard"/>
              </a:rPr>
              <a:t>COSOLUS (2세대)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54267" y="1970187"/>
            <a:ext cx="4827984" cy="333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754267" y="1970187"/>
            <a:ext cx="4827984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54267" y="2294037"/>
            <a:ext cx="4827984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754267" y="1970187"/>
            <a:ext cx="9525" cy="33337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572726" y="1970187"/>
            <a:ext cx="9525" cy="33337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48998" y="2065437"/>
            <a:ext cx="103852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034443"/>
                </a:solidFill>
                <a:latin typeface="Pretendard"/>
                <a:ea typeface="Pretendard"/>
              </a:rPr>
              <a:t>COSOLUS 유도가열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54267" y="2379762"/>
            <a:ext cx="4827984" cy="333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754267" y="2379762"/>
            <a:ext cx="4827984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754267" y="2703612"/>
            <a:ext cx="4827984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754267" y="2379762"/>
            <a:ext cx="9525" cy="33337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572726" y="2379762"/>
            <a:ext cx="9525" cy="33337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48998" y="2475012"/>
            <a:ext cx="103852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034443"/>
                </a:solidFill>
                <a:latin typeface="Pretendard"/>
                <a:ea typeface="Pretendard"/>
              </a:rPr>
              <a:t>COSOLUS 부유선별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54267" y="2789337"/>
            <a:ext cx="4827984" cy="333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54267" y="2789337"/>
            <a:ext cx="4827984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54267" y="3113187"/>
            <a:ext cx="4827984" cy="952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54267" y="2789337"/>
            <a:ext cx="9525" cy="33337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572726" y="2789337"/>
            <a:ext cx="9525" cy="333375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03890" y="2884587"/>
            <a:ext cx="132858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034443"/>
                </a:solidFill>
                <a:latin typeface="Pretendard"/>
                <a:ea typeface="Pretendard"/>
              </a:rPr>
              <a:t>건식환원(폐흑연 처리 포함)</a:t>
            </a:r>
          </a:p>
        </p:txBody>
      </p:sp>
      <p:pic>
        <p:nvPicPr>
          <p:cNvPr id="54" name="Picture 53" descr="pilot-lin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546" y="3217962"/>
            <a:ext cx="2079278" cy="104775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247162" y="4341912"/>
            <a:ext cx="184219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67875"/>
                </a:solidFill>
                <a:latin typeface="Pretendard"/>
                <a:ea typeface="Pretendard"/>
              </a:rPr>
              <a:t>경제성 · 친환경성 · 양산성 확보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677352" y="6448425"/>
            <a:ext cx="13364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solus-ci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8125"/>
            <a:ext cx="1217712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05095" y="238125"/>
            <a:ext cx="177730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8689"/>
                </a:solidFill>
                <a:latin typeface="Pretendard"/>
                <a:ea typeface="Pretendard"/>
              </a:rPr>
              <a:t>We promise tomorrow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33400"/>
            <a:ext cx="10972800" cy="9525"/>
          </a:xfrm>
          <a:prstGeom prst="rect">
            <a:avLst/>
          </a:prstGeom>
          <a:solidFill>
            <a:srgbClr val="478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590550"/>
            <a:ext cx="10413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90575"/>
            <a:ext cx="6991945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99" b="1" i="0">
                <a:solidFill>
                  <a:srgbClr val="162B1F"/>
                </a:solidFill>
                <a:latin typeface="Pretendard"/>
                <a:ea typeface="Pretendard"/>
              </a:rPr>
              <a:t>핵심기술 — 유도가열·부유선별 공정과 코발트 회수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285875"/>
            <a:ext cx="284038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C9694"/>
                </a:solidFill>
                <a:latin typeface="Pretendard"/>
                <a:ea typeface="Pretendard"/>
              </a:rPr>
              <a:t>친환경 차세대 배터리 재활용 공정기술(2세대)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2127647"/>
            <a:ext cx="2543175" cy="1143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2127647"/>
            <a:ext cx="2543175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3261122"/>
            <a:ext cx="2543175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2127647"/>
            <a:ext cx="9525" cy="1143000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43250" y="2127647"/>
            <a:ext cx="9525" cy="1143000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nduction-heating-equipmen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137172"/>
            <a:ext cx="2524125" cy="11239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21891" y="3346847"/>
            <a:ext cx="1118443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2B1F"/>
                </a:solidFill>
                <a:latin typeface="Pretendard"/>
                <a:ea typeface="Pretendard"/>
              </a:rPr>
              <a:t>COSOLUS 유도가열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90875" y="2713434"/>
            <a:ext cx="19050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67875"/>
                </a:solidFill>
                <a:latin typeface="Pretendard"/>
                <a:ea typeface="Pretendard"/>
              </a:rPr>
              <a:t>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19475" y="2022872"/>
            <a:ext cx="2543175" cy="1143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19475" y="2022872"/>
            <a:ext cx="2543175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19475" y="3156347"/>
            <a:ext cx="2543175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19475" y="2022872"/>
            <a:ext cx="9525" cy="1143000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53125" y="2022872"/>
            <a:ext cx="9525" cy="1143000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8713" y="2422922"/>
            <a:ext cx="444698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50" b="0" i="0">
                <a:solidFill>
                  <a:srgbClr val="5A6664"/>
                </a:solidFill>
                <a:latin typeface="Pretendard"/>
                <a:ea typeface="Pretendard"/>
              </a:rPr>
              <a:t>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37881" y="3242072"/>
            <a:ext cx="906363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2B1F"/>
                </a:solidFill>
                <a:latin typeface="Pretendard"/>
                <a:ea typeface="Pretendard"/>
              </a:rPr>
              <a:t>전처리 · 블랙매스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48150" y="3470672"/>
            <a:ext cx="88582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664"/>
                </a:solidFill>
                <a:latin typeface="Pretendard"/>
                <a:ea typeface="Pretendard"/>
              </a:rPr>
              <a:t>양극재용 / 음극재용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00750" y="2713434"/>
            <a:ext cx="19050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67875"/>
                </a:solidFill>
                <a:latin typeface="Pretendard"/>
                <a:ea typeface="Pretendard"/>
              </a:rPr>
              <a:t>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9350" y="2127647"/>
            <a:ext cx="2543175" cy="1143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9350" y="2127647"/>
            <a:ext cx="2543175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29350" y="3261122"/>
            <a:ext cx="2543175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9350" y="2127647"/>
            <a:ext cx="9525" cy="1143000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63000" y="2127647"/>
            <a:ext cx="9525" cy="1143000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pilot-lin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137172"/>
            <a:ext cx="2524125" cy="11239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941641" y="3346847"/>
            <a:ext cx="1118443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2B1F"/>
                </a:solidFill>
                <a:latin typeface="Pretendard"/>
                <a:ea typeface="Pretendard"/>
              </a:rPr>
              <a:t>COSOLUS 부유선별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10625" y="2713434"/>
            <a:ext cx="19050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67875"/>
                </a:solidFill>
                <a:latin typeface="Pretendard"/>
                <a:ea typeface="Pretendard"/>
              </a:rPr>
              <a:t>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39225" y="2127647"/>
            <a:ext cx="2543175" cy="1143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39225" y="2127647"/>
            <a:ext cx="2543175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39225" y="3261122"/>
            <a:ext cx="2543175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39225" y="2127647"/>
            <a:ext cx="9525" cy="1143000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572875" y="2127647"/>
            <a:ext cx="9525" cy="1143000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68384" y="2527697"/>
            <a:ext cx="284857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50" b="0" i="0">
                <a:solidFill>
                  <a:srgbClr val="5A6664"/>
                </a:solidFill>
                <a:latin typeface="Pretendard"/>
                <a:ea typeface="Pretendard"/>
              </a:rPr>
              <a:t>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29762" y="3346847"/>
            <a:ext cx="156210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62B1F"/>
                </a:solidFill>
                <a:latin typeface="Pretendard"/>
                <a:ea typeface="Pretendard"/>
              </a:rPr>
              <a:t>고순도 정제흑연 / 코발트·니켈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600" y="4236244"/>
            <a:ext cx="10972800" cy="20121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9600" y="4236244"/>
            <a:ext cx="10972800" cy="9525"/>
          </a:xfrm>
          <a:prstGeom prst="rect">
            <a:avLst/>
          </a:prstGeom>
          <a:solidFill>
            <a:srgbClr val="E1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600" y="4398169"/>
            <a:ext cx="3283893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C9694"/>
                </a:solidFill>
                <a:latin typeface="Pretendard"/>
                <a:ea typeface="Pretendard"/>
              </a:rPr>
              <a:t>RESULT — 건식환원에 의한 코발트(또는 니켈) 회수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600" y="4655344"/>
            <a:ext cx="1122164" cy="457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67875"/>
                </a:solidFill>
                <a:latin typeface="Pretendard"/>
                <a:ea typeface="Pretendard"/>
              </a:rPr>
              <a:t>&gt;95%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" y="5093494"/>
            <a:ext cx="922288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664"/>
                </a:solidFill>
                <a:latin typeface="Pretendard"/>
                <a:ea typeface="Pretendard"/>
              </a:rPr>
              <a:t>Co 회수 순도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98464" y="4734669"/>
            <a:ext cx="945654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67875"/>
                </a:solidFill>
                <a:latin typeface="Pretendard"/>
                <a:ea typeface="Pretendard"/>
              </a:rPr>
              <a:t>PCT 2건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98464" y="5023545"/>
            <a:ext cx="657374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664"/>
                </a:solidFill>
                <a:latin typeface="Pretendard"/>
                <a:ea typeface="Pretendard"/>
              </a:rPr>
              <a:t>특허 출원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654730" y="6448425"/>
            <a:ext cx="15627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solus-ci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8125"/>
            <a:ext cx="1217712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05095" y="238125"/>
            <a:ext cx="177730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8689"/>
                </a:solidFill>
                <a:latin typeface="Pretendard"/>
                <a:ea typeface="Pretendard"/>
              </a:rPr>
              <a:t>We promise tomorrow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33400"/>
            <a:ext cx="10972800" cy="9525"/>
          </a:xfrm>
          <a:prstGeom prst="rect">
            <a:avLst/>
          </a:prstGeom>
          <a:solidFill>
            <a:srgbClr val="478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590550"/>
            <a:ext cx="10413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90575"/>
            <a:ext cx="4883200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99" b="1" i="0">
                <a:solidFill>
                  <a:srgbClr val="162B1F"/>
                </a:solidFill>
                <a:latin typeface="Pretendard"/>
                <a:ea typeface="Pretendard"/>
              </a:rPr>
              <a:t>경쟁력 — 가격·기술 우위(솔루션2)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9600" y="1285875"/>
          <a:ext cx="10972800" cy="49625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13992"/>
                <a:gridCol w="4279255"/>
                <a:gridCol w="4279553"/>
              </a:tblGrid>
              <a:tr h="512862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구분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기존 소성로(Pusher Kiln)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COSOLUS</a:t>
                      </a:r>
                    </a:p>
                  </a:txBody>
                  <a:tcPr marL="38100" marR="38100" marT="19050" marB="19050" anchor="ctr">
                    <a:solidFill>
                      <a:srgbClr val="067875"/>
                    </a:solidFill>
                  </a:tcPr>
                </a:tc>
              </a:tr>
              <a:tr h="901303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8C9694"/>
                          </a:solidFill>
                          <a:latin typeface="Pretendard"/>
                          <a:ea typeface="Pretendard"/>
                        </a:rPr>
                        <a:t>공정시간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5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10시간 이상 장시간 소요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5" b="1">
                          <a:solidFill>
                            <a:srgbClr val="067875"/>
                          </a:solidFill>
                          <a:latin typeface="Pretendard"/>
                          <a:ea typeface="Pretendard"/>
                        </a:rPr>
                        <a:t>1분 이내(200배 빠른 승온 속도)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</a:tr>
              <a:tr h="889843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8C9694"/>
                          </a:solidFill>
                          <a:latin typeface="Pretendard"/>
                          <a:ea typeface="Pretendard"/>
                        </a:rPr>
                        <a:t>에너지 투입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5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-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5" b="1">
                          <a:solidFill>
                            <a:srgbClr val="067875"/>
                          </a:solidFill>
                          <a:latin typeface="Pretendard"/>
                          <a:ea typeface="Pretendard"/>
                        </a:rPr>
                        <a:t>432 Wh/kg(64% 에너지 절감)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</a:tr>
              <a:tr h="889843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8C9694"/>
                          </a:solidFill>
                          <a:latin typeface="Pretendard"/>
                          <a:ea typeface="Pretendard"/>
                        </a:rPr>
                        <a:t>재생흑연 순도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5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-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5" b="1">
                          <a:solidFill>
                            <a:srgbClr val="067875"/>
                          </a:solidFill>
                          <a:latin typeface="Pretendard"/>
                          <a:ea typeface="Pretendard"/>
                        </a:rPr>
                        <a:t>99% 이상(고순도)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</a:tr>
              <a:tr h="889843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8C9694"/>
                          </a:solidFill>
                          <a:latin typeface="Pretendard"/>
                          <a:ea typeface="Pretendard"/>
                        </a:rPr>
                        <a:t>온도 정밀도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5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낮은 온도 정밀도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5" b="1">
                          <a:solidFill>
                            <a:srgbClr val="067875"/>
                          </a:solidFill>
                          <a:latin typeface="Pretendard"/>
                          <a:ea typeface="Pretendard"/>
                        </a:rPr>
                        <a:t>균일한 온도 분포 구현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</a:tr>
              <a:tr h="87883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8C9694"/>
                          </a:solidFill>
                          <a:latin typeface="Pretendard"/>
                          <a:ea typeface="Pretendard"/>
                        </a:rPr>
                        <a:t>시설 투자비용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5" b="0">
                          <a:solidFill>
                            <a:srgbClr val="162B1F"/>
                          </a:solidFill>
                          <a:latin typeface="Pretendard"/>
                          <a:ea typeface="Pretendard"/>
                        </a:rPr>
                        <a:t>높은 시설 투자비용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5" b="1">
                          <a:solidFill>
                            <a:srgbClr val="067875"/>
                          </a:solidFill>
                          <a:latin typeface="Pretendard"/>
                          <a:ea typeface="Pretendard"/>
                        </a:rPr>
                        <a:t>-</a:t>
                      </a:r>
                    </a:p>
                  </a:txBody>
                  <a:tcPr marL="38100" marR="38100" marT="19050" marB="19050" anchor="ctr"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9600" y="6362700"/>
            <a:ext cx="1788468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9694"/>
                </a:solidFill>
                <a:latin typeface="Pretendard"/>
                <a:ea typeface="Pretendard"/>
              </a:rPr>
              <a:t>낮은 부반응 발생 · PCT 2건 출원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50117" y="6448425"/>
            <a:ext cx="160883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solus-ci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8125"/>
            <a:ext cx="1217712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05095" y="238125"/>
            <a:ext cx="177730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8689"/>
                </a:solidFill>
                <a:latin typeface="Pretendard"/>
                <a:ea typeface="Pretendard"/>
              </a:rPr>
              <a:t>We promise tomorrow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33400"/>
            <a:ext cx="10972800" cy="9525"/>
          </a:xfrm>
          <a:prstGeom prst="rect">
            <a:avLst/>
          </a:prstGeom>
          <a:solidFill>
            <a:srgbClr val="478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590550"/>
            <a:ext cx="1633389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90575"/>
            <a:ext cx="1536650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99" b="1" i="0">
                <a:solidFill>
                  <a:srgbClr val="162B1F"/>
                </a:solidFill>
                <a:latin typeface="Pretendard"/>
                <a:ea typeface="Pretendard"/>
              </a:rPr>
              <a:t>투자포인트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285875"/>
            <a:ext cx="493961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67875"/>
                </a:solidFill>
                <a:latin typeface="Pretendard"/>
                <a:ea typeface="Pretendard"/>
              </a:rPr>
              <a:t>기술력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638300"/>
            <a:ext cx="2190899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162B1F"/>
                </a:solidFill>
                <a:latin typeface="Pretendard"/>
                <a:ea typeface="Pretendard"/>
              </a:rPr>
              <a:t>추출제 최상위 수준의 합성 및 정제 기술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924050"/>
            <a:ext cx="249942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162B1F"/>
                </a:solidFill>
                <a:latin typeface="Pretendard"/>
                <a:ea typeface="Pretendard"/>
              </a:rPr>
              <a:t>친환경 공정 기술(건식환원 및 유도가열 기술)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209800"/>
            <a:ext cx="3191024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162B1F"/>
                </a:solidFill>
                <a:latin typeface="Pretendard"/>
                <a:ea typeface="Pretendard"/>
              </a:rPr>
              <a:t>Closed-loop system 합성·공정 기술로 환경부담 최소화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676525"/>
            <a:ext cx="867221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67875"/>
                </a:solidFill>
                <a:latin typeface="Pretendard"/>
                <a:ea typeface="Pretendard"/>
              </a:rPr>
              <a:t>사업화 방향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028950"/>
            <a:ext cx="4605933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162B1F"/>
                </a:solidFill>
                <a:latin typeface="Pretendard"/>
                <a:ea typeface="Pretendard"/>
              </a:rPr>
              <a:t>(1.5세대 – RECYION Series) XX하이텍, XX코 등 현장적용을 고려한 PoC 진행 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3314700"/>
            <a:ext cx="5137547" cy="400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162B1F"/>
                </a:solidFill>
                <a:latin typeface="Pretendard"/>
                <a:ea typeface="Pretendard"/>
              </a:rPr>
              <a:t>(2세대 – 친환경 공정기술) XX자동차 연계 신공급망 구축, 일본 및 인도네시아 시장 진출(파일롯 기술검증 후 JV 설립)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6500" y="1285875"/>
            <a:ext cx="823317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67875"/>
                </a:solidFill>
                <a:latin typeface="Pretendard"/>
                <a:ea typeface="Pretendard"/>
              </a:rPr>
              <a:t>투자라운드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900" y="1638300"/>
            <a:ext cx="608707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162B1F"/>
                </a:solidFill>
                <a:latin typeface="Pretendard"/>
                <a:ea typeface="Pretendard"/>
              </a:rPr>
              <a:t>Series A2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86500" y="4019550"/>
            <a:ext cx="5295900" cy="914400"/>
          </a:xfrm>
          <a:prstGeom prst="rect">
            <a:avLst/>
          </a:prstGeom>
          <a:solidFill>
            <a:srgbClr val="034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6050" y="4191000"/>
            <a:ext cx="96604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AFE2E3"/>
                </a:solidFill>
                <a:latin typeface="Pretendard"/>
                <a:ea typeface="Pretendard"/>
              </a:rPr>
              <a:t>목표 투자유치 금액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6050" y="4371975"/>
            <a:ext cx="1012031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Pretendard"/>
                <a:ea typeface="Pretendard"/>
              </a:rPr>
              <a:t>80억원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6500" y="5143500"/>
            <a:ext cx="1240334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67875"/>
                </a:solidFill>
                <a:latin typeface="Pretendard"/>
                <a:ea typeface="Pretendard"/>
              </a:rPr>
              <a:t>투자금 사용 계획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8900" y="5495925"/>
            <a:ext cx="2314426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162B1F"/>
                </a:solidFill>
                <a:latin typeface="Pretendard"/>
                <a:ea typeface="Pretendard"/>
              </a:rPr>
              <a:t>글로벌 진출을 위한 국외법인 설립 및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8900" y="5781675"/>
            <a:ext cx="3779788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162B1F"/>
                </a:solidFill>
                <a:latin typeface="Pretendard"/>
                <a:ea typeface="Pretendard"/>
              </a:rPr>
              <a:t>공장 건설을 위한 토지 구매 및 건축 비용(추출제 CAPA, 공정파일롯)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49075" y="6448425"/>
            <a:ext cx="1619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solus-ci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8125"/>
            <a:ext cx="1217712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05095" y="238125"/>
            <a:ext cx="177730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8689"/>
                </a:solidFill>
                <a:latin typeface="Pretendard"/>
                <a:ea typeface="Pretendard"/>
              </a:rPr>
              <a:t>We promise tomorrow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33400"/>
            <a:ext cx="10972800" cy="9525"/>
          </a:xfrm>
          <a:prstGeom prst="rect">
            <a:avLst/>
          </a:prstGeom>
          <a:solidFill>
            <a:srgbClr val="478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590550"/>
            <a:ext cx="85754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MILESTONE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90575"/>
            <a:ext cx="1923455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99" b="1" i="0">
                <a:solidFill>
                  <a:srgbClr val="162B1F"/>
                </a:solidFill>
                <a:latin typeface="Pretendard"/>
                <a:ea typeface="Pretendard"/>
              </a:rPr>
              <a:t>세계시장 진출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314450"/>
            <a:ext cx="3371850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34443"/>
                </a:solidFill>
                <a:latin typeface="Pretendard"/>
                <a:ea typeface="Pretendard"/>
              </a:rPr>
              <a:t>일본과 인도네시아를 전략적 거점으로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5052" y="1314450"/>
            <a:ext cx="2779216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34443"/>
                </a:solidFill>
                <a:latin typeface="Pretendard"/>
                <a:ea typeface="Pretendard"/>
              </a:rPr>
              <a:t>이상의 아시아 경제권에서 성장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81450" y="1266825"/>
            <a:ext cx="723602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20"/>
              </a:lnSpc>
              <a:spcBef>
                <a:spcPts val="0"/>
              </a:spcBef>
              <a:spcAft>
                <a:spcPts val="0"/>
              </a:spcAft>
            </a:pPr>
            <a:r>
              <a:rPr sz="2199" b="1" i="0">
                <a:solidFill>
                  <a:srgbClr val="067875"/>
                </a:solidFill>
                <a:latin typeface="Pretendard"/>
                <a:ea typeface="Pretendard"/>
              </a:rPr>
              <a:t>5억 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838325"/>
            <a:ext cx="5343525" cy="225162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1838325"/>
            <a:ext cx="5343525" cy="19050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1990725"/>
            <a:ext cx="823317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67875"/>
                </a:solidFill>
                <a:latin typeface="Pretendard"/>
                <a:ea typeface="Pretendard"/>
              </a:rPr>
              <a:t>인도네시아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2343150"/>
            <a:ext cx="203641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62B1F"/>
                </a:solidFill>
                <a:latin typeface="Pretendard"/>
                <a:ea typeface="Pretendard"/>
              </a:rPr>
              <a:t>전기자전거 업체 1대주주와 투자논의 중</a:t>
            </a:r>
          </a:p>
        </p:txBody>
      </p:sp>
      <p:pic>
        <p:nvPicPr>
          <p:cNvPr id="15" name="Picture 14" descr="indonesia-emobility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756446"/>
            <a:ext cx="2624138" cy="1047750"/>
          </a:xfrm>
          <a:prstGeom prst="rect">
            <a:avLst/>
          </a:prstGeom>
        </p:spPr>
      </p:pic>
      <p:pic>
        <p:nvPicPr>
          <p:cNvPr id="16" name="Picture 15" descr="indonesia-even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988" y="2756446"/>
            <a:ext cx="2624138" cy="1047750"/>
          </a:xfrm>
          <a:prstGeom prst="rect">
            <a:avLst/>
          </a:prstGeom>
        </p:spPr>
      </p:pic>
      <p:pic>
        <p:nvPicPr>
          <p:cNvPr id="17" name="Picture 16" descr="logo-swap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804196"/>
            <a:ext cx="285750" cy="285750"/>
          </a:xfrm>
          <a:prstGeom prst="rect">
            <a:avLst/>
          </a:prstGeom>
        </p:spPr>
      </p:pic>
      <p:pic>
        <p:nvPicPr>
          <p:cNvPr id="18" name="Picture 17" descr="logo-mukti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650" y="3804196"/>
            <a:ext cx="851148" cy="285750"/>
          </a:xfrm>
          <a:prstGeom prst="rect">
            <a:avLst/>
          </a:prstGeom>
        </p:spPr>
      </p:pic>
      <p:pic>
        <p:nvPicPr>
          <p:cNvPr id="19" name="Picture 18" descr="logo-econi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5098" y="3804196"/>
            <a:ext cx="273844" cy="285750"/>
          </a:xfrm>
          <a:prstGeom prst="rect">
            <a:avLst/>
          </a:prstGeom>
        </p:spPr>
      </p:pic>
      <p:pic>
        <p:nvPicPr>
          <p:cNvPr id="20" name="Picture 19" descr="logo-ibc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63242" y="3804196"/>
            <a:ext cx="760363" cy="285750"/>
          </a:xfrm>
          <a:prstGeom prst="rect">
            <a:avLst/>
          </a:prstGeom>
        </p:spPr>
      </p:pic>
      <p:pic>
        <p:nvPicPr>
          <p:cNvPr id="21" name="Picture 20" descr="logo-hli.jpe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37905" y="3804196"/>
            <a:ext cx="293638" cy="28575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238875" y="1838325"/>
            <a:ext cx="5343525" cy="225162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8875" y="1838325"/>
            <a:ext cx="5343525" cy="19050"/>
          </a:xfrm>
          <a:prstGeom prst="rect">
            <a:avLst/>
          </a:prstGeom>
          <a:solidFill>
            <a:srgbClr val="067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8875" y="1990725"/>
            <a:ext cx="329357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67875"/>
                </a:solidFill>
                <a:latin typeface="Pretendard"/>
                <a:ea typeface="Pretendard"/>
              </a:rPr>
              <a:t>일본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8875" y="2343150"/>
            <a:ext cx="2012156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62B1F"/>
                </a:solidFill>
                <a:latin typeface="Pretendard"/>
                <a:ea typeface="Pretendard"/>
              </a:rPr>
              <a:t>현지투자사, 재료업체 등과 투자논의 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53242" y="6448425"/>
            <a:ext cx="15775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9694"/>
                </a:solidFill>
                <a:latin typeface="Pretendard"/>
                <a:ea typeface="Pretendard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