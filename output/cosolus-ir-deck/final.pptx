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png"/><Relationship Id="rId7" Type="http://schemas.openxmlformats.org/officeDocument/2006/relationships/image" Target="../media/image15.jpg"/><Relationship Id="rId8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6A8C">
                  <a:alpha val="55000"/>
                </a:srgbClr>
              </a:gs>
              <a:gs pos="50000">
                <a:srgbClr val="7FC8BE">
                  <a:alpha val="30000"/>
                </a:srgbClr>
              </a:gs>
              <a:gs pos="100000">
                <a:srgbClr val="0F655B">
                  <a:alpha val="50000"/>
                </a:srgbClr>
              </a:gs>
            </a:gsLst>
            <a:lin scaled="1" ang="4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81000"/>
            <a:ext cx="208463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</a:rPr>
              <a:t>Small action, BIG DIFFERENCE</a:t>
            </a:r>
          </a:p>
        </p:txBody>
      </p:sp>
      <p:pic>
        <p:nvPicPr>
          <p:cNvPr id="6" name="Picture 5" descr="cosolus-c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9125"/>
            <a:ext cx="2206675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71974" y="3251746"/>
            <a:ext cx="5848052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retendard"/>
                <a:ea typeface="Pretendard"/>
              </a:rPr>
              <a:t>지속가능한 배터리 재활용을 위한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645" y="3868936"/>
            <a:ext cx="6348561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retendard"/>
                <a:ea typeface="Pretendard"/>
              </a:rPr>
              <a:t>화학소재 및 친환경 차세대 공정기술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7554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22932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기업소개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71600"/>
            <a:ext cx="578093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A6664"/>
                </a:solidFill>
                <a:latin typeface="Pretendard"/>
                <a:ea typeface="Pretendard"/>
              </a:rPr>
              <a:t>첨단 화학 소재와 차세대 친환경 공정으로 폐배터리 순환경제 선도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924050"/>
            <a:ext cx="6143327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924050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428875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066925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기업명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2085975"/>
            <a:ext cx="10919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주식회사 코솔러스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438400"/>
            <a:ext cx="6143327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2933700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571750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대표자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2590800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김성현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2943225"/>
            <a:ext cx="6143327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438525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3076575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임직원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2600" y="3095625"/>
            <a:ext cx="30524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27명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448050"/>
            <a:ext cx="6143327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3943350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581400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소재지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2600" y="3600450"/>
            <a:ext cx="185082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대한민국 전주, 익산, 완주, 군산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952875"/>
            <a:ext cx="6143327" cy="7334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4676775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4086225"/>
            <a:ext cx="26342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비전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4105275"/>
            <a:ext cx="497636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사용 후 배터리 핵심광물 회수를 위한 혁신 화학소재와 친환경 공정 기술을 통해, 인류의 지속가능한 미래를 선도하는 글로벌 리더로 도약</a:t>
            </a:r>
          </a:p>
        </p:txBody>
      </p:sp>
      <p:pic>
        <p:nvPicPr>
          <p:cNvPr id="30" name="Picture 29" descr="company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927" y="1695450"/>
            <a:ext cx="4448473" cy="4552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721554" y="6448425"/>
            <a:ext cx="8944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423356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배터리 순환경제가 필요한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6212235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81150"/>
            <a:ext cx="621223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285875"/>
            <a:ext cx="4891683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67875"/>
                </a:solidFill>
                <a:latin typeface="Pretendard"/>
                <a:ea typeface="Pretendard"/>
              </a:rPr>
              <a:t>환경·지정학적 요인 — 배터리 밸류체인 전반의 환경부하 및 사회적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57375"/>
            <a:ext cx="78655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19/20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231231"/>
            <a:ext cx="1364159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전략광물 20개 중 19개 정제 1위(중국)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6434" y="1857375"/>
            <a:ext cx="62656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6434" y="2231231"/>
            <a:ext cx="1419671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전략광물 정제 평균 점유율(중국)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72978"/>
            <a:ext cx="64278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46834"/>
            <a:ext cx="1419671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글로벌 블랙매스 처리 비중(중국)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6434" y="2872978"/>
            <a:ext cx="601414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133t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6434" y="3246834"/>
            <a:ext cx="1366986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니켈 1톤당 폐기물 발생량(광산채굴 기준)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774281"/>
            <a:ext cx="3007072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채굴 산업의 노동 및 인권문제, 광산채굴 기준 수요-공급 미스매치 발생</a:t>
            </a:r>
          </a:p>
        </p:txBody>
      </p:sp>
      <p:pic>
        <p:nvPicPr>
          <p:cNvPr id="20" name="Picture 19" descr="map-ch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368" y="1938040"/>
            <a:ext cx="3020467" cy="20602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5848350"/>
            <a:ext cx="6023223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IEA, Global Critical Minerals Outlook 2025; Benchmark Mineral Intelligence, China's Battery Recycling Dominance, 2025; Earthworks, Filtered Tailing in Indonesia,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26635" y="1285875"/>
            <a:ext cx="4455765" cy="4962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26635" y="1285875"/>
            <a:ext cx="9525" cy="4962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0960" y="1285875"/>
            <a:ext cx="414144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0960" y="1581150"/>
            <a:ext cx="4141440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0960" y="1285875"/>
            <a:ext cx="278397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67875"/>
                </a:solidFill>
                <a:latin typeface="Pretendard"/>
                <a:ea typeface="Pretendard"/>
              </a:rPr>
              <a:t>산업적 요인 — 북미 ESS 시장 성장 전망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0960" y="3087737"/>
            <a:ext cx="3061543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999" b="1" i="0">
                <a:solidFill>
                  <a:srgbClr val="067875"/>
                </a:solidFill>
                <a:latin typeface="Pretendard"/>
                <a:ea typeface="Pretendard"/>
              </a:rPr>
              <a:t>CAGR 31.6%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0960" y="3770263"/>
            <a:ext cx="3939778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북미 ESS(에너지저장시스템) 시장의 에너지 용량(GWh) 기준 연평균 성장률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6060" y="3998863"/>
            <a:ext cx="270718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801F"/>
                </a:solidFill>
                <a:latin typeface="Pretendard"/>
                <a:ea typeface="Pretendard"/>
              </a:rPr>
              <a:t>[확인필요: 연도별 시계열 수치는 원본에 없음]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960" y="5638800"/>
            <a:ext cx="386119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SNE Research (2023); Mirae Asset Securities Research Center (Jan. 2026); Korea Automotive Technology Institute (KATECH), Mobility Insight (Apr. 2024; citing SNE Research)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16941" y="6448425"/>
            <a:ext cx="9405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92345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비즈니스 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3568601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3568601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3568601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7194" y="1442293"/>
            <a:ext cx="6334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E1F"/>
                </a:solidFill>
                <a:latin typeface="Pretendard"/>
                <a:ea typeface="Pretendard"/>
              </a:rPr>
              <a:t>자원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1689" y="1960662"/>
            <a:ext cx="128766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배터리 원재료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9350" y="1960662"/>
            <a:ext cx="1236613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sng">
                <a:solidFill>
                  <a:srgbClr val="067875"/>
                </a:solidFill>
                <a:latin typeface="Pretendard"/>
                <a:ea typeface="Pretendard"/>
              </a:rPr>
              <a:t>수요부족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086" y="3678734"/>
            <a:ext cx="453628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50" b="0" i="0">
                <a:solidFill>
                  <a:srgbClr val="349887"/>
                </a:solidFill>
                <a:latin typeface="Pretendard"/>
                <a:ea typeface="Pretendard"/>
              </a:rPr>
              <a:t>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9203" y="4555034"/>
            <a:ext cx="182924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폐자원으로부터 핵심 광물을 확보해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396" y="4768304"/>
            <a:ext cx="159871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새로운 원재료 공급원을 만든다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1551" y="1285875"/>
            <a:ext cx="3568750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1551" y="1285875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1551" y="1789212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145" y="1442293"/>
            <a:ext cx="6334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E1F"/>
                </a:solidFill>
                <a:latin typeface="Pretendard"/>
                <a:ea typeface="Pretendard"/>
              </a:rPr>
              <a:t>환경 저감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373" y="1960662"/>
            <a:ext cx="44633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저감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8994" y="1960662"/>
            <a:ext cx="1647379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sng">
                <a:solidFill>
                  <a:srgbClr val="067875"/>
                </a:solidFill>
                <a:latin typeface="Pretendard"/>
                <a:ea typeface="Pretendard"/>
              </a:rPr>
              <a:t>유해물질·온실가스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682" y="3678734"/>
            <a:ext cx="706338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50" b="0" i="0">
                <a:solidFill>
                  <a:srgbClr val="349887"/>
                </a:solidFill>
                <a:latin typeface="Pretendard"/>
                <a:ea typeface="Pretendard"/>
              </a:rPr>
              <a:t>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4485" y="4555034"/>
            <a:ext cx="186273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유해물질 억제 및 온실가스 감축으로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1295" y="4768304"/>
            <a:ext cx="9889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환경 오염을 줄인다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3650" y="1285875"/>
            <a:ext cx="3568750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3650" y="1285875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3650" y="1789212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3012" y="1442293"/>
            <a:ext cx="92987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E1F"/>
                </a:solidFill>
                <a:latin typeface="Pretendard"/>
                <a:ea typeface="Pretendard"/>
              </a:rPr>
              <a:t>신공급망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1205" y="1960662"/>
            <a:ext cx="165467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제조–재활용–제조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876" y="1960662"/>
            <a:ext cx="1038969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sng">
                <a:solidFill>
                  <a:srgbClr val="067875"/>
                </a:solidFill>
                <a:latin typeface="Pretendard"/>
                <a:ea typeface="Pretendard"/>
              </a:rPr>
              <a:t>순환 공급망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3100" y="3650159"/>
            <a:ext cx="469702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50" b="0" i="0">
                <a:solidFill>
                  <a:srgbClr val="349887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0964" y="4516934"/>
            <a:ext cx="179397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제조 → 재활용 → 제조로 이어지는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1920" y="4730204"/>
            <a:ext cx="173206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재활용 기반 新공급망을 구축한다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15899" y="6448425"/>
            <a:ext cx="9510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3311723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기존 재활용 공정의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154930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재활용 공정 현황 (1세대)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4325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8838" y="2527697"/>
            <a:ext cx="444698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9535" y="3346847"/>
            <a:ext cx="72315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블랙매스 투입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087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475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9475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475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47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5312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107" y="2422922"/>
            <a:ext cx="239911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858" y="3242072"/>
            <a:ext cx="107826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1세대 습식 추출 공정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5896" y="3470672"/>
            <a:ext cx="171018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낮은 선택성 · 제한된 동작 환경(pH 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9350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350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9350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9350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3000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9430" y="2422922"/>
            <a:ext cx="30286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7999" y="3242072"/>
            <a:ext cx="34587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상분리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0184" y="3470672"/>
            <a:ext cx="6215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상분리 불안정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062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39225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9225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9225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922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57287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8384" y="2422922"/>
            <a:ext cx="284857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4353" y="3242072"/>
            <a:ext cx="49277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금속 회수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9135" y="3470672"/>
            <a:ext cx="11232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부산물 과다발생(망초 등)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236244"/>
            <a:ext cx="10972800" cy="20121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236244"/>
            <a:ext cx="10972800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4398169"/>
            <a:ext cx="87540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LIMITATION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00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9600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4693444"/>
            <a:ext cx="6533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낮은 선택성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00425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00425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2825" y="4693444"/>
            <a:ext cx="137651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제한된 동작 환경(pH 등)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1250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91250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3650" y="4693444"/>
            <a:ext cx="77688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상분리 불안정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2075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82075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34475" y="4693444"/>
            <a:ext cx="140404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부산물 과다발생(망초 등)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5022056"/>
            <a:ext cx="224522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→ 소재 및 공정 개선 필요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20066" y="6448425"/>
            <a:ext cx="909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621789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솔루션1 — 고성능 추출제(1.5세대 화학소재)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4827984" cy="5128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4693" y="1394668"/>
            <a:ext cx="191765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기존 추출제 (1세대)</a:t>
            </a:r>
          </a:p>
        </p:txBody>
      </p:sp>
      <p:pic>
        <p:nvPicPr>
          <p:cNvPr id="12" name="Picture 11" descr="d2ehpa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" y="2813745"/>
            <a:ext cx="4064645" cy="2352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5681" y="5261967"/>
            <a:ext cx="22958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D2EHPA — 광산·염호 기반 금속 회수용 추출제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3926" y="3595688"/>
            <a:ext cx="3238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4267" y="1285875"/>
            <a:ext cx="4827984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54267" y="1285875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54267" y="17892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9360" y="1394668"/>
            <a:ext cx="2857649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COSOLUS 추출제 (1.5세대)</a:t>
            </a:r>
          </a:p>
        </p:txBody>
      </p:sp>
      <p:pic>
        <p:nvPicPr>
          <p:cNvPr id="19" name="Picture 18" descr="recyion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571" y="3742581"/>
            <a:ext cx="3381375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21328" y="4333131"/>
            <a:ext cx="8938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RECYION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3348" y="6315075"/>
            <a:ext cx="148530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재활용 효율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7536" y="6448425"/>
            <a:ext cx="934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6070104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핵심기술 — 고성능 추출제 성능·원가 경쟁력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285875"/>
          <a:ext cx="10972801" cy="10858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3567"/>
                <a:gridCol w="1558691"/>
                <a:gridCol w="3895982"/>
                <a:gridCol w="3784561"/>
              </a:tblGrid>
              <a:tr h="36356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COSOLUS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벨기에 S사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중국 K사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</a:tr>
              <a:tr h="358718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공정시간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기준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100% 증가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50% 증가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363566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첨가제 사용량*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기준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10% 이상 추가 필요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5% 이상 추가 필요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2447925"/>
            <a:ext cx="19487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*블랙매스 1톤당 첨가제 사용량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771775"/>
            <a:ext cx="10972800" cy="657225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771775"/>
            <a:ext cx="28575" cy="6572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25" y="2905125"/>
            <a:ext cx="12077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이론단수 5단 → 4단(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1728" y="2905125"/>
            <a:ext cx="38601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) — 추출 효율 2~5% 개선, 추출 단수 1단 저감(CAPEX 경제성 확보)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119438"/>
            <a:ext cx="46279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대한민국 배터리 재활용 업체 연간 니켈 16,000톤 생산 기준, COSOLUS 추출제로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710" y="3119438"/>
            <a:ext cx="14451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가능(OPEX 경제성 확보)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7365" y="2905125"/>
            <a:ext cx="6143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20%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7584" y="3119438"/>
            <a:ext cx="129212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망초 4,800톤/년 저감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26912" y="6448425"/>
            <a:ext cx="8408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492130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솔루션1-2 — 직접 리튬 추출(DLE)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4827984" cy="5128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1573" y="1394668"/>
            <a:ext cx="1823889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기존 DLE (증발법)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97018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29403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8059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3891" y="2065437"/>
            <a:ext cx="18794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1단계 · 증발 농축 기반 Li 회수 (3.12%)</a:t>
            </a:r>
          </a:p>
        </p:txBody>
      </p:sp>
      <p:pic>
        <p:nvPicPr>
          <p:cNvPr id="18" name="Picture 17" descr="atacama-salt-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09" y="3175397"/>
            <a:ext cx="2391817" cy="20962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72023" y="5366891"/>
            <a:ext cx="130313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Chile, Atacama Salt Flat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3926" y="3595688"/>
            <a:ext cx="3238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54267" y="1285875"/>
            <a:ext cx="4827984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54267" y="1285875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54267" y="17892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54107" y="1394668"/>
            <a:ext cx="262830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COSOLUS 추출 후 재활용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4267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54267" y="1970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54267" y="22940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54267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72726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8834" y="2065437"/>
            <a:ext cx="17587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NCM 스크랩 → 침출 → 불순물 제거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4267" y="237976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54267" y="237976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4267" y="27036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54267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72726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6676" y="2475012"/>
            <a:ext cx="563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① Mn 추출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4267" y="278933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4267" y="27893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54267" y="3113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54267" y="278933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72726" y="278933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6648" y="2884587"/>
            <a:ext cx="5430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② Co 추출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54267" y="319891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54267" y="31989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54267" y="352276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4267" y="319891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572726" y="319891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7632" y="3294162"/>
            <a:ext cx="50110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③ Ni 추출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54267" y="36084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54267" y="36084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54267" y="39323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54267" y="36084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572726" y="36084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58386" y="3703737"/>
            <a:ext cx="4896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④ 역추출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5181" y="3713262"/>
            <a:ext cx="27280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67875"/>
                </a:solidFill>
                <a:latin typeface="Pretendard"/>
                <a:ea typeface="Pretendard"/>
              </a:rPr>
              <a:t>4단계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038850"/>
            <a:ext cx="10600283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한국광해광업공단(2024), 오세희 의원실 2025 국정감사 분석; John Moore/Getty Images, Chile Mines Lithium From Salt Flats of Atacama Desert (2022); Controlled Thermal Resources, via Chemical &amp; Engineering News (2024)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18578" y="6448425"/>
            <a:ext cx="9242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2740819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DLE 기술 동향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285875"/>
          <a:ext cx="10972801" cy="209549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36049"/>
                <a:gridCol w="2359039"/>
                <a:gridCol w="2359039"/>
                <a:gridCol w="2359039"/>
                <a:gridCol w="2359635"/>
              </a:tblGrid>
              <a:tr h="36046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흡착제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추출제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분리막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전기화학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</a:tr>
              <a:tr h="509456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작동원리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Li⁺(액상)과 흡착제(고상)간 선택적 상호작용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Li⁺(액상)과 추출제(액상)간 선택적 상호작용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Li⁺(액상)의 분리막(고상)을 통한 선택적 이동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Li⁺(액상)과 전극(고상)간 선택적 상호작용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355658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기술성숙도(TRL)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9 (상용화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4-5 (실험실 검증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4-5 (실험실 검증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3-4 (실험실 검증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509456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장점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선택성 우수 · 공정 단순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회수 효율 · 재사용 가능 · 기존 공정 적용 가능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우수한 효율 · 공정 단순 · 낮은 화학약품 사용량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우수한 효율 · 낮은 화학약품 사용량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360464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단점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재사용성 제한 · 높은 운영비용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운영비용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운영비용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복잡한 시스템 · 대규모 양산 적용에 한계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3476625"/>
            <a:ext cx="245834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Desalination, 2024, 575, 117249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7536" y="6448425"/>
            <a:ext cx="934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5136654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COSOLUS DLE의 핵심 강점과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3562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KEY ADVANTAGES OF EXTRACTANT–SEPARATOR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562100"/>
            <a:ext cx="2426791" cy="328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① 추출제와 리튬이온(Li⁺) 간 액-액 접촉을 통한 빠른 물질 전달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5662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5662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962" y="1562100"/>
            <a:ext cx="2467124" cy="328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② 화학적 결합(추출제) + 공간적 분리(분리막)를 통한 우수한 재활용 효율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725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725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6025" y="1562100"/>
            <a:ext cx="17926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③ 액상 공정을 통한 용이한 연속 운전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7788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7788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2088" y="1562100"/>
            <a:ext cx="225177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④ 분리막 기반 농축을 통한 첨가제 소모량 감소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066925"/>
            <a:ext cx="5404098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066925"/>
            <a:ext cx="5404098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2570262"/>
            <a:ext cx="5404098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2824" y="2175718"/>
            <a:ext cx="1917502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분리막 &amp; THz 기술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8153" y="2066925"/>
            <a:ext cx="5404247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8153" y="2066925"/>
            <a:ext cx="5404247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8153" y="2570262"/>
            <a:ext cx="5404247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649" y="2175718"/>
            <a:ext cx="1377107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핵심소재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6997" y="2770287"/>
            <a:ext cx="188669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1F"/>
                </a:solidFill>
                <a:latin typeface="Pretendard"/>
                <a:ea typeface="Pretendard"/>
              </a:rPr>
              <a:t>리튬 재자원화율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0253" y="4916388"/>
            <a:ext cx="54099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A6664"/>
                </a:solidFill>
                <a:latin typeface="Pretendard"/>
                <a:ea typeface="Pretendard"/>
              </a:rPr>
              <a:t>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4593" y="5016996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58443" y="4809083"/>
            <a:ext cx="1182142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999" b="1" i="0">
                <a:solidFill>
                  <a:srgbClr val="067875"/>
                </a:solidFill>
                <a:latin typeface="Pretendard"/>
                <a:ea typeface="Pretendard"/>
              </a:rPr>
              <a:t>90%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1238" y="2751237"/>
            <a:ext cx="5491162" cy="42782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1238" y="2751237"/>
            <a:ext cx="9525" cy="4278213"/>
          </a:xfrm>
          <a:prstGeom prst="rect">
            <a:avLst/>
          </a:prstGeom>
          <a:solidFill>
            <a:srgbClr val="034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8160" y="2770287"/>
            <a:ext cx="188669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1F"/>
                </a:solidFill>
                <a:latin typeface="Pretendard"/>
                <a:ea typeface="Pretendard"/>
              </a:rPr>
              <a:t>리튬 재자원화율 개선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5285" y="4916388"/>
            <a:ext cx="54099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A6664"/>
                </a:solidFill>
                <a:latin typeface="Pretendard"/>
                <a:ea typeface="Pretendard"/>
              </a:rPr>
              <a:t>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9625" y="5016996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3475" y="4809083"/>
            <a:ext cx="1174254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999" b="1" i="0">
                <a:solidFill>
                  <a:srgbClr val="067875"/>
                </a:solidFill>
                <a:latin typeface="Pretendard"/>
                <a:ea typeface="Pretendard"/>
              </a:rPr>
              <a:t>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82" y="7048500"/>
            <a:ext cx="1054923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COSOLUS 화학구조 설계·정제·공정 기술 → 재자원화율(&gt;90%*), 공정비용(&lt;5,500원/kg) | *리튬선물 가격 약 44,100천원/ton 수준 기준 | Source: KOMIS; Green Chem., 2026, 28, 1144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53391" y="6448425"/>
            <a:ext cx="15760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7002066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솔루션2 — 친환경 차세대 재활용 공정기술(2세대)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4827984" cy="5128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0721" y="1394668"/>
            <a:ext cx="1645593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기존공정 (1세대)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97018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29403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8059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9429" y="2065437"/>
            <a:ext cx="4281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유도가열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237976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237976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27036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2379762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8059" y="2379762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9429" y="2475012"/>
            <a:ext cx="4281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부유선별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278933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278933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" y="311318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278933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28059" y="278933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09429" y="2884587"/>
            <a:ext cx="4281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건식환원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243" y="3237012"/>
            <a:ext cx="45465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양극재/음극재용 블랙매스 → 재활용 양극재 · 고순도 정제흑연 · 코발트 · 니켈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3926" y="3595688"/>
            <a:ext cx="3238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4267" y="1285875"/>
            <a:ext cx="4827984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4267" y="1285875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54267" y="17892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6022" y="1394668"/>
            <a:ext cx="198432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COSOLUS (2세대)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54267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54267" y="1970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4267" y="22940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54267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72726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8998" y="2065437"/>
            <a:ext cx="10385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COSOLUS 유도가열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54267" y="237976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54267" y="237976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54267" y="27036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54267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72726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8998" y="2475012"/>
            <a:ext cx="10385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COSOLUS 부유선별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54267" y="278933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54267" y="27893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54267" y="3113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54267" y="278933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572726" y="278933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10898" y="2884587"/>
            <a:ext cx="11145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건식환원 (폐흑연 포함)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162" y="3237012"/>
            <a:ext cx="184219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경제성 · 친환경성 · 양산성 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77352" y="6448425"/>
            <a:ext cx="13364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699194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핵심기술 — 유도가열·부유선별 공정과 코발트 회수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284038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친환경 차세대 배터리 재활용 공정기술(2세대)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4325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nduction-heating-equipm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37172"/>
            <a:ext cx="2524125" cy="1123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1891" y="3346847"/>
            <a:ext cx="111844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COSOLUS 유도가열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087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475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9475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475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47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5312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8713" y="2422922"/>
            <a:ext cx="444698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7881" y="3242072"/>
            <a:ext cx="9063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전처리 · 블랙매스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8150" y="3470672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양극재용 / 음극재용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9350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350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9350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935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300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ilot-lin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37172"/>
            <a:ext cx="2524125" cy="11239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41641" y="3346847"/>
            <a:ext cx="111844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COSOLUS 부유선별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062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39225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9225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9225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9225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72875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8384" y="2527697"/>
            <a:ext cx="284857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9762" y="3346847"/>
            <a:ext cx="15621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고순도 정제흑연 / 코발트·니켈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236244"/>
            <a:ext cx="10972800" cy="20121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4236244"/>
            <a:ext cx="10972800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4398169"/>
            <a:ext cx="328389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RESULT — 건식환원에 의한 코발트(또는 니켈) 회수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4655344"/>
            <a:ext cx="1122164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7875"/>
                </a:solidFill>
                <a:latin typeface="Pretendard"/>
                <a:ea typeface="Pretendard"/>
              </a:rPr>
              <a:t>&gt;95%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5093494"/>
            <a:ext cx="92228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64"/>
                </a:solidFill>
                <a:latin typeface="Pretendard"/>
                <a:ea typeface="Pretendard"/>
              </a:rPr>
              <a:t>Co 회수 순도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98464" y="4734669"/>
            <a:ext cx="945654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7875"/>
                </a:solidFill>
                <a:latin typeface="Pretendard"/>
                <a:ea typeface="Pretendard"/>
              </a:rPr>
              <a:t>PCT 2건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8464" y="5023545"/>
            <a:ext cx="657374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64"/>
                </a:solidFill>
                <a:latin typeface="Pretendard"/>
                <a:ea typeface="Pretendard"/>
              </a:rPr>
              <a:t>특허 출원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54730" y="6448425"/>
            <a:ext cx="15627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3452664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경쟁력 — 가격·기술 우위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285875"/>
          <a:ext cx="10972800" cy="49625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13992"/>
                <a:gridCol w="4279255"/>
                <a:gridCol w="4279553"/>
              </a:tblGrid>
              <a:tr h="51286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기존 소성로 (Pusher Kiln)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COSOLUS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</a:tr>
              <a:tr h="90130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공정시간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10시간 이상 장시간 소요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1분 이내 (200배 빠른 승온 속도)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8984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에너지 투입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432 Wh/kg (64% 에너지 절감)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8984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재생흑연 순도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99% 이상 (고순도)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8984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온도 정밀도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낮은 온도 정밀도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균일한 온도 분포 구현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788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시설 투자비용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시설 투자비용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6362700"/>
            <a:ext cx="178846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낮은 부반응 발생 · PCT 2건 출원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0117" y="6448425"/>
            <a:ext cx="16088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63338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53665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투자포인트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49396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기술력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638300"/>
            <a:ext cx="219089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추출제 최상위 수준의 합성 및 정제 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924050"/>
            <a:ext cx="24994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친환경 공정 기술(건식환원 및 유도가열 기술)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209800"/>
            <a:ext cx="320248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Closed-loop system 합성/공정 기술로 환경부담 최소화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676525"/>
            <a:ext cx="8672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사업화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028950"/>
            <a:ext cx="460593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(1.5세대 – RECYION Series) XX하이텍, XX코 등 현장적용을 고려한 PoC 진행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314700"/>
            <a:ext cx="5137547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(2세대 – 친환경 공정기술) XX자동차 연계 신공급망 구축, 일본 및 인도네시아 시장 진출(파일롯 기술검증 후 JV 설립)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285875"/>
            <a:ext cx="82331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투자라운드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638300"/>
            <a:ext cx="6087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Series 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6500" y="4019550"/>
            <a:ext cx="5295900" cy="914400"/>
          </a:xfrm>
          <a:prstGeom prst="rect">
            <a:avLst/>
          </a:prstGeom>
          <a:solidFill>
            <a:srgbClr val="034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6050" y="4191000"/>
            <a:ext cx="9660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AFE2E3"/>
                </a:solidFill>
                <a:latin typeface="Pretendard"/>
                <a:ea typeface="Pretendard"/>
              </a:rPr>
              <a:t>목표 투자유치 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4371975"/>
            <a:ext cx="1012031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retendard"/>
                <a:ea typeface="Pretendard"/>
              </a:rPr>
              <a:t>80억원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5143500"/>
            <a:ext cx="124033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투자금 사용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5495925"/>
            <a:ext cx="231442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글로벌 진출을 위한 국외법인 설립 및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5781675"/>
            <a:ext cx="38909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공장 건설을 위한 토지 구매 및 건축 비용 — 추출제 CAPA, 공정파일롯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9075" y="6448425"/>
            <a:ext cx="1619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85754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92345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세계시장 진출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14450"/>
            <a:ext cx="337185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4443"/>
                </a:solidFill>
                <a:latin typeface="Pretendard"/>
                <a:ea typeface="Pretendard"/>
              </a:rPr>
              <a:t>일본과 인도네시아를 전략적 거점으로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5052" y="1314450"/>
            <a:ext cx="277921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4443"/>
                </a:solidFill>
                <a:latin typeface="Pretendard"/>
                <a:ea typeface="Pretendard"/>
              </a:rPr>
              <a:t>이상의 아시아 경제권에서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1450" y="1266825"/>
            <a:ext cx="723602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5억 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838325"/>
            <a:ext cx="5343525" cy="24421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1838325"/>
            <a:ext cx="5343525" cy="19050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1990725"/>
            <a:ext cx="82331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인도네시아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43150"/>
            <a:ext cx="203641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B1F"/>
                </a:solidFill>
                <a:latin typeface="Pretendard"/>
                <a:ea typeface="Pretendard"/>
              </a:rPr>
              <a:t>전기자전거 업체 1대주주와 투자논의 중</a:t>
            </a:r>
          </a:p>
        </p:txBody>
      </p:sp>
      <p:pic>
        <p:nvPicPr>
          <p:cNvPr id="15" name="Picture 14" descr="indonesia-emobilit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56446"/>
            <a:ext cx="5343525" cy="1238250"/>
          </a:xfrm>
          <a:prstGeom prst="rect">
            <a:avLst/>
          </a:prstGeom>
        </p:spPr>
      </p:pic>
      <p:pic>
        <p:nvPicPr>
          <p:cNvPr id="16" name="Picture 15" descr="logo-swap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94696"/>
            <a:ext cx="285750" cy="285750"/>
          </a:xfrm>
          <a:prstGeom prst="rect">
            <a:avLst/>
          </a:prstGeom>
        </p:spPr>
      </p:pic>
      <p:pic>
        <p:nvPicPr>
          <p:cNvPr id="17" name="Picture 16" descr="logo-mukti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994696"/>
            <a:ext cx="851148" cy="285750"/>
          </a:xfrm>
          <a:prstGeom prst="rect">
            <a:avLst/>
          </a:prstGeom>
        </p:spPr>
      </p:pic>
      <p:pic>
        <p:nvPicPr>
          <p:cNvPr id="18" name="Picture 17" descr="logo-econ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5098" y="3994696"/>
            <a:ext cx="273844" cy="285750"/>
          </a:xfrm>
          <a:prstGeom prst="rect">
            <a:avLst/>
          </a:prstGeom>
        </p:spPr>
      </p:pic>
      <p:pic>
        <p:nvPicPr>
          <p:cNvPr id="19" name="Picture 18" descr="logo-ibc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242" y="3994696"/>
            <a:ext cx="760363" cy="285750"/>
          </a:xfrm>
          <a:prstGeom prst="rect">
            <a:avLst/>
          </a:prstGeom>
        </p:spPr>
      </p:pic>
      <p:pic>
        <p:nvPicPr>
          <p:cNvPr id="20" name="Picture 19" descr="logo-hli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7905" y="3994696"/>
            <a:ext cx="293638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238875" y="1838325"/>
            <a:ext cx="5343525" cy="24421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8875" y="1838325"/>
            <a:ext cx="5343525" cy="19050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8875" y="1990725"/>
            <a:ext cx="32935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일본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8875" y="2343150"/>
            <a:ext cx="201215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B1F"/>
                </a:solidFill>
                <a:latin typeface="Pretendard"/>
                <a:ea typeface="Pretendard"/>
              </a:rPr>
              <a:t>현지투자사, 재료업체 등과 투자논의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3242" y="6448425"/>
            <a:ext cx="1577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